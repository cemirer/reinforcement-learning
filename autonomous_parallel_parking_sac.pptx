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74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63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113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3DD9E-75C1-3D9C-91D2-7B57DED1A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76D901-2C28-473C-D220-0F605C6CCB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9AC85A-D72B-4520-1B70-CCE5A6B571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CC7D1C-17FE-A450-39DC-53362B7F43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5975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jpe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51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13" Type="http://schemas.openxmlformats.org/officeDocument/2006/relationships/image" Target="../media/image62.pn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12" Type="http://schemas.openxmlformats.org/officeDocument/2006/relationships/image" Target="../media/image6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11" Type="http://schemas.openxmlformats.org/officeDocument/2006/relationships/image" Target="../media/image60.png"/><Relationship Id="rId5" Type="http://schemas.openxmlformats.org/officeDocument/2006/relationships/image" Target="../media/image54.png"/><Relationship Id="rId10" Type="http://schemas.openxmlformats.org/officeDocument/2006/relationships/image" Target="../media/image59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10" Type="http://schemas.openxmlformats.org/officeDocument/2006/relationships/image" Target="../media/image70.png"/><Relationship Id="rId4" Type="http://schemas.openxmlformats.org/officeDocument/2006/relationships/image" Target="../media/image64.png"/><Relationship Id="rId9" Type="http://schemas.openxmlformats.org/officeDocument/2006/relationships/image" Target="../media/image6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7" Type="http://schemas.openxmlformats.org/officeDocument/2006/relationships/image" Target="../media/image7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76.png"/><Relationship Id="rId7" Type="http://schemas.openxmlformats.org/officeDocument/2006/relationships/image" Target="../media/image8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3" Type="http://schemas.openxmlformats.org/officeDocument/2006/relationships/image" Target="../media/image82.png"/><Relationship Id="rId7" Type="http://schemas.openxmlformats.org/officeDocument/2006/relationships/image" Target="../media/image8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10" Type="http://schemas.openxmlformats.org/officeDocument/2006/relationships/image" Target="../media/image89.png"/><Relationship Id="rId4" Type="http://schemas.openxmlformats.org/officeDocument/2006/relationships/image" Target="../media/image83.png"/><Relationship Id="rId9" Type="http://schemas.openxmlformats.org/officeDocument/2006/relationships/image" Target="../media/image8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13" Type="http://schemas.openxmlformats.org/officeDocument/2006/relationships/image" Target="../media/image100.png"/><Relationship Id="rId3" Type="http://schemas.openxmlformats.org/officeDocument/2006/relationships/image" Target="../media/image90.png"/><Relationship Id="rId7" Type="http://schemas.openxmlformats.org/officeDocument/2006/relationships/image" Target="../media/image94.png"/><Relationship Id="rId12" Type="http://schemas.openxmlformats.org/officeDocument/2006/relationships/image" Target="../media/image9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3.png"/><Relationship Id="rId11" Type="http://schemas.openxmlformats.org/officeDocument/2006/relationships/image" Target="../media/image98.png"/><Relationship Id="rId5" Type="http://schemas.openxmlformats.org/officeDocument/2006/relationships/image" Target="../media/image92.png"/><Relationship Id="rId10" Type="http://schemas.openxmlformats.org/officeDocument/2006/relationships/image" Target="../media/image97.png"/><Relationship Id="rId4" Type="http://schemas.openxmlformats.org/officeDocument/2006/relationships/image" Target="../media/image91.png"/><Relationship Id="rId9" Type="http://schemas.openxmlformats.org/officeDocument/2006/relationships/image" Target="../media/image96.png"/><Relationship Id="rId14" Type="http://schemas.openxmlformats.org/officeDocument/2006/relationships/image" Target="../media/image10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3" Type="http://schemas.openxmlformats.org/officeDocument/2006/relationships/image" Target="../media/image102.png"/><Relationship Id="rId7" Type="http://schemas.openxmlformats.org/officeDocument/2006/relationships/image" Target="../media/image106.png"/><Relationship Id="rId12" Type="http://schemas.openxmlformats.org/officeDocument/2006/relationships/image" Target="../media/image1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5.png"/><Relationship Id="rId11" Type="http://schemas.openxmlformats.org/officeDocument/2006/relationships/image" Target="../media/image110.png"/><Relationship Id="rId5" Type="http://schemas.openxmlformats.org/officeDocument/2006/relationships/image" Target="../media/image104.png"/><Relationship Id="rId10" Type="http://schemas.openxmlformats.org/officeDocument/2006/relationships/image" Target="../media/image109.png"/><Relationship Id="rId4" Type="http://schemas.openxmlformats.org/officeDocument/2006/relationships/image" Target="../media/image103.png"/><Relationship Id="rId9" Type="http://schemas.openxmlformats.org/officeDocument/2006/relationships/image" Target="../media/image10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png"/><Relationship Id="rId13" Type="http://schemas.openxmlformats.org/officeDocument/2006/relationships/image" Target="../media/image122.png"/><Relationship Id="rId3" Type="http://schemas.openxmlformats.org/officeDocument/2006/relationships/image" Target="../media/image112.png"/><Relationship Id="rId7" Type="http://schemas.openxmlformats.org/officeDocument/2006/relationships/image" Target="../media/image116.png"/><Relationship Id="rId12" Type="http://schemas.openxmlformats.org/officeDocument/2006/relationships/image" Target="../media/image121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1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5.png"/><Relationship Id="rId11" Type="http://schemas.openxmlformats.org/officeDocument/2006/relationships/image" Target="../media/image120.png"/><Relationship Id="rId5" Type="http://schemas.openxmlformats.org/officeDocument/2006/relationships/image" Target="../media/image114.png"/><Relationship Id="rId15" Type="http://schemas.openxmlformats.org/officeDocument/2006/relationships/image" Target="../media/image124.png"/><Relationship Id="rId10" Type="http://schemas.openxmlformats.org/officeDocument/2006/relationships/image" Target="../media/image119.png"/><Relationship Id="rId4" Type="http://schemas.openxmlformats.org/officeDocument/2006/relationships/image" Target="../media/image113.png"/><Relationship Id="rId9" Type="http://schemas.openxmlformats.org/officeDocument/2006/relationships/image" Target="../media/image118.png"/><Relationship Id="rId14" Type="http://schemas.openxmlformats.org/officeDocument/2006/relationships/image" Target="../media/image12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png"/><Relationship Id="rId13" Type="http://schemas.openxmlformats.org/officeDocument/2006/relationships/image" Target="../media/image136.png"/><Relationship Id="rId18" Type="http://schemas.openxmlformats.org/officeDocument/2006/relationships/image" Target="../media/image141.png"/><Relationship Id="rId3" Type="http://schemas.openxmlformats.org/officeDocument/2006/relationships/image" Target="../media/image126.png"/><Relationship Id="rId21" Type="http://schemas.openxmlformats.org/officeDocument/2006/relationships/image" Target="../media/image144.png"/><Relationship Id="rId7" Type="http://schemas.openxmlformats.org/officeDocument/2006/relationships/image" Target="../media/image130.png"/><Relationship Id="rId12" Type="http://schemas.openxmlformats.org/officeDocument/2006/relationships/image" Target="../media/image135.png"/><Relationship Id="rId17" Type="http://schemas.openxmlformats.org/officeDocument/2006/relationships/image" Target="../media/image140.pn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139.png"/><Relationship Id="rId20" Type="http://schemas.openxmlformats.org/officeDocument/2006/relationships/image" Target="../media/image14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9.png"/><Relationship Id="rId11" Type="http://schemas.openxmlformats.org/officeDocument/2006/relationships/image" Target="../media/image134.png"/><Relationship Id="rId5" Type="http://schemas.openxmlformats.org/officeDocument/2006/relationships/image" Target="../media/image128.png"/><Relationship Id="rId15" Type="http://schemas.openxmlformats.org/officeDocument/2006/relationships/image" Target="../media/image138.png"/><Relationship Id="rId10" Type="http://schemas.openxmlformats.org/officeDocument/2006/relationships/image" Target="../media/image133.png"/><Relationship Id="rId19" Type="http://schemas.openxmlformats.org/officeDocument/2006/relationships/image" Target="../media/image142.png"/><Relationship Id="rId4" Type="http://schemas.openxmlformats.org/officeDocument/2006/relationships/image" Target="../media/image127.png"/><Relationship Id="rId9" Type="http://schemas.openxmlformats.org/officeDocument/2006/relationships/image" Target="../media/image132.png"/><Relationship Id="rId14" Type="http://schemas.openxmlformats.org/officeDocument/2006/relationships/image" Target="../media/image137.png"/><Relationship Id="rId22" Type="http://schemas.openxmlformats.org/officeDocument/2006/relationships/image" Target="../media/image14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1.png"/><Relationship Id="rId3" Type="http://schemas.openxmlformats.org/officeDocument/2006/relationships/image" Target="../media/image146.png"/><Relationship Id="rId7" Type="http://schemas.openxmlformats.org/officeDocument/2006/relationships/image" Target="../media/image15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9.png"/><Relationship Id="rId5" Type="http://schemas.openxmlformats.org/officeDocument/2006/relationships/image" Target="../media/image148.png"/><Relationship Id="rId4" Type="http://schemas.openxmlformats.org/officeDocument/2006/relationships/image" Target="../media/image14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7.png"/><Relationship Id="rId3" Type="http://schemas.openxmlformats.org/officeDocument/2006/relationships/image" Target="../media/image152.png"/><Relationship Id="rId7" Type="http://schemas.openxmlformats.org/officeDocument/2006/relationships/image" Target="../media/image15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5.png"/><Relationship Id="rId5" Type="http://schemas.openxmlformats.org/officeDocument/2006/relationships/image" Target="../media/image154.png"/><Relationship Id="rId10" Type="http://schemas.openxmlformats.org/officeDocument/2006/relationships/image" Target="../media/image159.png"/><Relationship Id="rId4" Type="http://schemas.openxmlformats.org/officeDocument/2006/relationships/image" Target="../media/image153.png"/><Relationship Id="rId9" Type="http://schemas.openxmlformats.org/officeDocument/2006/relationships/image" Target="../media/image15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15000"/>
          </a:blip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836969"/>
            <a:ext cx="12191695" cy="171907"/>
          </a:xfrm>
          <a:prstGeom prst="rect">
            <a:avLst/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3"/>
          <p:cNvSpPr txBox="1"/>
          <p:nvPr/>
        </p:nvSpPr>
        <p:spPr>
          <a:xfrm>
            <a:off x="381305" y="6836969"/>
            <a:ext cx="225582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Deep Reinforcement Learning Project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199571" y="6836969"/>
            <a:ext cx="73700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Spring 2026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758538" y="1333195"/>
            <a:ext cx="2676449" cy="400507"/>
          </a:xfrm>
          <a:prstGeom prst="rect">
            <a:avLst/>
          </a:prstGeom>
          <a:noFill/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8"/>
          <p:cNvSpPr/>
          <p:nvPr/>
        </p:nvSpPr>
        <p:spPr>
          <a:xfrm>
            <a:off x="5282489" y="1333195"/>
            <a:ext cx="2153412" cy="400507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40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Process-Focused Report </a:t>
            </a:r>
            <a:endParaRPr lang="en-US" sz="12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 t="-180" b="-180"/>
          <a:stretch/>
        </p:blipFill>
        <p:spPr>
          <a:xfrm>
            <a:off x="4997196" y="1457554"/>
            <a:ext cx="190195" cy="15270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248156" y="2018995"/>
            <a:ext cx="9697212" cy="1762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Autonomous Parallel Parking Using Soft Actor-Critic (SAC) Algorithm</a:t>
            </a:r>
            <a:endParaRPr lang="en-US" sz="42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rcRect t="-384" b="-384"/>
          <a:stretch/>
        </p:blipFill>
        <p:spPr>
          <a:xfrm>
            <a:off x="5619902" y="4007815"/>
            <a:ext cx="952805" cy="3840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759306" y="4331513"/>
            <a:ext cx="8673084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1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 Iterative Approach to Reward Engineering &amp; Problem Solving</a:t>
            </a:r>
            <a:endParaRPr lang="en-US" sz="2100" dirty="0"/>
          </a:p>
        </p:txBody>
      </p:sp>
      <p:sp>
        <p:nvSpPr>
          <p:cNvPr id="16" name="Text 11"/>
          <p:cNvSpPr txBox="1"/>
          <p:nvPr/>
        </p:nvSpPr>
        <p:spPr>
          <a:xfrm>
            <a:off x="5347761" y="5106924"/>
            <a:ext cx="1364323" cy="3099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75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Presenter</a:t>
            </a:r>
            <a:r>
              <a:rPr lang="tr-TR" sz="1000" b="1" kern="0" spc="75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4429963" y="5466283"/>
            <a:ext cx="333207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r-TR" sz="1500" dirty="0">
                <a:solidFill>
                  <a:srgbClr val="1E3A8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Cem </a:t>
            </a:r>
            <a:r>
              <a:rPr lang="tr-TR" sz="1500" dirty="0" err="1">
                <a:solidFill>
                  <a:srgbClr val="1E3A8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Irer</a:t>
            </a:r>
            <a:r>
              <a:rPr lang="tr-TR" sz="1500" dirty="0">
                <a:solidFill>
                  <a:srgbClr val="1E3A8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&amp; </a:t>
            </a:r>
            <a:r>
              <a:rPr lang="tr-TR" sz="1500" dirty="0" err="1">
                <a:solidFill>
                  <a:srgbClr val="1E3A8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Idil</a:t>
            </a:r>
            <a:r>
              <a:rPr lang="tr-TR" sz="1500" dirty="0">
                <a:solidFill>
                  <a:srgbClr val="1E3A8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Balandı 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7" b="-7"/>
          <a:stretch/>
        </p:blipFill>
        <p:spPr>
          <a:xfrm>
            <a:off x="571500" y="1830629"/>
            <a:ext cx="5286146" cy="276788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6561" y="2116836"/>
            <a:ext cx="4401007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3A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The Urban Parking Challenge </a:t>
            </a:r>
            <a:endParaRPr lang="en-US" sz="1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l="-1004" r="-1004"/>
          <a:stretch/>
        </p:blipFill>
        <p:spPr>
          <a:xfrm>
            <a:off x="905256" y="2168957"/>
            <a:ext cx="267005" cy="20939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05256" y="2583180"/>
            <a:ext cx="4743907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Autonomous parallel parking requires precise control in constrained urban environments. The vehicle must maneuver into a tight slot with minimal error, requiring multi-phase planning: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81151" y="3429000"/>
            <a:ext cx="47055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Approach phase with velocity control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981151" y="3749040"/>
            <a:ext cx="47055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Orientation alignment (Heading control)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981151" y="4069080"/>
            <a:ext cx="47055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Final positioning (Lateral control)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48056" y="4803343"/>
            <a:ext cx="5286146" cy="1895551"/>
          </a:xfrm>
          <a:prstGeom prst="roundRect">
            <a:avLst>
              <a:gd name="adj" fmla="val 2909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8"/>
          <p:cNvSpPr txBox="1"/>
          <p:nvPr/>
        </p:nvSpPr>
        <p:spPr>
          <a:xfrm>
            <a:off x="1095451" y="5360213"/>
            <a:ext cx="463875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3A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Why Reinforcement Learning? </a:t>
            </a:r>
            <a:endParaRPr lang="en-US" sz="13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09244" y="5403190"/>
            <a:ext cx="171907" cy="171907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809244" y="5732374"/>
            <a:ext cx="304495" cy="304495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95198" y="5817413"/>
            <a:ext cx="133502" cy="133502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257300" y="5732374"/>
            <a:ext cx="33055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Handling Complexity</a:t>
            </a:r>
            <a:endParaRPr lang="en-US" sz="1000" dirty="0"/>
          </a:p>
        </p:txBody>
      </p:sp>
      <p:sp>
        <p:nvSpPr>
          <p:cNvPr id="17" name="Text 11"/>
          <p:cNvSpPr txBox="1"/>
          <p:nvPr/>
        </p:nvSpPr>
        <p:spPr>
          <a:xfrm>
            <a:off x="1257300" y="5960974"/>
            <a:ext cx="37847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Learns complex non-linear dynamics difficult to model with PID</a:t>
            </a:r>
            <a:endParaRPr lang="en-US" sz="900" dirty="0"/>
          </a:p>
        </p:txBody>
      </p:sp>
      <p:sp>
        <p:nvSpPr>
          <p:cNvPr id="18" name="Shape 12"/>
          <p:cNvSpPr/>
          <p:nvPr/>
        </p:nvSpPr>
        <p:spPr>
          <a:xfrm>
            <a:off x="809244" y="6255410"/>
            <a:ext cx="304495" cy="304495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95198" y="6341364"/>
            <a:ext cx="133502" cy="133502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257300" y="6255410"/>
            <a:ext cx="34674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Generalization</a:t>
            </a:r>
            <a:endParaRPr lang="en-US" sz="1000" dirty="0"/>
          </a:p>
        </p:txBody>
      </p:sp>
      <p:sp>
        <p:nvSpPr>
          <p:cNvPr id="21" name="Text 14"/>
          <p:cNvSpPr txBox="1"/>
          <p:nvPr/>
        </p:nvSpPr>
        <p:spPr>
          <a:xfrm>
            <a:off x="1257300" y="6484010"/>
            <a:ext cx="397032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Adapts to varied starting positions better than rule-based systems</a:t>
            </a:r>
            <a:endParaRPr lang="en-US" sz="90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rcRect t="-4" b="-4"/>
          <a:stretch/>
        </p:blipFill>
        <p:spPr>
          <a:xfrm>
            <a:off x="6334049" y="1561795"/>
            <a:ext cx="5286146" cy="2695651"/>
          </a:xfrm>
          <a:prstGeom prst="rect">
            <a:avLst/>
          </a:prstGeom>
        </p:spPr>
      </p:pic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9"/>
          <a:srcRect t="-4" b="-4"/>
          <a:stretch/>
        </p:blipFill>
        <p:spPr>
          <a:xfrm>
            <a:off x="6344107" y="1571854"/>
            <a:ext cx="5266944" cy="457200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6844284" y="1686154"/>
            <a:ext cx="11759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Vehicle Specs</a:t>
            </a:r>
            <a:endParaRPr lang="en-US" sz="1200" dirty="0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10"/>
          <a:srcRect t="-180" b="-180"/>
          <a:stretch/>
        </p:blipFill>
        <p:spPr>
          <a:xfrm>
            <a:off x="6534302" y="1714500"/>
            <a:ext cx="190195" cy="152705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10377526" y="1695298"/>
            <a:ext cx="1047902" cy="209398"/>
          </a:xfrm>
          <a:prstGeom prst="rect">
            <a:avLst/>
          </a:prstGeom>
          <a:noFill/>
          <a:ln/>
        </p:spPr>
        <p:txBody>
          <a:bodyPr/>
          <a:lstStyle/>
          <a:p>
            <a:endParaRPr lang="tr-TR"/>
          </a:p>
        </p:txBody>
      </p:sp>
      <p:sp>
        <p:nvSpPr>
          <p:cNvPr id="27" name="Text 17"/>
          <p:cNvSpPr/>
          <p:nvPr/>
        </p:nvSpPr>
        <p:spPr>
          <a:xfrm>
            <a:off x="14671397" y="-818681"/>
            <a:ext cx="919136" cy="167857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VW ID.4 Model</a:t>
            </a:r>
            <a:endParaRPr lang="en-US" sz="900" dirty="0"/>
          </a:p>
        </p:txBody>
      </p:sp>
      <p:sp>
        <p:nvSpPr>
          <p:cNvPr id="28" name="Shape 18"/>
          <p:cNvSpPr/>
          <p:nvPr/>
        </p:nvSpPr>
        <p:spPr>
          <a:xfrm>
            <a:off x="6572707" y="2667305"/>
            <a:ext cx="4809744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Text 19"/>
          <p:cNvSpPr txBox="1"/>
          <p:nvPr/>
        </p:nvSpPr>
        <p:spPr>
          <a:xfrm>
            <a:off x="6572707" y="2333549"/>
            <a:ext cx="5330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Length</a:t>
            </a:r>
            <a:endParaRPr lang="en-US" sz="1100" dirty="0"/>
          </a:p>
        </p:txBody>
      </p:sp>
      <p:sp>
        <p:nvSpPr>
          <p:cNvPr id="30" name="Text 20"/>
          <p:cNvSpPr txBox="1"/>
          <p:nvPr/>
        </p:nvSpPr>
        <p:spPr>
          <a:xfrm>
            <a:off x="10935310" y="2333549"/>
            <a:ext cx="5330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8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4.77 m</a:t>
            </a:r>
            <a:endParaRPr lang="en-US" sz="1100" dirty="0"/>
          </a:p>
        </p:txBody>
      </p:sp>
      <p:sp>
        <p:nvSpPr>
          <p:cNvPr id="31" name="Shape 21"/>
          <p:cNvSpPr/>
          <p:nvPr/>
        </p:nvSpPr>
        <p:spPr>
          <a:xfrm>
            <a:off x="6572707" y="3119933"/>
            <a:ext cx="4809744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Text 22"/>
          <p:cNvSpPr txBox="1"/>
          <p:nvPr/>
        </p:nvSpPr>
        <p:spPr>
          <a:xfrm>
            <a:off x="6572707" y="2786177"/>
            <a:ext cx="448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Width</a:t>
            </a:r>
            <a:endParaRPr lang="en-US" sz="1100" dirty="0"/>
          </a:p>
        </p:txBody>
      </p:sp>
      <p:sp>
        <p:nvSpPr>
          <p:cNvPr id="33" name="Text 23"/>
          <p:cNvSpPr txBox="1"/>
          <p:nvPr/>
        </p:nvSpPr>
        <p:spPr>
          <a:xfrm>
            <a:off x="10935310" y="2786177"/>
            <a:ext cx="5330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8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2.04 m</a:t>
            </a:r>
            <a:endParaRPr lang="en-US" sz="1100" dirty="0"/>
          </a:p>
        </p:txBody>
      </p:sp>
      <p:sp>
        <p:nvSpPr>
          <p:cNvPr id="34" name="Shape 24"/>
          <p:cNvSpPr/>
          <p:nvPr/>
        </p:nvSpPr>
        <p:spPr>
          <a:xfrm>
            <a:off x="6572707" y="3572561"/>
            <a:ext cx="4809744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Text 25"/>
          <p:cNvSpPr txBox="1"/>
          <p:nvPr/>
        </p:nvSpPr>
        <p:spPr>
          <a:xfrm>
            <a:off x="6572707" y="3238805"/>
            <a:ext cx="8001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Wheelbase</a:t>
            </a:r>
            <a:endParaRPr lang="en-US" sz="1100" dirty="0"/>
          </a:p>
        </p:txBody>
      </p:sp>
      <p:sp>
        <p:nvSpPr>
          <p:cNvPr id="36" name="Text 26"/>
          <p:cNvSpPr txBox="1"/>
          <p:nvPr/>
        </p:nvSpPr>
        <p:spPr>
          <a:xfrm>
            <a:off x="10935310" y="3238805"/>
            <a:ext cx="5330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8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3.00 m</a:t>
            </a:r>
            <a:endParaRPr lang="en-US" sz="1100" dirty="0"/>
          </a:p>
        </p:txBody>
      </p:sp>
      <p:sp>
        <p:nvSpPr>
          <p:cNvPr id="37" name="Text 27"/>
          <p:cNvSpPr txBox="1"/>
          <p:nvPr/>
        </p:nvSpPr>
        <p:spPr>
          <a:xfrm>
            <a:off x="6572707" y="3690518"/>
            <a:ext cx="106619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Steering Limit</a:t>
            </a:r>
            <a:endParaRPr lang="en-US" sz="1100" dirty="0"/>
          </a:p>
        </p:txBody>
      </p:sp>
      <p:sp>
        <p:nvSpPr>
          <p:cNvPr id="38" name="Text 28"/>
          <p:cNvSpPr txBox="1"/>
          <p:nvPr/>
        </p:nvSpPr>
        <p:spPr>
          <a:xfrm>
            <a:off x="11086186" y="3690518"/>
            <a:ext cx="3813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8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±35°</a:t>
            </a:r>
            <a:endParaRPr lang="en-US" sz="1100" dirty="0"/>
          </a:p>
        </p:txBody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11"/>
          <a:srcRect t="-4" b="-4"/>
          <a:stretch/>
        </p:blipFill>
        <p:spPr>
          <a:xfrm>
            <a:off x="6223736" y="4300753"/>
            <a:ext cx="5266944" cy="457200"/>
          </a:xfrm>
          <a:prstGeom prst="rect">
            <a:avLst/>
          </a:prstGeom>
        </p:spPr>
      </p:pic>
      <p:sp>
        <p:nvSpPr>
          <p:cNvPr id="41" name="Text 29"/>
          <p:cNvSpPr txBox="1"/>
          <p:nvPr/>
        </p:nvSpPr>
        <p:spPr>
          <a:xfrm>
            <a:off x="6724497" y="4364888"/>
            <a:ext cx="163403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Environment Specs</a:t>
            </a:r>
            <a:endParaRPr lang="en-US" sz="1200" dirty="0"/>
          </a:p>
        </p:txBody>
      </p:sp>
      <p:pic>
        <p:nvPicPr>
          <p:cNvPr id="42" name="Image 10" descr="preencoded.png"/>
          <p:cNvPicPr>
            <a:picLocks noChangeAspect="1"/>
          </p:cNvPicPr>
          <p:nvPr/>
        </p:nvPicPr>
        <p:blipFill>
          <a:blip r:embed="rId12"/>
          <a:srcRect t="-43" b="-43"/>
          <a:stretch/>
        </p:blipFill>
        <p:spPr>
          <a:xfrm>
            <a:off x="6492706" y="4373867"/>
            <a:ext cx="133502" cy="152705"/>
          </a:xfrm>
          <a:prstGeom prst="rect">
            <a:avLst/>
          </a:prstGeom>
        </p:spPr>
      </p:pic>
      <p:sp>
        <p:nvSpPr>
          <p:cNvPr id="43" name="Shape 30"/>
          <p:cNvSpPr/>
          <p:nvPr/>
        </p:nvSpPr>
        <p:spPr>
          <a:xfrm>
            <a:off x="10584180" y="4619549"/>
            <a:ext cx="838505" cy="209398"/>
          </a:xfrm>
          <a:prstGeom prst="rect">
            <a:avLst/>
          </a:prstGeom>
          <a:noFill/>
          <a:ln/>
        </p:spPr>
        <p:txBody>
          <a:bodyPr/>
          <a:lstStyle/>
          <a:p>
            <a:endParaRPr lang="tr-TR"/>
          </a:p>
        </p:txBody>
      </p:sp>
      <p:sp>
        <p:nvSpPr>
          <p:cNvPr id="44" name="Text 31"/>
          <p:cNvSpPr/>
          <p:nvPr/>
        </p:nvSpPr>
        <p:spPr>
          <a:xfrm>
            <a:off x="10584180" y="4442485"/>
            <a:ext cx="838505" cy="210312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Constraints</a:t>
            </a:r>
            <a:endParaRPr lang="en-US" sz="900" dirty="0"/>
          </a:p>
        </p:txBody>
      </p:sp>
      <p:sp>
        <p:nvSpPr>
          <p:cNvPr id="45" name="Shape 32"/>
          <p:cNvSpPr/>
          <p:nvPr/>
        </p:nvSpPr>
        <p:spPr>
          <a:xfrm>
            <a:off x="6572707" y="5639105"/>
            <a:ext cx="4809744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6" name="Text 33"/>
          <p:cNvSpPr txBox="1"/>
          <p:nvPr/>
        </p:nvSpPr>
        <p:spPr>
          <a:xfrm>
            <a:off x="6534302" y="4908041"/>
            <a:ext cx="149687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Parking Slot Length</a:t>
            </a:r>
            <a:endParaRPr lang="en-US" sz="1100" dirty="0"/>
          </a:p>
        </p:txBody>
      </p:sp>
      <p:sp>
        <p:nvSpPr>
          <p:cNvPr id="47" name="Text 34"/>
          <p:cNvSpPr txBox="1"/>
          <p:nvPr/>
        </p:nvSpPr>
        <p:spPr>
          <a:xfrm>
            <a:off x="9998049" y="4918887"/>
            <a:ext cx="11722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8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6.00 m </a:t>
            </a:r>
            <a:r>
              <a:rPr lang="en-US" sz="900" b="1" dirty="0">
                <a:solidFill>
                  <a:srgbClr val="1E40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Tight</a:t>
            </a:r>
            <a:endParaRPr lang="en-US" sz="1100" dirty="0"/>
          </a:p>
        </p:txBody>
      </p:sp>
      <p:sp>
        <p:nvSpPr>
          <p:cNvPr id="48" name="Shape 35"/>
          <p:cNvSpPr/>
          <p:nvPr/>
        </p:nvSpPr>
        <p:spPr>
          <a:xfrm>
            <a:off x="10865815" y="5257800"/>
            <a:ext cx="523951" cy="267005"/>
          </a:xfrm>
          <a:prstGeom prst="rect">
            <a:avLst/>
          </a:prstGeom>
          <a:noFill/>
          <a:ln/>
        </p:spPr>
        <p:txBody>
          <a:bodyPr/>
          <a:lstStyle/>
          <a:p>
            <a:endParaRPr lang="tr-TR"/>
          </a:p>
        </p:txBody>
      </p:sp>
      <p:sp>
        <p:nvSpPr>
          <p:cNvPr id="50" name="Shape 37"/>
          <p:cNvSpPr/>
          <p:nvPr/>
        </p:nvSpPr>
        <p:spPr>
          <a:xfrm>
            <a:off x="6572707" y="6143854"/>
            <a:ext cx="4809744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1" name="Text 38"/>
          <p:cNvSpPr txBox="1"/>
          <p:nvPr/>
        </p:nvSpPr>
        <p:spPr>
          <a:xfrm>
            <a:off x="6577318" y="5276205"/>
            <a:ext cx="141732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Parking Slot Width</a:t>
            </a:r>
            <a:endParaRPr lang="en-US" sz="1100" dirty="0"/>
          </a:p>
        </p:txBody>
      </p:sp>
      <p:sp>
        <p:nvSpPr>
          <p:cNvPr id="52" name="Text 39"/>
          <p:cNvSpPr txBox="1"/>
          <p:nvPr/>
        </p:nvSpPr>
        <p:spPr>
          <a:xfrm>
            <a:off x="10032845" y="5276206"/>
            <a:ext cx="11722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8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2.50 m </a:t>
            </a:r>
            <a:r>
              <a:rPr lang="en-US" sz="900" b="1" dirty="0">
                <a:solidFill>
                  <a:srgbClr val="1E40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Tight</a:t>
            </a:r>
            <a:endParaRPr lang="en-US" sz="1100" dirty="0"/>
          </a:p>
        </p:txBody>
      </p:sp>
      <p:sp>
        <p:nvSpPr>
          <p:cNvPr id="53" name="Shape 40"/>
          <p:cNvSpPr/>
          <p:nvPr/>
        </p:nvSpPr>
        <p:spPr>
          <a:xfrm>
            <a:off x="10865815" y="5762549"/>
            <a:ext cx="523951" cy="267005"/>
          </a:xfrm>
          <a:prstGeom prst="rect">
            <a:avLst/>
          </a:prstGeom>
          <a:noFill/>
          <a:ln/>
        </p:spPr>
        <p:txBody>
          <a:bodyPr/>
          <a:lstStyle/>
          <a:p>
            <a:endParaRPr lang="tr-TR"/>
          </a:p>
        </p:txBody>
      </p:sp>
      <p:sp>
        <p:nvSpPr>
          <p:cNvPr id="55" name="Shape 42"/>
          <p:cNvSpPr/>
          <p:nvPr/>
        </p:nvSpPr>
        <p:spPr>
          <a:xfrm>
            <a:off x="6572707" y="6601054"/>
            <a:ext cx="4809744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6" name="Text 43"/>
          <p:cNvSpPr txBox="1"/>
          <p:nvPr/>
        </p:nvSpPr>
        <p:spPr>
          <a:xfrm>
            <a:off x="6577318" y="5630606"/>
            <a:ext cx="151973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Longitudinal Margin</a:t>
            </a:r>
            <a:endParaRPr lang="en-US" sz="1100" dirty="0"/>
          </a:p>
        </p:txBody>
      </p:sp>
      <p:sp>
        <p:nvSpPr>
          <p:cNvPr id="57" name="Text 44"/>
          <p:cNvSpPr txBox="1"/>
          <p:nvPr/>
        </p:nvSpPr>
        <p:spPr>
          <a:xfrm>
            <a:off x="9998049" y="5604180"/>
            <a:ext cx="10771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8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1.23 m (Total)</a:t>
            </a:r>
            <a:endParaRPr lang="en-US" sz="1100" dirty="0"/>
          </a:p>
        </p:txBody>
      </p:sp>
      <p:sp>
        <p:nvSpPr>
          <p:cNvPr id="58" name="Text 45"/>
          <p:cNvSpPr txBox="1"/>
          <p:nvPr/>
        </p:nvSpPr>
        <p:spPr>
          <a:xfrm>
            <a:off x="6534302" y="5972027"/>
            <a:ext cx="110002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Lateral Margin</a:t>
            </a:r>
            <a:endParaRPr lang="en-US" sz="1100" dirty="0"/>
          </a:p>
        </p:txBody>
      </p:sp>
      <p:sp>
        <p:nvSpPr>
          <p:cNvPr id="59" name="Text 46"/>
          <p:cNvSpPr txBox="1"/>
          <p:nvPr/>
        </p:nvSpPr>
        <p:spPr>
          <a:xfrm>
            <a:off x="9998049" y="5951949"/>
            <a:ext cx="10771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8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0.46 m (Total)</a:t>
            </a:r>
            <a:endParaRPr lang="en-US" sz="1100" dirty="0"/>
          </a:p>
        </p:txBody>
      </p:sp>
      <p:sp>
        <p:nvSpPr>
          <p:cNvPr id="60" name="Shape 47"/>
          <p:cNvSpPr/>
          <p:nvPr/>
        </p:nvSpPr>
        <p:spPr>
          <a:xfrm>
            <a:off x="0" y="0"/>
            <a:ext cx="12191695" cy="11814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1" name="Shape 48"/>
          <p:cNvSpPr/>
          <p:nvPr/>
        </p:nvSpPr>
        <p:spPr>
          <a:xfrm>
            <a:off x="0" y="1162202"/>
            <a:ext cx="12191695" cy="1920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2" name="Text 49"/>
          <p:cNvSpPr txBox="1"/>
          <p:nvPr/>
        </p:nvSpPr>
        <p:spPr>
          <a:xfrm>
            <a:off x="571500" y="286207"/>
            <a:ext cx="11239805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37" dirty="0">
                <a:solidFill>
                  <a:srgbClr val="1E3A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Problem Definition</a:t>
            </a:r>
            <a:endParaRPr lang="en-US" sz="2700" dirty="0"/>
          </a:p>
        </p:txBody>
      </p:sp>
      <p:sp>
        <p:nvSpPr>
          <p:cNvPr id="63" name="Text 50"/>
          <p:cNvSpPr txBox="1"/>
          <p:nvPr/>
        </p:nvSpPr>
        <p:spPr>
          <a:xfrm>
            <a:off x="571500" y="838505"/>
            <a:ext cx="11163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Real-World Challenge &amp; Vehicle Specifications</a:t>
            </a:r>
            <a:endParaRPr lang="en-US" sz="1200" dirty="0"/>
          </a:p>
        </p:txBody>
      </p:sp>
      <p:pic>
        <p:nvPicPr>
          <p:cNvPr id="1026" name="Picture 2" descr="VW ID.4: Übersicht mit allen Daten und Preisen">
            <a:extLst>
              <a:ext uri="{FF2B5EF4-FFF2-40B4-BE49-F238E27FC236}">
                <a16:creationId xmlns:a16="http://schemas.microsoft.com/office/drawing/2014/main" id="{7E85F84E-1A4E-CCC3-F058-78D9A74506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1121" y="114921"/>
            <a:ext cx="2506370" cy="1403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rcRect l="-6" r="-6"/>
          <a:stretch/>
        </p:blipFill>
        <p:spPr>
          <a:xfrm>
            <a:off x="381305" y="838505"/>
            <a:ext cx="5065776" cy="300197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19049" y="1571854"/>
            <a:ext cx="4591202" cy="1920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Shape 3"/>
          <p:cNvSpPr/>
          <p:nvPr/>
        </p:nvSpPr>
        <p:spPr>
          <a:xfrm>
            <a:off x="619049" y="1076249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24205" y="1181405"/>
            <a:ext cx="171907" cy="171907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143000" y="1123798"/>
            <a:ext cx="2188159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13D State Space (</a:t>
            </a:r>
            <a:r>
              <a:rPr lang="en-US" sz="15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</a:t>
            </a:r>
            <a:r>
              <a:rPr lang="en-US" sz="15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)</a:t>
            </a:r>
            <a:endParaRPr lang="en-US" sz="1500" dirty="0"/>
          </a:p>
        </p:txBody>
      </p:sp>
      <p:sp>
        <p:nvSpPr>
          <p:cNvPr id="10" name="Shape 5"/>
          <p:cNvSpPr/>
          <p:nvPr/>
        </p:nvSpPr>
        <p:spPr>
          <a:xfrm>
            <a:off x="619049" y="1781251"/>
            <a:ext cx="4591202" cy="1410005"/>
          </a:xfrm>
          <a:prstGeom prst="roundRect">
            <a:avLst>
              <a:gd name="adj" fmla="val 1753"/>
            </a:avLst>
          </a:prstGeom>
          <a:solidFill>
            <a:srgbClr val="F9FAF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Shape 6"/>
          <p:cNvSpPr/>
          <p:nvPr/>
        </p:nvSpPr>
        <p:spPr>
          <a:xfrm>
            <a:off x="619049" y="1781251"/>
            <a:ext cx="38405" cy="1410005"/>
          </a:xfrm>
          <a:prstGeom prst="roundRect">
            <a:avLst>
              <a:gd name="adj" fmla="val 64350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7"/>
          <p:cNvSpPr txBox="1"/>
          <p:nvPr/>
        </p:nvSpPr>
        <p:spPr>
          <a:xfrm>
            <a:off x="809244" y="1933956"/>
            <a:ext cx="43626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r>
              <a:rPr lang="en-US" sz="13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[ </a:t>
            </a:r>
            <a:r>
              <a:rPr lang="en-US" sz="1300" b="1" dirty="0">
                <a:solidFill>
                  <a:srgbClr val="D94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r>
              <a:rPr lang="en-US" sz="13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300" b="1" dirty="0">
                <a:solidFill>
                  <a:srgbClr val="D94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r>
              <a:rPr lang="en-US" sz="13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300" b="1" dirty="0">
                <a:solidFill>
                  <a:srgbClr val="D94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θ</a:t>
            </a:r>
            <a:r>
              <a:rPr lang="en-US" sz="13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300" b="1" dirty="0">
                <a:solidFill>
                  <a:srgbClr val="D94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r>
              <a:rPr lang="en-US" sz="13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00" i="1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Ego State (4D)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809244" y="2208276"/>
            <a:ext cx="43626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D94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Δx</a:t>
            </a:r>
            <a:r>
              <a:rPr lang="en-US" sz="13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300" b="1" dirty="0">
                <a:solidFill>
                  <a:srgbClr val="D94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Δy</a:t>
            </a:r>
            <a:r>
              <a:rPr lang="en-US" sz="13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300" b="1" dirty="0">
                <a:solidFill>
                  <a:srgbClr val="D94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Δθ</a:t>
            </a:r>
            <a:r>
              <a:rPr lang="en-US" sz="13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00" i="1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Target Relative (3D)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809244" y="2482596"/>
            <a:ext cx="458937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D94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r>
              <a:rPr lang="en-US" sz="1000" b="1" dirty="0">
                <a:solidFill>
                  <a:srgbClr val="D94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</a:t>
            </a:r>
            <a:r>
              <a:rPr lang="en-US" sz="13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300" b="1" dirty="0">
                <a:solidFill>
                  <a:srgbClr val="D94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r>
              <a:rPr lang="en-US" sz="1000" b="1" dirty="0">
                <a:solidFill>
                  <a:srgbClr val="D94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</a:t>
            </a:r>
            <a:r>
              <a:rPr lang="en-US" sz="13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300" b="1" dirty="0">
                <a:solidFill>
                  <a:srgbClr val="D94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r>
              <a:rPr lang="en-US" sz="1000" b="1" dirty="0">
                <a:solidFill>
                  <a:srgbClr val="D94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</a:t>
            </a:r>
            <a:r>
              <a:rPr lang="en-US" sz="13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300" b="1" dirty="0">
                <a:solidFill>
                  <a:srgbClr val="D94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r>
              <a:rPr lang="en-US" sz="1000" b="1" dirty="0">
                <a:solidFill>
                  <a:srgbClr val="D94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</a:t>
            </a:r>
            <a:r>
              <a:rPr lang="en-US" sz="13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00" i="1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Boundaries (4D)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809244" y="2756002"/>
            <a:ext cx="43626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D94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r>
              <a:rPr lang="en-US" sz="1000" b="1" dirty="0">
                <a:solidFill>
                  <a:srgbClr val="D94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obs1</a:t>
            </a:r>
            <a:r>
              <a:rPr lang="en-US" sz="13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300" b="1" dirty="0">
                <a:solidFill>
                  <a:srgbClr val="D94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r>
              <a:rPr lang="en-US" sz="1000" b="1" dirty="0">
                <a:solidFill>
                  <a:srgbClr val="D94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obs2</a:t>
            </a:r>
            <a:r>
              <a:rPr lang="en-US" sz="13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] </a:t>
            </a:r>
            <a:r>
              <a:rPr lang="en-US" sz="1000" i="1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Obstacles (2D)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19049" y="3411626"/>
            <a:ext cx="52770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inputs are normalized to [-1, 1] for neural network stability.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619049" y="4802429"/>
            <a:ext cx="4591202" cy="1920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Shape 13"/>
          <p:cNvSpPr/>
          <p:nvPr/>
        </p:nvSpPr>
        <p:spPr>
          <a:xfrm>
            <a:off x="619049" y="4306824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rcRect l="-1064" r="-1064"/>
          <a:stretch/>
        </p:blipFill>
        <p:spPr>
          <a:xfrm>
            <a:off x="700430" y="4411980"/>
            <a:ext cx="219456" cy="171907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143000" y="4354373"/>
            <a:ext cx="227868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2D Action Space (</a:t>
            </a:r>
            <a:r>
              <a:rPr lang="en-US" sz="15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</a:t>
            </a:r>
            <a:r>
              <a:rPr lang="en-US" sz="15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)</a:t>
            </a:r>
            <a:endParaRPr lang="en-US" sz="1500" dirty="0"/>
          </a:p>
        </p:txBody>
      </p:sp>
      <p:sp>
        <p:nvSpPr>
          <p:cNvPr id="22" name="Shape 15"/>
          <p:cNvSpPr/>
          <p:nvPr/>
        </p:nvSpPr>
        <p:spPr>
          <a:xfrm>
            <a:off x="619049" y="5011826"/>
            <a:ext cx="4591202" cy="580644"/>
          </a:xfrm>
          <a:prstGeom prst="roundRect">
            <a:avLst>
              <a:gd name="adj" fmla="val 10327"/>
            </a:avLst>
          </a:prstGeom>
          <a:solidFill>
            <a:srgbClr val="F9FAF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3" name="Shape 16"/>
          <p:cNvSpPr/>
          <p:nvPr/>
        </p:nvSpPr>
        <p:spPr>
          <a:xfrm>
            <a:off x="619049" y="5011826"/>
            <a:ext cx="38405" cy="580644"/>
          </a:xfrm>
          <a:prstGeom prst="roundRect">
            <a:avLst>
              <a:gd name="adj" fmla="val 156127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17"/>
          <p:cNvSpPr txBox="1"/>
          <p:nvPr/>
        </p:nvSpPr>
        <p:spPr>
          <a:xfrm>
            <a:off x="809244" y="5164531"/>
            <a:ext cx="43626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r>
              <a:rPr lang="en-US" sz="13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[ </a:t>
            </a:r>
            <a:r>
              <a:rPr lang="en-US" sz="1300" b="1" dirty="0">
                <a:solidFill>
                  <a:srgbClr val="D94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δ</a:t>
            </a:r>
            <a:r>
              <a:rPr lang="en-US" sz="13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300" b="1" dirty="0">
                <a:solidFill>
                  <a:srgbClr val="D94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</a:t>
            </a:r>
            <a:r>
              <a:rPr lang="en-US" sz="13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]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619049" y="5819242"/>
            <a:ext cx="2219249" cy="819302"/>
          </a:xfrm>
          <a:prstGeom prst="roundRect">
            <a:avLst>
              <a:gd name="adj" fmla="val 519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19"/>
          <p:cNvSpPr txBox="1"/>
          <p:nvPr/>
        </p:nvSpPr>
        <p:spPr>
          <a:xfrm>
            <a:off x="743407" y="5943600"/>
            <a:ext cx="205099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40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Steering (δ)</a:t>
            </a:r>
            <a:endParaRPr lang="en-US" sz="900" dirty="0"/>
          </a:p>
        </p:txBody>
      </p:sp>
      <p:sp>
        <p:nvSpPr>
          <p:cNvPr id="27" name="Text 20"/>
          <p:cNvSpPr txBox="1"/>
          <p:nvPr/>
        </p:nvSpPr>
        <p:spPr>
          <a:xfrm>
            <a:off x="743407" y="6133795"/>
            <a:ext cx="205099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[-1, +1] → [-35°, +35°]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2990088" y="5819242"/>
            <a:ext cx="2219249" cy="819302"/>
          </a:xfrm>
          <a:prstGeom prst="roundRect">
            <a:avLst>
              <a:gd name="adj" fmla="val 519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Text 22"/>
          <p:cNvSpPr txBox="1"/>
          <p:nvPr/>
        </p:nvSpPr>
        <p:spPr>
          <a:xfrm>
            <a:off x="3113532" y="5943600"/>
            <a:ext cx="205099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40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Acceleration (acc)</a:t>
            </a:r>
            <a:endParaRPr lang="en-US" sz="900" dirty="0"/>
          </a:p>
        </p:txBody>
      </p:sp>
      <p:sp>
        <p:nvSpPr>
          <p:cNvPr id="30" name="Text 23"/>
          <p:cNvSpPr txBox="1"/>
          <p:nvPr/>
        </p:nvSpPr>
        <p:spPr>
          <a:xfrm>
            <a:off x="3113532" y="6133795"/>
            <a:ext cx="204825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[-1, +1] → [-0.5, +0.5] m/s²</a:t>
            </a:r>
            <a:endParaRPr lang="en-US" sz="1000" dirty="0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6"/>
          <a:srcRect l="-5" r="-5"/>
          <a:stretch/>
        </p:blipFill>
        <p:spPr>
          <a:xfrm>
            <a:off x="5732374" y="838505"/>
            <a:ext cx="6078931" cy="4076395"/>
          </a:xfrm>
          <a:prstGeom prst="rect">
            <a:avLst/>
          </a:prstGeom>
        </p:spPr>
      </p:pic>
      <p:sp>
        <p:nvSpPr>
          <p:cNvPr id="32" name="Shape 24"/>
          <p:cNvSpPr/>
          <p:nvPr/>
        </p:nvSpPr>
        <p:spPr>
          <a:xfrm>
            <a:off x="5970118" y="1571854"/>
            <a:ext cx="5609844" cy="1920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3" name="Shape 25"/>
          <p:cNvSpPr/>
          <p:nvPr/>
        </p:nvSpPr>
        <p:spPr>
          <a:xfrm>
            <a:off x="5970118" y="1076249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7"/>
          <a:srcRect l="-1064" r="-1064"/>
          <a:stretch/>
        </p:blipFill>
        <p:spPr>
          <a:xfrm>
            <a:off x="6051499" y="1181405"/>
            <a:ext cx="219456" cy="171907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6494069" y="1123798"/>
            <a:ext cx="281452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Bicycle Kinematic Model</a:t>
            </a:r>
            <a:endParaRPr lang="en-US" sz="1500" dirty="0"/>
          </a:p>
        </p:txBody>
      </p:sp>
      <p:sp>
        <p:nvSpPr>
          <p:cNvPr id="36" name="Shape 27"/>
          <p:cNvSpPr/>
          <p:nvPr/>
        </p:nvSpPr>
        <p:spPr>
          <a:xfrm>
            <a:off x="5970118" y="1781251"/>
            <a:ext cx="5609844" cy="2305202"/>
          </a:xfrm>
          <a:prstGeom prst="roundRect">
            <a:avLst>
              <a:gd name="adj" fmla="val 1311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7" name="Text 28"/>
          <p:cNvSpPr txBox="1"/>
          <p:nvPr/>
        </p:nvSpPr>
        <p:spPr>
          <a:xfrm>
            <a:off x="6208776" y="2090318"/>
            <a:ext cx="12198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X-Velocity</a:t>
            </a:r>
            <a:endParaRPr lang="en-US" sz="1000" dirty="0"/>
          </a:p>
        </p:txBody>
      </p:sp>
      <p:sp>
        <p:nvSpPr>
          <p:cNvPr id="38" name="Text 29"/>
          <p:cNvSpPr txBox="1"/>
          <p:nvPr/>
        </p:nvSpPr>
        <p:spPr>
          <a:xfrm>
            <a:off x="7351776" y="2018995"/>
            <a:ext cx="13149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ẋ = v cos(θ)</a:t>
            </a:r>
            <a:endParaRPr lang="en-US" sz="1800" dirty="0"/>
          </a:p>
        </p:txBody>
      </p:sp>
      <p:sp>
        <p:nvSpPr>
          <p:cNvPr id="39" name="Text 30"/>
          <p:cNvSpPr txBox="1"/>
          <p:nvPr/>
        </p:nvSpPr>
        <p:spPr>
          <a:xfrm>
            <a:off x="6208776" y="2547518"/>
            <a:ext cx="12198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Y-Velocity</a:t>
            </a:r>
            <a:endParaRPr lang="en-US" sz="1000" dirty="0"/>
          </a:p>
        </p:txBody>
      </p:sp>
      <p:sp>
        <p:nvSpPr>
          <p:cNvPr id="40" name="Text 31"/>
          <p:cNvSpPr txBox="1"/>
          <p:nvPr/>
        </p:nvSpPr>
        <p:spPr>
          <a:xfrm>
            <a:off x="7351776" y="2476195"/>
            <a:ext cx="12701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ẏ = v sin(θ)</a:t>
            </a:r>
            <a:endParaRPr lang="en-US" sz="1800" dirty="0"/>
          </a:p>
        </p:txBody>
      </p:sp>
      <p:sp>
        <p:nvSpPr>
          <p:cNvPr id="41" name="Text 32"/>
          <p:cNvSpPr txBox="1"/>
          <p:nvPr/>
        </p:nvSpPr>
        <p:spPr>
          <a:xfrm>
            <a:off x="6208776" y="3004718"/>
            <a:ext cx="12198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Angular Vel</a:t>
            </a:r>
            <a:endParaRPr lang="en-US" sz="1000" dirty="0"/>
          </a:p>
        </p:txBody>
      </p:sp>
      <p:sp>
        <p:nvSpPr>
          <p:cNvPr id="42" name="Text 33"/>
          <p:cNvSpPr txBox="1"/>
          <p:nvPr/>
        </p:nvSpPr>
        <p:spPr>
          <a:xfrm>
            <a:off x="7351776" y="2933395"/>
            <a:ext cx="18480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θ̇ = (v / L) tan(δ)</a:t>
            </a:r>
            <a:endParaRPr lang="en-US" sz="1800" dirty="0"/>
          </a:p>
        </p:txBody>
      </p:sp>
      <p:sp>
        <p:nvSpPr>
          <p:cNvPr id="43" name="Text 34"/>
          <p:cNvSpPr txBox="1"/>
          <p:nvPr/>
        </p:nvSpPr>
        <p:spPr>
          <a:xfrm>
            <a:off x="6208776" y="3461918"/>
            <a:ext cx="12198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Acceleration</a:t>
            </a:r>
            <a:endParaRPr lang="en-US" sz="1000" dirty="0"/>
          </a:p>
        </p:txBody>
      </p:sp>
      <p:sp>
        <p:nvSpPr>
          <p:cNvPr id="44" name="Text 35"/>
          <p:cNvSpPr txBox="1"/>
          <p:nvPr/>
        </p:nvSpPr>
        <p:spPr>
          <a:xfrm>
            <a:off x="7351776" y="3390595"/>
            <a:ext cx="57881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v̇ = a</a:t>
            </a:r>
            <a:endParaRPr lang="en-US" sz="1800" dirty="0"/>
          </a:p>
        </p:txBody>
      </p:sp>
      <p:sp>
        <p:nvSpPr>
          <p:cNvPr id="45" name="Shape 36"/>
          <p:cNvSpPr/>
          <p:nvPr/>
        </p:nvSpPr>
        <p:spPr>
          <a:xfrm>
            <a:off x="5970118" y="4238244"/>
            <a:ext cx="5609844" cy="437998"/>
          </a:xfrm>
          <a:prstGeom prst="roundRect">
            <a:avLst>
              <a:gd name="adj" fmla="val 18154"/>
            </a:avLst>
          </a:prstGeom>
          <a:solidFill>
            <a:srgbClr val="FFFBEB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6" name="Text 37"/>
          <p:cNvSpPr txBox="1"/>
          <p:nvPr/>
        </p:nvSpPr>
        <p:spPr>
          <a:xfrm>
            <a:off x="6342278" y="4362602"/>
            <a:ext cx="133228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Wheelbase (L):</a:t>
            </a: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3.0m</a:t>
            </a:r>
            <a:endParaRPr lang="en-US" sz="1000" dirty="0"/>
          </a:p>
        </p:txBody>
      </p:sp>
      <p:pic>
        <p:nvPicPr>
          <p:cNvPr id="47" name="Image 7" descr="preencoded.png"/>
          <p:cNvPicPr>
            <a:picLocks noChangeAspect="1"/>
          </p:cNvPicPr>
          <p:nvPr/>
        </p:nvPicPr>
        <p:blipFill>
          <a:blip r:embed="rId8"/>
          <a:srcRect l="-1507" r="-1507"/>
          <a:stretch/>
        </p:blipFill>
        <p:spPr>
          <a:xfrm>
            <a:off x="6094476" y="4388206"/>
            <a:ext cx="171907" cy="133502"/>
          </a:xfrm>
          <a:prstGeom prst="rect">
            <a:avLst/>
          </a:prstGeom>
        </p:spPr>
      </p:pic>
      <p:sp>
        <p:nvSpPr>
          <p:cNvPr id="48" name="Text 38"/>
          <p:cNvSpPr txBox="1"/>
          <p:nvPr/>
        </p:nvSpPr>
        <p:spPr>
          <a:xfrm>
            <a:off x="10492740" y="4362602"/>
            <a:ext cx="111831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dt:</a:t>
            </a: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0.05s (50Hz)</a:t>
            </a:r>
            <a:endParaRPr lang="en-US" sz="1000" dirty="0"/>
          </a:p>
        </p:txBody>
      </p:sp>
      <p:pic>
        <p:nvPicPr>
          <p:cNvPr id="49" name="Image 8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0283342" y="4388206"/>
            <a:ext cx="133502" cy="133502"/>
          </a:xfrm>
          <a:prstGeom prst="rect">
            <a:avLst/>
          </a:prstGeom>
        </p:spPr>
      </p:pic>
      <p:sp>
        <p:nvSpPr>
          <p:cNvPr id="51" name="Shape 39"/>
          <p:cNvSpPr/>
          <p:nvPr/>
        </p:nvSpPr>
        <p:spPr>
          <a:xfrm>
            <a:off x="5970118" y="5876849"/>
            <a:ext cx="5609844" cy="1920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2" name="Shape 40"/>
          <p:cNvSpPr/>
          <p:nvPr/>
        </p:nvSpPr>
        <p:spPr>
          <a:xfrm>
            <a:off x="5973482" y="4892953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53" name="Image 10" descr="preencoded.png"/>
          <p:cNvPicPr>
            <a:picLocks noChangeAspect="1"/>
          </p:cNvPicPr>
          <p:nvPr/>
        </p:nvPicPr>
        <p:blipFill>
          <a:blip r:embed="rId10"/>
          <a:srcRect l="-760" r="-760"/>
          <a:stretch/>
        </p:blipFill>
        <p:spPr>
          <a:xfrm>
            <a:off x="6104076" y="4962448"/>
            <a:ext cx="152705" cy="171907"/>
          </a:xfrm>
          <a:prstGeom prst="rect">
            <a:avLst/>
          </a:prstGeom>
        </p:spPr>
      </p:pic>
      <p:sp>
        <p:nvSpPr>
          <p:cNvPr id="54" name="Text 41"/>
          <p:cNvSpPr txBox="1"/>
          <p:nvPr/>
        </p:nvSpPr>
        <p:spPr>
          <a:xfrm>
            <a:off x="6410118" y="4952390"/>
            <a:ext cx="2691079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Termination Conditions</a:t>
            </a:r>
            <a:endParaRPr lang="en-US" sz="1500" dirty="0"/>
          </a:p>
        </p:txBody>
      </p:sp>
      <p:sp>
        <p:nvSpPr>
          <p:cNvPr id="55" name="Shape 42"/>
          <p:cNvSpPr/>
          <p:nvPr/>
        </p:nvSpPr>
        <p:spPr>
          <a:xfrm>
            <a:off x="5970118" y="6086246"/>
            <a:ext cx="5609844" cy="437998"/>
          </a:xfrm>
          <a:prstGeom prst="roundRect">
            <a:avLst>
              <a:gd name="adj" fmla="val 36307"/>
            </a:avLst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6" name="Shape 43"/>
          <p:cNvSpPr/>
          <p:nvPr/>
        </p:nvSpPr>
        <p:spPr>
          <a:xfrm>
            <a:off x="6065215" y="6181344"/>
            <a:ext cx="857707" cy="247802"/>
          </a:xfrm>
          <a:prstGeom prst="rect">
            <a:avLst/>
          </a:prstGeom>
          <a:noFill/>
          <a:ln/>
        </p:spPr>
        <p:txBody>
          <a:bodyPr/>
          <a:lstStyle/>
          <a:p>
            <a:endParaRPr lang="tr-TR"/>
          </a:p>
        </p:txBody>
      </p:sp>
      <p:sp>
        <p:nvSpPr>
          <p:cNvPr id="57" name="Text 44"/>
          <p:cNvSpPr/>
          <p:nvPr/>
        </p:nvSpPr>
        <p:spPr>
          <a:xfrm>
            <a:off x="5842101" y="5464453"/>
            <a:ext cx="857707" cy="247802"/>
          </a:xfrm>
          <a:prstGeom prst="rect">
            <a:avLst/>
          </a:prstGeom>
          <a:solidFill>
            <a:srgbClr val="D1FAE5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F4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Success</a:t>
            </a:r>
            <a:endParaRPr lang="en-US" sz="900" dirty="0"/>
          </a:p>
        </p:txBody>
      </p:sp>
      <p:sp>
        <p:nvSpPr>
          <p:cNvPr id="58" name="Text 45"/>
          <p:cNvSpPr txBox="1"/>
          <p:nvPr/>
        </p:nvSpPr>
        <p:spPr>
          <a:xfrm>
            <a:off x="6825063" y="5471224"/>
            <a:ext cx="335584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 vehicle corners inside parking slot boundaries</a:t>
            </a:r>
            <a:endParaRPr lang="en-US" sz="1000" dirty="0"/>
          </a:p>
        </p:txBody>
      </p:sp>
      <p:sp>
        <p:nvSpPr>
          <p:cNvPr id="60" name="Shape 47"/>
          <p:cNvSpPr/>
          <p:nvPr/>
        </p:nvSpPr>
        <p:spPr>
          <a:xfrm>
            <a:off x="6065215" y="6734556"/>
            <a:ext cx="857707" cy="247802"/>
          </a:xfrm>
          <a:prstGeom prst="rect">
            <a:avLst/>
          </a:prstGeom>
          <a:noFill/>
          <a:ln/>
        </p:spPr>
        <p:txBody>
          <a:bodyPr/>
          <a:lstStyle/>
          <a:p>
            <a:endParaRPr lang="tr-TR"/>
          </a:p>
        </p:txBody>
      </p:sp>
      <p:sp>
        <p:nvSpPr>
          <p:cNvPr id="61" name="Text 48"/>
          <p:cNvSpPr/>
          <p:nvPr/>
        </p:nvSpPr>
        <p:spPr>
          <a:xfrm>
            <a:off x="5815543" y="5903415"/>
            <a:ext cx="857707" cy="247802"/>
          </a:xfrm>
          <a:prstGeom prst="rect">
            <a:avLst/>
          </a:prstGeom>
          <a:solidFill>
            <a:srgbClr val="FEE2E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91B1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Collision</a:t>
            </a:r>
            <a:endParaRPr lang="en-US" sz="900" dirty="0"/>
          </a:p>
        </p:txBody>
      </p:sp>
      <p:sp>
        <p:nvSpPr>
          <p:cNvPr id="62" name="Text 49"/>
          <p:cNvSpPr txBox="1"/>
          <p:nvPr/>
        </p:nvSpPr>
        <p:spPr>
          <a:xfrm>
            <a:off x="6750100" y="5946032"/>
            <a:ext cx="349940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Vehicle body intersects with obstacle or boundary</a:t>
            </a:r>
            <a:endParaRPr lang="en-US" sz="1000" dirty="0"/>
          </a:p>
        </p:txBody>
      </p:sp>
      <p:sp>
        <p:nvSpPr>
          <p:cNvPr id="64" name="Shape 51"/>
          <p:cNvSpPr/>
          <p:nvPr/>
        </p:nvSpPr>
        <p:spPr>
          <a:xfrm>
            <a:off x="6065215" y="7286854"/>
            <a:ext cx="857707" cy="247802"/>
          </a:xfrm>
          <a:prstGeom prst="rect">
            <a:avLst/>
          </a:prstGeom>
          <a:noFill/>
          <a:ln/>
        </p:spPr>
        <p:txBody>
          <a:bodyPr/>
          <a:lstStyle/>
          <a:p>
            <a:endParaRPr lang="tr-TR"/>
          </a:p>
        </p:txBody>
      </p:sp>
      <p:sp>
        <p:nvSpPr>
          <p:cNvPr id="65" name="Text 52"/>
          <p:cNvSpPr/>
          <p:nvPr/>
        </p:nvSpPr>
        <p:spPr>
          <a:xfrm>
            <a:off x="6065215" y="7286854"/>
            <a:ext cx="857707" cy="247802"/>
          </a:xfrm>
          <a:prstGeom prst="rect">
            <a:avLst/>
          </a:prstGeom>
          <a:solidFill>
            <a:srgbClr val="F3F4F6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Timeout</a:t>
            </a:r>
            <a:endParaRPr lang="en-US" sz="900" dirty="0"/>
          </a:p>
        </p:txBody>
      </p:sp>
      <p:sp>
        <p:nvSpPr>
          <p:cNvPr id="66" name="Text 53"/>
          <p:cNvSpPr txBox="1"/>
          <p:nvPr/>
        </p:nvSpPr>
        <p:spPr>
          <a:xfrm>
            <a:off x="7065569" y="7315200"/>
            <a:ext cx="286847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Episode length &gt; 500 steps (25 seconds)</a:t>
            </a:r>
            <a:endParaRPr lang="en-US" sz="1000" dirty="0"/>
          </a:p>
        </p:txBody>
      </p:sp>
      <p:sp>
        <p:nvSpPr>
          <p:cNvPr id="67" name="Shape 54"/>
          <p:cNvSpPr/>
          <p:nvPr/>
        </p:nvSpPr>
        <p:spPr>
          <a:xfrm>
            <a:off x="0" y="8363102"/>
            <a:ext cx="12191695" cy="171907"/>
          </a:xfrm>
          <a:prstGeom prst="rect">
            <a:avLst/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8" name="Text 55"/>
          <p:cNvSpPr txBox="1"/>
          <p:nvPr/>
        </p:nvSpPr>
        <p:spPr>
          <a:xfrm>
            <a:off x="381305" y="8363102"/>
            <a:ext cx="222199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Autonomous Parallel Parking Project</a:t>
            </a:r>
            <a:endParaRPr lang="en-US" sz="900" dirty="0"/>
          </a:p>
        </p:txBody>
      </p:sp>
      <p:sp>
        <p:nvSpPr>
          <p:cNvPr id="69" name="Text 56"/>
          <p:cNvSpPr txBox="1"/>
          <p:nvPr/>
        </p:nvSpPr>
        <p:spPr>
          <a:xfrm>
            <a:off x="10032797" y="8363102"/>
            <a:ext cx="212049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Mathematical Formulation • Slide 3</a:t>
            </a:r>
            <a:endParaRPr lang="en-US" sz="900" dirty="0"/>
          </a:p>
        </p:txBody>
      </p:sp>
      <p:sp>
        <p:nvSpPr>
          <p:cNvPr id="70" name="Shape 57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1" name="Text 58"/>
          <p:cNvSpPr txBox="1"/>
          <p:nvPr/>
        </p:nvSpPr>
        <p:spPr>
          <a:xfrm>
            <a:off x="381305" y="0"/>
            <a:ext cx="47594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38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Mathematical Formulation</a:t>
            </a:r>
            <a:endParaRPr lang="en-US" sz="2400" dirty="0"/>
          </a:p>
        </p:txBody>
      </p:sp>
      <p:sp>
        <p:nvSpPr>
          <p:cNvPr id="72" name="Shape 59"/>
          <p:cNvSpPr/>
          <p:nvPr/>
        </p:nvSpPr>
        <p:spPr>
          <a:xfrm>
            <a:off x="4944161" y="99670"/>
            <a:ext cx="19202" cy="25694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3" name="Text 60"/>
          <p:cNvSpPr txBox="1"/>
          <p:nvPr/>
        </p:nvSpPr>
        <p:spPr>
          <a:xfrm>
            <a:off x="5153558" y="99670"/>
            <a:ext cx="2888590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BFDBF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Markov Decision Process (MDP)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 dirty="0"/>
          </a:p>
        </p:txBody>
      </p:sp>
      <p:sp>
        <p:nvSpPr>
          <p:cNvPr id="4" name="Shape 2"/>
          <p:cNvSpPr/>
          <p:nvPr/>
        </p:nvSpPr>
        <p:spPr>
          <a:xfrm>
            <a:off x="0" y="896112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 txBox="1"/>
          <p:nvPr/>
        </p:nvSpPr>
        <p:spPr>
          <a:xfrm>
            <a:off x="571500" y="286207"/>
            <a:ext cx="6143854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3A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Soft Actor-Critic (SAC)?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71500" y="1590142"/>
            <a:ext cx="6077102" cy="1920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 txBox="1"/>
          <p:nvPr/>
        </p:nvSpPr>
        <p:spPr>
          <a:xfrm>
            <a:off x="571500" y="1285646"/>
            <a:ext cx="6191402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 Advantages for Parking Task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71500" y="2038198"/>
            <a:ext cx="6077102" cy="1143000"/>
          </a:xfrm>
          <a:prstGeom prst="roundRect">
            <a:avLst>
              <a:gd name="adj" fmla="val 2667"/>
            </a:avLst>
          </a:prstGeom>
          <a:solidFill>
            <a:srgbClr val="F0F9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571500" y="2038198"/>
            <a:ext cx="47549" cy="1143000"/>
          </a:xfrm>
          <a:prstGeom prst="roundRect">
            <a:avLst>
              <a:gd name="adj" fmla="val 64102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09244" y="2271370"/>
            <a:ext cx="171907" cy="171907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076249" y="2229307"/>
            <a:ext cx="2165299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40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Off-Policy Efficiency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09244" y="2562149"/>
            <a:ext cx="5725058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Reuses past experiences from a replay buffer, crucial for sample-efficient learning within limited compute budget.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71500" y="3333902"/>
            <a:ext cx="6077102" cy="1143000"/>
          </a:xfrm>
          <a:prstGeom prst="roundRect">
            <a:avLst>
              <a:gd name="adj" fmla="val 2667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Shape 11"/>
          <p:cNvSpPr/>
          <p:nvPr/>
        </p:nvSpPr>
        <p:spPr>
          <a:xfrm>
            <a:off x="571500" y="3333902"/>
            <a:ext cx="47549" cy="1143000"/>
          </a:xfrm>
          <a:prstGeom prst="roundRect">
            <a:avLst>
              <a:gd name="adj" fmla="val 64102"/>
            </a:avLst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09244" y="3567074"/>
            <a:ext cx="171907" cy="171907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076249" y="3524098"/>
            <a:ext cx="174376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478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Maximum Entropy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809244" y="3857854"/>
            <a:ext cx="5725058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Encourages exploration by maximizing entropy alongside reward. Prevents premature convergence to local optima.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71500" y="4629607"/>
            <a:ext cx="6077102" cy="1143000"/>
          </a:xfrm>
          <a:prstGeom prst="roundRect">
            <a:avLst>
              <a:gd name="adj" fmla="val 2667"/>
            </a:avLst>
          </a:prstGeom>
          <a:solidFill>
            <a:srgbClr val="F5F3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9" name="Shape 15"/>
          <p:cNvSpPr/>
          <p:nvPr/>
        </p:nvSpPr>
        <p:spPr>
          <a:xfrm>
            <a:off x="571500" y="4629607"/>
            <a:ext cx="47549" cy="1143000"/>
          </a:xfrm>
          <a:prstGeom prst="roundRect">
            <a:avLst>
              <a:gd name="adj" fmla="val 64102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rcRect l="-1064" r="-1064"/>
          <a:stretch/>
        </p:blipFill>
        <p:spPr>
          <a:xfrm>
            <a:off x="809244" y="4862779"/>
            <a:ext cx="219456" cy="171907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123798" y="4819802"/>
            <a:ext cx="198424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D28D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Continuous Control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809244" y="5152644"/>
            <a:ext cx="5725058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Directly outputs smooth steering/acceleration values without discretization artifacts, essential for precise maneuvering.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571500" y="5924398"/>
            <a:ext cx="6077102" cy="933602"/>
          </a:xfrm>
          <a:prstGeom prst="roundRect">
            <a:avLst>
              <a:gd name="adj" fmla="val 3998"/>
            </a:avLst>
          </a:prstGeom>
          <a:solidFill>
            <a:srgbClr val="FDF2F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4" name="Shape 19"/>
          <p:cNvSpPr/>
          <p:nvPr/>
        </p:nvSpPr>
        <p:spPr>
          <a:xfrm>
            <a:off x="571500" y="5924398"/>
            <a:ext cx="47549" cy="933602"/>
          </a:xfrm>
          <a:prstGeom prst="roundRect">
            <a:avLst>
              <a:gd name="adj" fmla="val 78493"/>
            </a:avLst>
          </a:prstGeom>
          <a:solidFill>
            <a:srgbClr val="DB2777"/>
          </a:solidFill>
          <a:ln w="12700">
            <a:solidFill>
              <a:srgbClr val="DB277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rcRect l="-1064" r="-1064"/>
          <a:stretch/>
        </p:blipFill>
        <p:spPr>
          <a:xfrm>
            <a:off x="809244" y="6157570"/>
            <a:ext cx="219456" cy="171907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123798" y="6115507"/>
            <a:ext cx="87325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BE18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Stability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809244" y="6448349"/>
            <a:ext cx="63349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Uses twin Q-networks (clipped double Q-learning) to reduce value overestimation bias.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7029907" y="1590142"/>
            <a:ext cx="4591202" cy="1920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Text 23"/>
          <p:cNvSpPr txBox="1"/>
          <p:nvPr/>
        </p:nvSpPr>
        <p:spPr>
          <a:xfrm>
            <a:off x="7029907" y="1285646"/>
            <a:ext cx="4705502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30" name="Shape 24"/>
          <p:cNvSpPr/>
          <p:nvPr/>
        </p:nvSpPr>
        <p:spPr>
          <a:xfrm>
            <a:off x="7029907" y="1752905"/>
            <a:ext cx="4591202" cy="4105656"/>
          </a:xfrm>
          <a:prstGeom prst="roundRect">
            <a:avLst>
              <a:gd name="adj" fmla="val 41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rcRect t="-48" b="-48"/>
          <a:stretch/>
        </p:blipFill>
        <p:spPr>
          <a:xfrm>
            <a:off x="7287310" y="2019908"/>
            <a:ext cx="4190695" cy="3705149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10956798" y="3653027"/>
            <a:ext cx="64648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Action a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8943746" y="3562502"/>
            <a:ext cx="1627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4" name="Text 27"/>
          <p:cNvSpPr txBox="1"/>
          <p:nvPr/>
        </p:nvSpPr>
        <p:spPr>
          <a:xfrm>
            <a:off x="9920326" y="3694176"/>
            <a:ext cx="1627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8556041" y="2162556"/>
            <a:ext cx="5440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State s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6" name="Text 29"/>
          <p:cNvSpPr txBox="1"/>
          <p:nvPr/>
        </p:nvSpPr>
        <p:spPr>
          <a:xfrm>
            <a:off x="10175443" y="3110789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Actor π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7557516" y="4277563"/>
            <a:ext cx="66934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Critic Q1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198864" y="4277563"/>
            <a:ext cx="66934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Critic Q2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0784434" y="4277563"/>
            <a:ext cx="3145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Env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40" name="Text 33"/>
          <p:cNvSpPr txBox="1"/>
          <p:nvPr/>
        </p:nvSpPr>
        <p:spPr>
          <a:xfrm>
            <a:off x="7517282" y="5225796"/>
            <a:ext cx="7370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 Value 1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41" name="Text 34"/>
          <p:cNvSpPr txBox="1"/>
          <p:nvPr/>
        </p:nvSpPr>
        <p:spPr>
          <a:xfrm>
            <a:off x="9198864" y="5230563"/>
            <a:ext cx="7370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 Value 2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46" name="Text 37"/>
          <p:cNvSpPr txBox="1"/>
          <p:nvPr/>
        </p:nvSpPr>
        <p:spPr>
          <a:xfrm>
            <a:off x="11825935" y="6467551"/>
            <a:ext cx="1627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A0605-F6B4-AAC6-C70E-EE6595A54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76E86ED7-4754-C46C-BE0F-094AE09309DA}"/>
              </a:ext>
            </a:extLst>
          </p:cNvPr>
          <p:cNvSpPr/>
          <p:nvPr/>
        </p:nvSpPr>
        <p:spPr>
          <a:xfrm>
            <a:off x="0" y="896112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CB5439F-B0CB-8F98-F762-88E262C3D2FD}"/>
              </a:ext>
            </a:extLst>
          </p:cNvPr>
          <p:cNvSpPr txBox="1"/>
          <p:nvPr/>
        </p:nvSpPr>
        <p:spPr>
          <a:xfrm>
            <a:off x="260214" y="161435"/>
            <a:ext cx="9361101" cy="427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tr-TR" sz="2700" b="1" dirty="0" err="1">
                <a:solidFill>
                  <a:srgbClr val="1E3A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Hyperparameters</a:t>
            </a:r>
            <a:r>
              <a:rPr lang="tr-TR" sz="2700" b="1" dirty="0">
                <a:solidFill>
                  <a:srgbClr val="1E3A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&amp; First </a:t>
            </a:r>
            <a:r>
              <a:rPr lang="tr-TR" sz="2700" b="1" dirty="0" err="1">
                <a:solidFill>
                  <a:srgbClr val="1E3A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Steps</a:t>
            </a:r>
            <a:r>
              <a:rPr lang="tr-TR" sz="2700" b="1" dirty="0">
                <a:solidFill>
                  <a:srgbClr val="1E3A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of Environment  </a:t>
            </a:r>
            <a:endParaRPr lang="en-US" sz="27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B58CF502-8615-E929-260C-5FA5C2C6376E}"/>
              </a:ext>
            </a:extLst>
          </p:cNvPr>
          <p:cNvSpPr/>
          <p:nvPr/>
        </p:nvSpPr>
        <p:spPr>
          <a:xfrm>
            <a:off x="571500" y="2038198"/>
            <a:ext cx="6077102" cy="1143000"/>
          </a:xfrm>
          <a:prstGeom prst="roundRect">
            <a:avLst>
              <a:gd name="adj" fmla="val 2667"/>
            </a:avLst>
          </a:prstGeom>
          <a:solidFill>
            <a:srgbClr val="F0F9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3" name="Shape 18">
            <a:extLst>
              <a:ext uri="{FF2B5EF4-FFF2-40B4-BE49-F238E27FC236}">
                <a16:creationId xmlns:a16="http://schemas.microsoft.com/office/drawing/2014/main" id="{887611FF-EBC8-1DBE-651F-109B0C0E52B9}"/>
              </a:ext>
            </a:extLst>
          </p:cNvPr>
          <p:cNvSpPr/>
          <p:nvPr/>
        </p:nvSpPr>
        <p:spPr>
          <a:xfrm>
            <a:off x="571500" y="5924398"/>
            <a:ext cx="6077102" cy="933602"/>
          </a:xfrm>
          <a:prstGeom prst="roundRect">
            <a:avLst>
              <a:gd name="adj" fmla="val 3998"/>
            </a:avLst>
          </a:prstGeom>
          <a:solidFill>
            <a:srgbClr val="FDF2F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2" name="Shape 35">
            <a:extLst>
              <a:ext uri="{FF2B5EF4-FFF2-40B4-BE49-F238E27FC236}">
                <a16:creationId xmlns:a16="http://schemas.microsoft.com/office/drawing/2014/main" id="{070584C5-7C1A-F4F1-4E86-15FDA529BA5E}"/>
              </a:ext>
            </a:extLst>
          </p:cNvPr>
          <p:cNvSpPr/>
          <p:nvPr/>
        </p:nvSpPr>
        <p:spPr>
          <a:xfrm>
            <a:off x="123269" y="1274749"/>
            <a:ext cx="1552651" cy="1920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3" name="Text 36">
            <a:extLst>
              <a:ext uri="{FF2B5EF4-FFF2-40B4-BE49-F238E27FC236}">
                <a16:creationId xmlns:a16="http://schemas.microsoft.com/office/drawing/2014/main" id="{94CE2126-FA21-9923-848D-1DED2CA6A52F}"/>
              </a:ext>
            </a:extLst>
          </p:cNvPr>
          <p:cNvSpPr txBox="1"/>
          <p:nvPr/>
        </p:nvSpPr>
        <p:spPr>
          <a:xfrm>
            <a:off x="123269" y="945531"/>
            <a:ext cx="1656893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Hyperparameters</a:t>
            </a:r>
            <a:endParaRPr lang="en-US" sz="1300" dirty="0"/>
          </a:p>
        </p:txBody>
      </p:sp>
      <p:graphicFrame>
        <p:nvGraphicFramePr>
          <p:cNvPr id="45" name="Table 0">
            <a:extLst>
              <a:ext uri="{FF2B5EF4-FFF2-40B4-BE49-F238E27FC236}">
                <a16:creationId xmlns:a16="http://schemas.microsoft.com/office/drawing/2014/main" id="{22F36BDB-BCB8-1782-E362-EBFC96C858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7965423"/>
              </p:ext>
            </p:extLst>
          </p:nvPr>
        </p:nvGraphicFramePr>
        <p:xfrm>
          <a:off x="123269" y="1400783"/>
          <a:ext cx="4029683" cy="2203089"/>
        </p:xfrm>
        <a:graphic>
          <a:graphicData uri="http://schemas.openxmlformats.org/drawingml/2006/table">
            <a:tbl>
              <a:tblPr/>
              <a:tblGrid>
                <a:gridCol w="16118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78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36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374151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Learning Rate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42646" marR="142646" marT="95098" marB="95098" anchor="ctr">
                    <a:lnL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563EB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3e-4 (Adam)</a:t>
                      </a:r>
                      <a:endParaRPr lang="en-US" sz="1050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142646" marR="142646" marT="95098" marB="95098" anchor="ctr">
                    <a:lnL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1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374151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Replay Buffer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42646" marR="142646" marT="95098" marB="95098" anchor="ctr">
                    <a:lnL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563EB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100,000 transitions</a:t>
                      </a:r>
                      <a:endParaRPr lang="en-US" sz="1050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142646" marR="142646" marT="95098" marB="95098" anchor="ctr">
                    <a:lnL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36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374151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Batch Size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42646" marR="142646" marT="95098" marB="95098" anchor="ctr">
                    <a:lnL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563EB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256</a:t>
                      </a:r>
                      <a:endParaRPr lang="en-US" sz="1050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142646" marR="142646" marT="95098" marB="95098" anchor="ctr">
                    <a:lnL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1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374151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Network Structure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42646" marR="142646" marT="95098" marB="95098" anchor="ctr">
                    <a:lnL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563EB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MLP [256, 256] (ReLU)</a:t>
                      </a:r>
                      <a:endParaRPr lang="en-US" sz="1050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142646" marR="142646" marT="95098" marB="95098" anchor="ctr">
                    <a:lnL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36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374151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Discount (γ)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42646" marR="142646" marT="95098" marB="95098" anchor="ctr">
                    <a:lnL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563EB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0.99</a:t>
                      </a:r>
                      <a:endParaRPr lang="en-US" sz="1050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142646" marR="142646" marT="95098" marB="95098" anchor="ctr">
                    <a:lnL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1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374151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Total Timesteps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42646" marR="142646" marT="95098" marB="95098" anchor="ctr">
                    <a:lnL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563EB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300,000</a:t>
                      </a:r>
                      <a:endParaRPr lang="en-US" sz="1050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142646" marR="142646" marT="95098" marB="95098" anchor="ctr">
                    <a:lnL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6" name="Text 37">
            <a:extLst>
              <a:ext uri="{FF2B5EF4-FFF2-40B4-BE49-F238E27FC236}">
                <a16:creationId xmlns:a16="http://schemas.microsoft.com/office/drawing/2014/main" id="{402D5C00-7C13-EE1E-B3DB-2FCC7166FBFF}"/>
              </a:ext>
            </a:extLst>
          </p:cNvPr>
          <p:cNvSpPr txBox="1"/>
          <p:nvPr/>
        </p:nvSpPr>
        <p:spPr>
          <a:xfrm>
            <a:off x="11825935" y="6467551"/>
            <a:ext cx="1627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Shape 5">
            <a:extLst>
              <a:ext uri="{FF2B5EF4-FFF2-40B4-BE49-F238E27FC236}">
                <a16:creationId xmlns:a16="http://schemas.microsoft.com/office/drawing/2014/main" id="{183D38C6-F6FC-3C01-2866-8DA93996A4BA}"/>
              </a:ext>
            </a:extLst>
          </p:cNvPr>
          <p:cNvSpPr/>
          <p:nvPr/>
        </p:nvSpPr>
        <p:spPr>
          <a:xfrm>
            <a:off x="6727988" y="2121446"/>
            <a:ext cx="4380717" cy="2256002"/>
          </a:xfrm>
          <a:prstGeom prst="roundRect">
            <a:avLst>
              <a:gd name="adj" fmla="val 290"/>
            </a:avLst>
          </a:prstGeom>
          <a:solidFill>
            <a:srgbClr val="94A3B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4" name="Text 8">
            <a:extLst>
              <a:ext uri="{FF2B5EF4-FFF2-40B4-BE49-F238E27FC236}">
                <a16:creationId xmlns:a16="http://schemas.microsoft.com/office/drawing/2014/main" id="{FC1228DD-6866-25A4-CD5B-CE295DC623D3}"/>
              </a:ext>
            </a:extLst>
          </p:cNvPr>
          <p:cNvSpPr/>
          <p:nvPr/>
        </p:nvSpPr>
        <p:spPr>
          <a:xfrm>
            <a:off x="7072378" y="2451964"/>
            <a:ext cx="1143000" cy="476402"/>
          </a:xfrm>
          <a:prstGeom prst="rect">
            <a:avLst/>
          </a:prstGeom>
          <a:solidFill>
            <a:srgbClr val="475569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Obstacle 1</a:t>
            </a:r>
            <a:endParaRPr lang="en-US" sz="800" dirty="0"/>
          </a:p>
        </p:txBody>
      </p:sp>
      <p:sp>
        <p:nvSpPr>
          <p:cNvPr id="47" name="Shape 11">
            <a:extLst>
              <a:ext uri="{FF2B5EF4-FFF2-40B4-BE49-F238E27FC236}">
                <a16:creationId xmlns:a16="http://schemas.microsoft.com/office/drawing/2014/main" id="{63BAA204-FE32-8FF4-C87D-CB659AFC4BE2}"/>
              </a:ext>
            </a:extLst>
          </p:cNvPr>
          <p:cNvSpPr/>
          <p:nvPr/>
        </p:nvSpPr>
        <p:spPr>
          <a:xfrm>
            <a:off x="8346847" y="2404415"/>
            <a:ext cx="1143000" cy="571500"/>
          </a:xfrm>
          <a:prstGeom prst="rect">
            <a:avLst/>
          </a:prstGeom>
          <a:solidFill>
            <a:srgbClr val="22C55E">
              <a:alpha val="20000"/>
            </a:srgbClr>
          </a:solidFill>
          <a:ln w="254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8" name="Text 10">
            <a:extLst>
              <a:ext uri="{FF2B5EF4-FFF2-40B4-BE49-F238E27FC236}">
                <a16:creationId xmlns:a16="http://schemas.microsoft.com/office/drawing/2014/main" id="{7C1640D9-BB74-0385-E947-43C165FAA043}"/>
              </a:ext>
            </a:extLst>
          </p:cNvPr>
          <p:cNvSpPr/>
          <p:nvPr/>
        </p:nvSpPr>
        <p:spPr>
          <a:xfrm>
            <a:off x="9621316" y="2451964"/>
            <a:ext cx="1143000" cy="476402"/>
          </a:xfrm>
          <a:prstGeom prst="rect">
            <a:avLst/>
          </a:prstGeom>
          <a:solidFill>
            <a:srgbClr val="475569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Obstacle 2</a:t>
            </a:r>
            <a:endParaRPr lang="en-US" sz="800" dirty="0"/>
          </a:p>
        </p:txBody>
      </p:sp>
      <p:sp>
        <p:nvSpPr>
          <p:cNvPr id="49" name="Text 12">
            <a:extLst>
              <a:ext uri="{FF2B5EF4-FFF2-40B4-BE49-F238E27FC236}">
                <a16:creationId xmlns:a16="http://schemas.microsoft.com/office/drawing/2014/main" id="{0DB7E567-E81D-B831-E7EB-50CCF2A302C2}"/>
              </a:ext>
            </a:extLst>
          </p:cNvPr>
          <p:cNvSpPr txBox="1"/>
          <p:nvPr/>
        </p:nvSpPr>
        <p:spPr>
          <a:xfrm>
            <a:off x="8478316" y="2557985"/>
            <a:ext cx="81015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478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TARGET SLOT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478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6.0m x 2.5m</a:t>
            </a:r>
            <a:endParaRPr lang="en-US" sz="900" dirty="0"/>
          </a:p>
        </p:txBody>
      </p:sp>
      <p:sp>
        <p:nvSpPr>
          <p:cNvPr id="50" name="Shape 44">
            <a:extLst>
              <a:ext uri="{FF2B5EF4-FFF2-40B4-BE49-F238E27FC236}">
                <a16:creationId xmlns:a16="http://schemas.microsoft.com/office/drawing/2014/main" id="{584E8722-D1D7-B238-4CB8-272A83C05615}"/>
              </a:ext>
            </a:extLst>
          </p:cNvPr>
          <p:cNvSpPr/>
          <p:nvPr/>
        </p:nvSpPr>
        <p:spPr>
          <a:xfrm>
            <a:off x="9811510" y="3181198"/>
            <a:ext cx="952805" cy="428854"/>
          </a:xfrm>
          <a:prstGeom prst="roundRect">
            <a:avLst>
              <a:gd name="adj" fmla="val 28429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1" name="Text 45">
            <a:extLst>
              <a:ext uri="{FF2B5EF4-FFF2-40B4-BE49-F238E27FC236}">
                <a16:creationId xmlns:a16="http://schemas.microsoft.com/office/drawing/2014/main" id="{A585FD48-0865-ED52-119A-999932BCF0C5}"/>
              </a:ext>
            </a:extLst>
          </p:cNvPr>
          <p:cNvSpPr txBox="1"/>
          <p:nvPr/>
        </p:nvSpPr>
        <p:spPr>
          <a:xfrm>
            <a:off x="10018341" y="3310284"/>
            <a:ext cx="67665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VW ID.4</a:t>
            </a:r>
            <a:endParaRPr lang="en-US" sz="1200" dirty="0"/>
          </a:p>
        </p:txBody>
      </p:sp>
      <p:cxnSp>
        <p:nvCxnSpPr>
          <p:cNvPr id="53" name="Düz Bağlayıcı 52">
            <a:extLst>
              <a:ext uri="{FF2B5EF4-FFF2-40B4-BE49-F238E27FC236}">
                <a16:creationId xmlns:a16="http://schemas.microsoft.com/office/drawing/2014/main" id="{B51216C6-9091-299B-7DC3-D91FC544E210}"/>
              </a:ext>
            </a:extLst>
          </p:cNvPr>
          <p:cNvCxnSpPr/>
          <p:nvPr/>
        </p:nvCxnSpPr>
        <p:spPr>
          <a:xfrm>
            <a:off x="6727988" y="1400783"/>
            <a:ext cx="0" cy="37062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Düz Bağlayıcı 53">
            <a:extLst>
              <a:ext uri="{FF2B5EF4-FFF2-40B4-BE49-F238E27FC236}">
                <a16:creationId xmlns:a16="http://schemas.microsoft.com/office/drawing/2014/main" id="{207C86B1-7EEE-80BA-846A-47751876E37E}"/>
              </a:ext>
            </a:extLst>
          </p:cNvPr>
          <p:cNvCxnSpPr>
            <a:cxnSpLocks/>
          </p:cNvCxnSpPr>
          <p:nvPr/>
        </p:nvCxnSpPr>
        <p:spPr>
          <a:xfrm flipH="1">
            <a:off x="5836596" y="4377448"/>
            <a:ext cx="527210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Text 18">
            <a:extLst>
              <a:ext uri="{FF2B5EF4-FFF2-40B4-BE49-F238E27FC236}">
                <a16:creationId xmlns:a16="http://schemas.microsoft.com/office/drawing/2014/main" id="{B1F6ABD0-2F58-08C9-E718-A62F5D32807E}"/>
              </a:ext>
            </a:extLst>
          </p:cNvPr>
          <p:cNvSpPr txBox="1"/>
          <p:nvPr/>
        </p:nvSpPr>
        <p:spPr>
          <a:xfrm>
            <a:off x="6814230" y="1317703"/>
            <a:ext cx="1719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</a:t>
            </a:r>
            <a:endParaRPr lang="en-US" sz="1200" dirty="0"/>
          </a:p>
        </p:txBody>
      </p:sp>
      <p:sp>
        <p:nvSpPr>
          <p:cNvPr id="60" name="Text 17">
            <a:extLst>
              <a:ext uri="{FF2B5EF4-FFF2-40B4-BE49-F238E27FC236}">
                <a16:creationId xmlns:a16="http://schemas.microsoft.com/office/drawing/2014/main" id="{9693E54C-1680-27C0-CB6D-4E2F63D8A09A}"/>
              </a:ext>
            </a:extLst>
          </p:cNvPr>
          <p:cNvSpPr txBox="1"/>
          <p:nvPr/>
        </p:nvSpPr>
        <p:spPr>
          <a:xfrm>
            <a:off x="11188091" y="4263148"/>
            <a:ext cx="181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X</a:t>
            </a:r>
            <a:endParaRPr lang="en-US" sz="1200" dirty="0"/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293BDF00-2DC4-3B83-C645-9D5FAB99B213}"/>
              </a:ext>
            </a:extLst>
          </p:cNvPr>
          <p:cNvSpPr/>
          <p:nvPr/>
        </p:nvSpPr>
        <p:spPr>
          <a:xfrm>
            <a:off x="8344813" y="4470657"/>
            <a:ext cx="1276502" cy="181051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30.0m (Road Length)</a:t>
            </a:r>
            <a:endParaRPr lang="en-US" sz="800" dirty="0"/>
          </a:p>
        </p:txBody>
      </p:sp>
      <p:sp>
        <p:nvSpPr>
          <p:cNvPr id="63" name="Text 28">
            <a:extLst>
              <a:ext uri="{FF2B5EF4-FFF2-40B4-BE49-F238E27FC236}">
                <a16:creationId xmlns:a16="http://schemas.microsoft.com/office/drawing/2014/main" id="{B19A132A-D25C-F265-F973-9CAF8EF9EEA5}"/>
              </a:ext>
            </a:extLst>
          </p:cNvPr>
          <p:cNvSpPr txBox="1"/>
          <p:nvPr/>
        </p:nvSpPr>
        <p:spPr>
          <a:xfrm>
            <a:off x="585486" y="4163021"/>
            <a:ext cx="31053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Parking Zone </a:t>
            </a:r>
            <a:endParaRPr lang="en-US" sz="1000" dirty="0"/>
          </a:p>
        </p:txBody>
      </p:sp>
      <p:pic>
        <p:nvPicPr>
          <p:cNvPr id="64" name="Image 15" descr="preencoded.png">
            <a:extLst>
              <a:ext uri="{FF2B5EF4-FFF2-40B4-BE49-F238E27FC236}">
                <a16:creationId xmlns:a16="http://schemas.microsoft.com/office/drawing/2014/main" id="{1785990F-5CDA-CF6B-5034-A3BD98AE869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837" r="-837"/>
          <a:stretch/>
        </p:blipFill>
        <p:spPr>
          <a:xfrm>
            <a:off x="374204" y="4163021"/>
            <a:ext cx="152705" cy="133502"/>
          </a:xfrm>
          <a:prstGeom prst="rect">
            <a:avLst/>
          </a:prstGeom>
        </p:spPr>
      </p:pic>
      <p:sp>
        <p:nvSpPr>
          <p:cNvPr id="65" name="Shape 27">
            <a:extLst>
              <a:ext uri="{FF2B5EF4-FFF2-40B4-BE49-F238E27FC236}">
                <a16:creationId xmlns:a16="http://schemas.microsoft.com/office/drawing/2014/main" id="{19E3FE1C-6A0E-C786-D49B-D56C08B9190B}"/>
              </a:ext>
            </a:extLst>
          </p:cNvPr>
          <p:cNvSpPr/>
          <p:nvPr/>
        </p:nvSpPr>
        <p:spPr>
          <a:xfrm>
            <a:off x="233040" y="4099399"/>
            <a:ext cx="38405" cy="1200607"/>
          </a:xfrm>
          <a:prstGeom prst="roundRect">
            <a:avLst>
              <a:gd name="adj" fmla="val 151171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6" name="Text 16">
            <a:extLst>
              <a:ext uri="{FF2B5EF4-FFF2-40B4-BE49-F238E27FC236}">
                <a16:creationId xmlns:a16="http://schemas.microsoft.com/office/drawing/2014/main" id="{086B5D85-B3B7-2B41-F7DD-B07B99D0DA15}"/>
              </a:ext>
            </a:extLst>
          </p:cNvPr>
          <p:cNvSpPr/>
          <p:nvPr/>
        </p:nvSpPr>
        <p:spPr>
          <a:xfrm rot="5400000">
            <a:off x="11024757" y="3195371"/>
            <a:ext cx="400507" cy="181051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15.0m</a:t>
            </a:r>
            <a:endParaRPr lang="en-US" sz="800" dirty="0"/>
          </a:p>
        </p:txBody>
      </p:sp>
      <p:sp>
        <p:nvSpPr>
          <p:cNvPr id="67" name="Text 29">
            <a:extLst>
              <a:ext uri="{FF2B5EF4-FFF2-40B4-BE49-F238E27FC236}">
                <a16:creationId xmlns:a16="http://schemas.microsoft.com/office/drawing/2014/main" id="{2E3DC5DB-4FBA-F6B9-DFE2-3811863D2FF3}"/>
              </a:ext>
            </a:extLst>
          </p:cNvPr>
          <p:cNvSpPr txBox="1"/>
          <p:nvPr/>
        </p:nvSpPr>
        <p:spPr>
          <a:xfrm>
            <a:off x="374204" y="4396193"/>
            <a:ext cx="33339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Slot Size:</a:t>
            </a:r>
            <a:r>
              <a:rPr lang="en-US" sz="9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6.0m × 2.5m</a:t>
            </a:r>
            <a:r>
              <a:rPr lang="tr-TR" sz="9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endParaRPr lang="en-US" sz="900" dirty="0"/>
          </a:p>
        </p:txBody>
      </p:sp>
      <p:sp>
        <p:nvSpPr>
          <p:cNvPr id="68" name="Text 30">
            <a:extLst>
              <a:ext uri="{FF2B5EF4-FFF2-40B4-BE49-F238E27FC236}">
                <a16:creationId xmlns:a16="http://schemas.microsoft.com/office/drawing/2014/main" id="{9FDB58A4-2A2B-D352-11DC-DD3B718ADE6D}"/>
              </a:ext>
            </a:extLst>
          </p:cNvPr>
          <p:cNvSpPr txBox="1"/>
          <p:nvPr/>
        </p:nvSpPr>
        <p:spPr>
          <a:xfrm>
            <a:off x="374204" y="4604147"/>
            <a:ext cx="33339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Margin:</a:t>
            </a:r>
            <a:r>
              <a:rPr lang="en-US" sz="9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Tight (0.6m fwd/back)</a:t>
            </a:r>
            <a:endParaRPr lang="en-US" sz="900" dirty="0"/>
          </a:p>
        </p:txBody>
      </p:sp>
      <p:sp>
        <p:nvSpPr>
          <p:cNvPr id="69" name="Text 31">
            <a:extLst>
              <a:ext uri="{FF2B5EF4-FFF2-40B4-BE49-F238E27FC236}">
                <a16:creationId xmlns:a16="http://schemas.microsoft.com/office/drawing/2014/main" id="{95105906-0499-B1F0-4021-9697D7EF7F78}"/>
              </a:ext>
            </a:extLst>
          </p:cNvPr>
          <p:cNvSpPr txBox="1"/>
          <p:nvPr/>
        </p:nvSpPr>
        <p:spPr>
          <a:xfrm>
            <a:off x="356886" y="4855672"/>
            <a:ext cx="33339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Config:</a:t>
            </a:r>
            <a:r>
              <a:rPr lang="en-US" sz="9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Parallel (Street-side)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9635290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457200"/>
            <a:ext cx="12191695" cy="6905549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-1" b="-1"/>
          <a:stretch/>
        </p:blipFill>
        <p:spPr>
          <a:xfrm>
            <a:off x="571500" y="838505"/>
            <a:ext cx="6077102" cy="614385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857707" y="1600200"/>
            <a:ext cx="5553151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Shape 3"/>
          <p:cNvSpPr/>
          <p:nvPr/>
        </p:nvSpPr>
        <p:spPr>
          <a:xfrm>
            <a:off x="857707" y="1076249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52805" y="1171346"/>
            <a:ext cx="190195" cy="190195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380744" y="1123798"/>
            <a:ext cx="2699309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Gymnasium Architecture</a:t>
            </a:r>
            <a:endParaRPr lang="en-US" sz="15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rcRect t="-12275" b="-12275"/>
          <a:stretch/>
        </p:blipFill>
        <p:spPr>
          <a:xfrm>
            <a:off x="857707" y="1800454"/>
            <a:ext cx="152705" cy="190195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123798" y="1800454"/>
            <a:ext cx="5906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 Environment:</a:t>
            </a:r>
            <a:r>
              <a:rPr lang="en-US" sz="12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Built on Gymnasium interface inheriting from </a:t>
            </a:r>
            <a:r>
              <a:rPr lang="en-US" sz="1000" dirty="0">
                <a:solidFill>
                  <a:srgbClr val="37415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gym.Env</a:t>
            </a:r>
            <a:endParaRPr lang="en-US" sz="12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rcRect t="-87126" b="-87126"/>
          <a:stretch/>
        </p:blipFill>
        <p:spPr>
          <a:xfrm>
            <a:off x="857707" y="2180844"/>
            <a:ext cx="152705" cy="418795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1123798" y="2180844"/>
            <a:ext cx="4953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Observation Space:</a:t>
            </a:r>
            <a:r>
              <a:rPr lang="en-US" sz="12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13D continuous vector normalized to [-1, 1]</a:t>
            </a:r>
            <a:endParaRPr lang="en-US" sz="1200" dirty="0"/>
          </a:p>
        </p:txBody>
      </p:sp>
      <p:sp>
        <p:nvSpPr>
          <p:cNvPr id="14" name="Text 7"/>
          <p:cNvSpPr txBox="1"/>
          <p:nvPr/>
        </p:nvSpPr>
        <p:spPr>
          <a:xfrm>
            <a:off x="1123798" y="2447849"/>
            <a:ext cx="4381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Ego state, Relative target, Boundaries, Obstacles</a:t>
            </a:r>
            <a:endParaRPr lang="en-US" sz="10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7"/>
          <a:srcRect t="-87126" b="-87126"/>
          <a:stretch/>
        </p:blipFill>
        <p:spPr>
          <a:xfrm>
            <a:off x="857707" y="2790749"/>
            <a:ext cx="152705" cy="418795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1123798" y="2790749"/>
            <a:ext cx="3314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Action Space:</a:t>
            </a:r>
            <a:r>
              <a:rPr lang="en-US" sz="12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2D continuous control</a:t>
            </a:r>
            <a:endParaRPr lang="en-US" sz="1200" dirty="0"/>
          </a:p>
        </p:txBody>
      </p:sp>
      <p:sp>
        <p:nvSpPr>
          <p:cNvPr id="17" name="Text 9"/>
          <p:cNvSpPr txBox="1"/>
          <p:nvPr/>
        </p:nvSpPr>
        <p:spPr>
          <a:xfrm>
            <a:off x="1123798" y="3057754"/>
            <a:ext cx="349940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Steering [-35°, +35°], Acceleration [-0.5, +0.5] m/s²</a:t>
            </a:r>
            <a:endParaRPr lang="en-US" sz="1000" dirty="0"/>
          </a:p>
        </p:txBody>
      </p:sp>
      <p:sp>
        <p:nvSpPr>
          <p:cNvPr id="18" name="Shape 10"/>
          <p:cNvSpPr/>
          <p:nvPr/>
        </p:nvSpPr>
        <p:spPr>
          <a:xfrm>
            <a:off x="857707" y="3400654"/>
            <a:ext cx="5553151" cy="1333195"/>
          </a:xfrm>
          <a:prstGeom prst="roundRect">
            <a:avLst>
              <a:gd name="adj" fmla="val 293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1"/>
          <p:cNvSpPr txBox="1"/>
          <p:nvPr/>
        </p:nvSpPr>
        <p:spPr>
          <a:xfrm>
            <a:off x="1009498" y="3552444"/>
            <a:ext cx="53629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40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Reward System Design</a:t>
            </a:r>
            <a:endParaRPr lang="en-US" sz="1000" dirty="0"/>
          </a:p>
        </p:txBody>
      </p:sp>
      <p:sp>
        <p:nvSpPr>
          <p:cNvPr id="20" name="Shape 12"/>
          <p:cNvSpPr/>
          <p:nvPr/>
        </p:nvSpPr>
        <p:spPr>
          <a:xfrm>
            <a:off x="1009498" y="3800246"/>
            <a:ext cx="543154" cy="228600"/>
          </a:xfrm>
          <a:prstGeom prst="rect">
            <a:avLst/>
          </a:prstGeom>
          <a:noFill/>
          <a:ln/>
        </p:spPr>
        <p:txBody>
          <a:bodyPr/>
          <a:lstStyle/>
          <a:p>
            <a:endParaRPr lang="tr-TR"/>
          </a:p>
        </p:txBody>
      </p:sp>
      <p:sp>
        <p:nvSpPr>
          <p:cNvPr id="21" name="Text 13"/>
          <p:cNvSpPr/>
          <p:nvPr/>
        </p:nvSpPr>
        <p:spPr>
          <a:xfrm>
            <a:off x="1009498" y="3800246"/>
            <a:ext cx="543154" cy="228600"/>
          </a:xfrm>
          <a:prstGeom prst="rect">
            <a:avLst/>
          </a:prstGeom>
          <a:solidFill>
            <a:srgbClr val="D1FAE5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F4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Stage 0</a:t>
            </a:r>
            <a:endParaRPr lang="en-US" sz="900" dirty="0"/>
          </a:p>
        </p:txBody>
      </p:sp>
      <p:sp>
        <p:nvSpPr>
          <p:cNvPr id="22" name="Text 14"/>
          <p:cNvSpPr txBox="1"/>
          <p:nvPr/>
        </p:nvSpPr>
        <p:spPr>
          <a:xfrm>
            <a:off x="1713586" y="380024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Approach (&gt;5.5m)</a:t>
            </a:r>
            <a:endParaRPr lang="en-US" sz="1200" dirty="0"/>
          </a:p>
        </p:txBody>
      </p:sp>
      <p:sp>
        <p:nvSpPr>
          <p:cNvPr id="23" name="Shape 15"/>
          <p:cNvSpPr/>
          <p:nvPr/>
        </p:nvSpPr>
        <p:spPr>
          <a:xfrm>
            <a:off x="1009498" y="4076395"/>
            <a:ext cx="543154" cy="228600"/>
          </a:xfrm>
          <a:prstGeom prst="rect">
            <a:avLst/>
          </a:prstGeom>
          <a:noFill/>
          <a:ln/>
        </p:spPr>
        <p:txBody>
          <a:bodyPr/>
          <a:lstStyle/>
          <a:p>
            <a:endParaRPr lang="tr-TR"/>
          </a:p>
        </p:txBody>
      </p:sp>
      <p:sp>
        <p:nvSpPr>
          <p:cNvPr id="24" name="Text 16"/>
          <p:cNvSpPr/>
          <p:nvPr/>
        </p:nvSpPr>
        <p:spPr>
          <a:xfrm>
            <a:off x="1009498" y="4076395"/>
            <a:ext cx="543154" cy="228600"/>
          </a:xfrm>
          <a:prstGeom prst="rect">
            <a:avLst/>
          </a:prstGeom>
          <a:solidFill>
            <a:srgbClr val="FEF3C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2400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Stage 1</a:t>
            </a:r>
            <a:endParaRPr lang="en-US" sz="900" dirty="0"/>
          </a:p>
        </p:txBody>
      </p:sp>
      <p:sp>
        <p:nvSpPr>
          <p:cNvPr id="25" name="Text 17"/>
          <p:cNvSpPr txBox="1"/>
          <p:nvPr/>
        </p:nvSpPr>
        <p:spPr>
          <a:xfrm>
            <a:off x="1713586" y="4076395"/>
            <a:ext cx="21314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Y-Correction (3.0m - 5.5m)</a:t>
            </a:r>
            <a:endParaRPr lang="en-US" sz="1200" dirty="0"/>
          </a:p>
        </p:txBody>
      </p:sp>
      <p:sp>
        <p:nvSpPr>
          <p:cNvPr id="26" name="Shape 18"/>
          <p:cNvSpPr/>
          <p:nvPr/>
        </p:nvSpPr>
        <p:spPr>
          <a:xfrm>
            <a:off x="1009498" y="4352544"/>
            <a:ext cx="543154" cy="228600"/>
          </a:xfrm>
          <a:prstGeom prst="rect">
            <a:avLst/>
          </a:prstGeom>
          <a:noFill/>
          <a:ln/>
        </p:spPr>
        <p:txBody>
          <a:bodyPr/>
          <a:lstStyle/>
          <a:p>
            <a:endParaRPr lang="tr-TR"/>
          </a:p>
        </p:txBody>
      </p:sp>
      <p:sp>
        <p:nvSpPr>
          <p:cNvPr id="27" name="Text 19"/>
          <p:cNvSpPr/>
          <p:nvPr/>
        </p:nvSpPr>
        <p:spPr>
          <a:xfrm>
            <a:off x="1009498" y="4352544"/>
            <a:ext cx="543154" cy="228600"/>
          </a:xfrm>
          <a:prstGeom prst="rect">
            <a:avLst/>
          </a:prstGeom>
          <a:solidFill>
            <a:srgbClr val="FEE2E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91C1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Stage 2</a:t>
            </a:r>
            <a:endParaRPr lang="en-US" sz="900" dirty="0"/>
          </a:p>
        </p:txBody>
      </p:sp>
      <p:sp>
        <p:nvSpPr>
          <p:cNvPr id="28" name="Text 20"/>
          <p:cNvSpPr txBox="1"/>
          <p:nvPr/>
        </p:nvSpPr>
        <p:spPr>
          <a:xfrm>
            <a:off x="1713586" y="4352544"/>
            <a:ext cx="21204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Entry &amp; Alignment (&lt;3.0m)</a:t>
            </a:r>
            <a:endParaRPr lang="en-US" sz="1200" dirty="0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8"/>
          <a:srcRect t="-7" b="-7"/>
          <a:stretch/>
        </p:blipFill>
        <p:spPr>
          <a:xfrm>
            <a:off x="7029907" y="838505"/>
            <a:ext cx="4591202" cy="2800807"/>
          </a:xfrm>
          <a:prstGeom prst="rect">
            <a:avLst/>
          </a:prstGeom>
        </p:spPr>
      </p:pic>
      <p:sp>
        <p:nvSpPr>
          <p:cNvPr id="30" name="Shape 21"/>
          <p:cNvSpPr/>
          <p:nvPr/>
        </p:nvSpPr>
        <p:spPr>
          <a:xfrm>
            <a:off x="7315200" y="1600200"/>
            <a:ext cx="4067251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Shape 22"/>
          <p:cNvSpPr/>
          <p:nvPr/>
        </p:nvSpPr>
        <p:spPr>
          <a:xfrm>
            <a:off x="7315200" y="1076249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410298" y="1171346"/>
            <a:ext cx="190195" cy="190195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7839151" y="1123798"/>
            <a:ext cx="240304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Constraints &amp; Safety</a:t>
            </a:r>
            <a:endParaRPr lang="en-US" sz="1500" dirty="0"/>
          </a:p>
        </p:txBody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10"/>
          <a:srcRect t="-12275" b="-12275"/>
          <a:stretch/>
        </p:blipFill>
        <p:spPr>
          <a:xfrm>
            <a:off x="7315200" y="1800454"/>
            <a:ext cx="152705" cy="190195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7582205" y="1800454"/>
            <a:ext cx="42117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Safety Barriers:</a:t>
            </a:r>
            <a:r>
              <a:rPr lang="en-US" sz="12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Exponential penalty near boundaries</a:t>
            </a:r>
            <a:endParaRPr lang="en-US" sz="1200" dirty="0"/>
          </a:p>
        </p:txBody>
      </p:sp>
      <p:pic>
        <p:nvPicPr>
          <p:cNvPr id="36" name="Image 9" descr="preencoded.png"/>
          <p:cNvPicPr>
            <a:picLocks noChangeAspect="1"/>
          </p:cNvPicPr>
          <p:nvPr/>
        </p:nvPicPr>
        <p:blipFill>
          <a:blip r:embed="rId11"/>
          <a:srcRect t="-87620" b="-87620"/>
          <a:stretch/>
        </p:blipFill>
        <p:spPr>
          <a:xfrm>
            <a:off x="7315200" y="2180844"/>
            <a:ext cx="190195" cy="418795"/>
          </a:xfrm>
          <a:prstGeom prst="rect">
            <a:avLst/>
          </a:prstGeom>
        </p:spPr>
      </p:pic>
      <p:sp>
        <p:nvSpPr>
          <p:cNvPr id="37" name="Text 25"/>
          <p:cNvSpPr txBox="1"/>
          <p:nvPr/>
        </p:nvSpPr>
        <p:spPr>
          <a:xfrm>
            <a:off x="7619695" y="2180844"/>
            <a:ext cx="38386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Collision Check:</a:t>
            </a:r>
            <a:r>
              <a:rPr lang="en-US" sz="12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Oriented bounding box intersection (SAT)</a:t>
            </a:r>
            <a:endParaRPr lang="en-US" sz="1200" dirty="0"/>
          </a:p>
        </p:txBody>
      </p:sp>
      <p:pic>
        <p:nvPicPr>
          <p:cNvPr id="38" name="Image 10" descr="preencoded.png"/>
          <p:cNvPicPr>
            <a:picLocks noChangeAspect="1"/>
          </p:cNvPicPr>
          <p:nvPr/>
        </p:nvPicPr>
        <p:blipFill>
          <a:blip r:embed="rId12"/>
          <a:srcRect t="-87126" b="-87126"/>
          <a:stretch/>
        </p:blipFill>
        <p:spPr>
          <a:xfrm>
            <a:off x="7315200" y="2790749"/>
            <a:ext cx="152705" cy="418795"/>
          </a:xfrm>
          <a:prstGeom prst="rect">
            <a:avLst/>
          </a:prstGeom>
        </p:spPr>
      </p:pic>
      <p:sp>
        <p:nvSpPr>
          <p:cNvPr id="39" name="Text 26"/>
          <p:cNvSpPr txBox="1"/>
          <p:nvPr/>
        </p:nvSpPr>
        <p:spPr>
          <a:xfrm>
            <a:off x="7582205" y="2790749"/>
            <a:ext cx="3877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Speed Limits:</a:t>
            </a:r>
            <a:r>
              <a:rPr lang="en-US" sz="12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Global max 1.0 m/s, parking zone max 0.5 m/s</a:t>
            </a:r>
            <a:endParaRPr lang="en-US" sz="1200" dirty="0"/>
          </a:p>
        </p:txBody>
      </p:sp>
      <p:pic>
        <p:nvPicPr>
          <p:cNvPr id="40" name="Image 11" descr="preencoded.png"/>
          <p:cNvPicPr>
            <a:picLocks noChangeAspect="1"/>
          </p:cNvPicPr>
          <p:nvPr/>
        </p:nvPicPr>
        <p:blipFill>
          <a:blip r:embed="rId13"/>
          <a:srcRect t="-1" b="-1"/>
          <a:stretch/>
        </p:blipFill>
        <p:spPr>
          <a:xfrm>
            <a:off x="7029907" y="3877056"/>
            <a:ext cx="4591202" cy="3105302"/>
          </a:xfrm>
          <a:prstGeom prst="rect">
            <a:avLst/>
          </a:prstGeom>
        </p:spPr>
      </p:pic>
      <p:sp>
        <p:nvSpPr>
          <p:cNvPr id="41" name="Shape 27"/>
          <p:cNvSpPr/>
          <p:nvPr/>
        </p:nvSpPr>
        <p:spPr>
          <a:xfrm>
            <a:off x="7315200" y="4638751"/>
            <a:ext cx="4067251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2" name="Shape 28"/>
          <p:cNvSpPr/>
          <p:nvPr/>
        </p:nvSpPr>
        <p:spPr>
          <a:xfrm>
            <a:off x="7315200" y="4114800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43" name="Image 12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7386523" y="4209898"/>
            <a:ext cx="237744" cy="190195"/>
          </a:xfrm>
          <a:prstGeom prst="rect">
            <a:avLst/>
          </a:prstGeom>
        </p:spPr>
      </p:pic>
      <p:sp>
        <p:nvSpPr>
          <p:cNvPr id="44" name="Text 29"/>
          <p:cNvSpPr txBox="1"/>
          <p:nvPr/>
        </p:nvSpPr>
        <p:spPr>
          <a:xfrm>
            <a:off x="7839151" y="4162349"/>
            <a:ext cx="195773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Episode Settings</a:t>
            </a:r>
            <a:endParaRPr lang="en-US" sz="1500" dirty="0"/>
          </a:p>
        </p:txBody>
      </p:sp>
      <p:sp>
        <p:nvSpPr>
          <p:cNvPr id="45" name="Shape 30"/>
          <p:cNvSpPr/>
          <p:nvPr/>
        </p:nvSpPr>
        <p:spPr>
          <a:xfrm>
            <a:off x="7315200" y="4839005"/>
            <a:ext cx="1962302" cy="780898"/>
          </a:xfrm>
          <a:prstGeom prst="roundRect">
            <a:avLst>
              <a:gd name="adj" fmla="val 856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6" name="Text 31"/>
          <p:cNvSpPr txBox="1"/>
          <p:nvPr/>
        </p:nvSpPr>
        <p:spPr>
          <a:xfrm>
            <a:off x="7467905" y="4990795"/>
            <a:ext cx="17337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40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Time Step</a:t>
            </a:r>
            <a:endParaRPr lang="en-US" sz="1000" dirty="0"/>
          </a:p>
        </p:txBody>
      </p:sp>
      <p:sp>
        <p:nvSpPr>
          <p:cNvPr id="47" name="Text 32"/>
          <p:cNvSpPr txBox="1"/>
          <p:nvPr/>
        </p:nvSpPr>
        <p:spPr>
          <a:xfrm>
            <a:off x="7467905" y="5238598"/>
            <a:ext cx="17337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3A8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dt = 0.05s (20Hz)</a:t>
            </a:r>
            <a:endParaRPr lang="en-US" sz="1200" dirty="0"/>
          </a:p>
        </p:txBody>
      </p:sp>
      <p:sp>
        <p:nvSpPr>
          <p:cNvPr id="48" name="Shape 33"/>
          <p:cNvSpPr/>
          <p:nvPr/>
        </p:nvSpPr>
        <p:spPr>
          <a:xfrm>
            <a:off x="9424721" y="4839005"/>
            <a:ext cx="1962302" cy="780898"/>
          </a:xfrm>
          <a:prstGeom prst="roundRect">
            <a:avLst>
              <a:gd name="adj" fmla="val 856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9" name="Text 34"/>
          <p:cNvSpPr txBox="1"/>
          <p:nvPr/>
        </p:nvSpPr>
        <p:spPr>
          <a:xfrm>
            <a:off x="9577426" y="4990795"/>
            <a:ext cx="17337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40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Max Length</a:t>
            </a:r>
            <a:endParaRPr lang="en-US" sz="1000" dirty="0"/>
          </a:p>
        </p:txBody>
      </p:sp>
      <p:sp>
        <p:nvSpPr>
          <p:cNvPr id="50" name="Text 35"/>
          <p:cNvSpPr txBox="1"/>
          <p:nvPr/>
        </p:nvSpPr>
        <p:spPr>
          <a:xfrm>
            <a:off x="9577426" y="5238598"/>
            <a:ext cx="17337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3A8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500 steps (25s)</a:t>
            </a:r>
            <a:endParaRPr lang="en-US" sz="1200" dirty="0"/>
          </a:p>
        </p:txBody>
      </p:sp>
      <p:sp>
        <p:nvSpPr>
          <p:cNvPr id="51" name="Shape 36"/>
          <p:cNvSpPr/>
          <p:nvPr/>
        </p:nvSpPr>
        <p:spPr>
          <a:xfrm>
            <a:off x="7315200" y="5772607"/>
            <a:ext cx="4067251" cy="972007"/>
          </a:xfrm>
          <a:prstGeom prst="roundRect">
            <a:avLst>
              <a:gd name="adj" fmla="val 5534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2" name="Text 37"/>
          <p:cNvSpPr txBox="1"/>
          <p:nvPr/>
        </p:nvSpPr>
        <p:spPr>
          <a:xfrm>
            <a:off x="7467905" y="5924398"/>
            <a:ext cx="38770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40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Initialization</a:t>
            </a:r>
            <a:endParaRPr lang="en-US" sz="1000" dirty="0"/>
          </a:p>
        </p:txBody>
      </p:sp>
      <p:sp>
        <p:nvSpPr>
          <p:cNvPr id="53" name="Text 38"/>
          <p:cNvSpPr txBox="1"/>
          <p:nvPr/>
        </p:nvSpPr>
        <p:spPr>
          <a:xfrm>
            <a:off x="7467905" y="6172200"/>
            <a:ext cx="3877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3A8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Randomized spawn near parking zone</a:t>
            </a:r>
            <a:endParaRPr lang="en-US" sz="1200" dirty="0"/>
          </a:p>
        </p:txBody>
      </p:sp>
      <p:sp>
        <p:nvSpPr>
          <p:cNvPr id="54" name="Text 39"/>
          <p:cNvSpPr txBox="1"/>
          <p:nvPr/>
        </p:nvSpPr>
        <p:spPr>
          <a:xfrm>
            <a:off x="7467905" y="6439205"/>
            <a:ext cx="38770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Position +/- 2m, Angle +/- 15°</a:t>
            </a:r>
            <a:endParaRPr lang="en-US" sz="900" dirty="0"/>
          </a:p>
        </p:txBody>
      </p:sp>
      <p:sp>
        <p:nvSpPr>
          <p:cNvPr id="55" name="Shape 40"/>
          <p:cNvSpPr/>
          <p:nvPr/>
        </p:nvSpPr>
        <p:spPr>
          <a:xfrm>
            <a:off x="0" y="7362749"/>
            <a:ext cx="12191695" cy="181051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6" name="Shape 41"/>
          <p:cNvSpPr/>
          <p:nvPr/>
        </p:nvSpPr>
        <p:spPr>
          <a:xfrm>
            <a:off x="0" y="7362749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7" name="Text 42"/>
          <p:cNvSpPr txBox="1"/>
          <p:nvPr/>
        </p:nvSpPr>
        <p:spPr>
          <a:xfrm>
            <a:off x="381305" y="7372807"/>
            <a:ext cx="382767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Gymnasium Custom Env • Bicycle Kinematics • Staged Rewards</a:t>
            </a:r>
            <a:endParaRPr lang="en-US" sz="900" dirty="0"/>
          </a:p>
        </p:txBody>
      </p:sp>
      <p:sp>
        <p:nvSpPr>
          <p:cNvPr id="58" name="Text 43"/>
          <p:cNvSpPr txBox="1"/>
          <p:nvPr/>
        </p:nvSpPr>
        <p:spPr>
          <a:xfrm>
            <a:off x="11470234" y="7372807"/>
            <a:ext cx="4197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5</a:t>
            </a:r>
            <a:endParaRPr lang="en-US" sz="900" dirty="0"/>
          </a:p>
        </p:txBody>
      </p:sp>
      <p:sp>
        <p:nvSpPr>
          <p:cNvPr id="59" name="Shape 44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0" name="Text 45"/>
          <p:cNvSpPr txBox="1"/>
          <p:nvPr/>
        </p:nvSpPr>
        <p:spPr>
          <a:xfrm>
            <a:off x="381305" y="0"/>
            <a:ext cx="50282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Environment Implementation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0" y="1381658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 txBox="1"/>
          <p:nvPr/>
        </p:nvSpPr>
        <p:spPr>
          <a:xfrm>
            <a:off x="571500" y="381305"/>
            <a:ext cx="8481974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Initial Approach: Complex Reward System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933602"/>
            <a:ext cx="76489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Iteration 1 (0 - 50k Steps)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403129" y="961949"/>
            <a:ext cx="12957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F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FAILED ATTEMPT </a:t>
            </a:r>
            <a:endParaRPr lang="en-US" sz="1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174529" y="1000354"/>
            <a:ext cx="152705" cy="152705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 l="-396" r="-396"/>
          <a:stretch/>
        </p:blipFill>
        <p:spPr>
          <a:xfrm>
            <a:off x="1981505" y="1772107"/>
            <a:ext cx="38405" cy="513435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14807" y="4557370"/>
            <a:ext cx="29718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F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Attempt 1</a:t>
            </a:r>
            <a:endParaRPr lang="en-US" sz="15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 l="-2" r="-2"/>
          <a:stretch/>
        </p:blipFill>
        <p:spPr>
          <a:xfrm>
            <a:off x="3810305" y="1772107"/>
            <a:ext cx="7810805" cy="1943100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095598" y="2048256"/>
            <a:ext cx="237744" cy="190195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4448556" y="2000707"/>
            <a:ext cx="42483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Over-Engineered Reward Function</a:t>
            </a:r>
            <a:endParaRPr lang="en-US" sz="1500" dirty="0"/>
          </a:p>
        </p:txBody>
      </p:sp>
      <p:sp>
        <p:nvSpPr>
          <p:cNvPr id="14" name="Shape 8"/>
          <p:cNvSpPr/>
          <p:nvPr/>
        </p:nvSpPr>
        <p:spPr>
          <a:xfrm>
            <a:off x="4134002" y="2458112"/>
            <a:ext cx="7295998" cy="780898"/>
          </a:xfrm>
          <a:prstGeom prst="roundRect">
            <a:avLst>
              <a:gd name="adj" fmla="val 1142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0"/>
          <p:cNvSpPr txBox="1"/>
          <p:nvPr/>
        </p:nvSpPr>
        <p:spPr>
          <a:xfrm>
            <a:off x="4148175" y="3444525"/>
            <a:ext cx="74112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12+ components with separate weights attempting to control every aspect of motion</a:t>
            </a:r>
            <a:endParaRPr lang="en-US" sz="10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rcRect l="-6" r="-6"/>
          <a:stretch/>
        </p:blipFill>
        <p:spPr>
          <a:xfrm>
            <a:off x="3810305" y="3943807"/>
            <a:ext cx="7810805" cy="1923898"/>
          </a:xfrm>
          <a:prstGeom prst="rect">
            <a:avLst/>
          </a:prstGeom>
        </p:spPr>
      </p:pic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095598" y="4219956"/>
            <a:ext cx="190195" cy="190195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4401007" y="4172407"/>
            <a:ext cx="245516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Problems Encountered</a:t>
            </a:r>
            <a:endParaRPr lang="en-US" sz="150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095598" y="4647895"/>
            <a:ext cx="152705" cy="152705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4362602" y="4610405"/>
            <a:ext cx="69823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Over-Parameterized:</a:t>
            </a:r>
            <a:r>
              <a:rPr lang="en-US" sz="12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20+ hyperparameters made tuning impossible (curse of dimensionality)</a:t>
            </a:r>
            <a:endParaRPr lang="en-US" sz="1200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4095598" y="4990795"/>
            <a:ext cx="152705" cy="152705"/>
          </a:xfrm>
          <a:prstGeom prst="rect">
            <a:avLst/>
          </a:prstGeom>
        </p:spPr>
      </p:pic>
      <p:sp>
        <p:nvSpPr>
          <p:cNvPr id="23" name="Text 13"/>
          <p:cNvSpPr txBox="1"/>
          <p:nvPr/>
        </p:nvSpPr>
        <p:spPr>
          <a:xfrm>
            <a:off x="4362602" y="4953305"/>
            <a:ext cx="58777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Hard to Debug:</a:t>
            </a:r>
            <a:r>
              <a:rPr lang="en-US" sz="12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Couldn't identify which component was causing bad behavior</a:t>
            </a:r>
            <a:endParaRPr lang="en-US" sz="1200" dirty="0"/>
          </a:p>
        </p:txBody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4095598" y="5333695"/>
            <a:ext cx="152705" cy="152705"/>
          </a:xfrm>
          <a:prstGeom prst="rect">
            <a:avLst/>
          </a:prstGeom>
        </p:spPr>
      </p:pic>
      <p:sp>
        <p:nvSpPr>
          <p:cNvPr id="25" name="Text 14"/>
          <p:cNvSpPr txBox="1"/>
          <p:nvPr/>
        </p:nvSpPr>
        <p:spPr>
          <a:xfrm>
            <a:off x="4362602" y="5296205"/>
            <a:ext cx="7068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Unpredictable Behavior:</a:t>
            </a:r>
            <a:r>
              <a:rPr lang="en-US" sz="12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Components canceled each other out (e.g., smoothness vs. progress)</a:t>
            </a:r>
            <a:endParaRPr lang="en-US" sz="1200" dirty="0"/>
          </a:p>
        </p:txBody>
      </p:sp>
      <p:sp>
        <p:nvSpPr>
          <p:cNvPr id="26" name="Shape 15"/>
          <p:cNvSpPr/>
          <p:nvPr/>
        </p:nvSpPr>
        <p:spPr>
          <a:xfrm>
            <a:off x="3810305" y="5753405"/>
            <a:ext cx="7810805" cy="809244"/>
          </a:xfrm>
          <a:prstGeom prst="roundRect">
            <a:avLst>
              <a:gd name="adj" fmla="val 10635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27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3981298" y="5919496"/>
            <a:ext cx="228600" cy="228600"/>
          </a:xfrm>
          <a:prstGeom prst="rect">
            <a:avLst/>
          </a:prstGeom>
        </p:spPr>
      </p:pic>
      <p:sp>
        <p:nvSpPr>
          <p:cNvPr id="28" name="Text 16"/>
          <p:cNvSpPr txBox="1"/>
          <p:nvPr/>
        </p:nvSpPr>
        <p:spPr>
          <a:xfrm>
            <a:off x="4379353" y="5908212"/>
            <a:ext cx="50200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91B1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OUTCOME: Agent stuck at 5-6m distance</a:t>
            </a:r>
            <a:endParaRPr lang="en-US" sz="1300" dirty="0"/>
          </a:p>
        </p:txBody>
      </p:sp>
      <p:sp>
        <p:nvSpPr>
          <p:cNvPr id="29" name="Text 17"/>
          <p:cNvSpPr txBox="1"/>
          <p:nvPr/>
        </p:nvSpPr>
        <p:spPr>
          <a:xfrm>
            <a:off x="4362602" y="6214672"/>
            <a:ext cx="55915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91B1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Failed to approach parking area. Policy collapsed to "do nothing" to avoid penalties.</a:t>
            </a:r>
            <a:endParaRPr lang="en-US" sz="1000" dirty="0"/>
          </a:p>
        </p:txBody>
      </p:sp>
      <p:sp>
        <p:nvSpPr>
          <p:cNvPr id="30" name="Text 18"/>
          <p:cNvSpPr txBox="1"/>
          <p:nvPr/>
        </p:nvSpPr>
        <p:spPr>
          <a:xfrm>
            <a:off x="11661343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06</a:t>
            </a:r>
            <a:endParaRPr lang="en-US" sz="1000" dirty="0"/>
          </a:p>
        </p:txBody>
      </p:sp>
      <p:sp>
        <p:nvSpPr>
          <p:cNvPr id="31" name="Shape 19"/>
          <p:cNvSpPr/>
          <p:nvPr/>
        </p:nvSpPr>
        <p:spPr>
          <a:xfrm>
            <a:off x="1714500" y="3834079"/>
            <a:ext cx="571500" cy="571500"/>
          </a:xfrm>
          <a:prstGeom prst="ellipse">
            <a:avLst/>
          </a:prstGeom>
          <a:solidFill>
            <a:srgbClr val="FEE2E2"/>
          </a:solidFill>
          <a:ln w="508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32" name="Image 10" descr="preencoded.png"/>
          <p:cNvPicPr>
            <a:picLocks noChangeAspect="1"/>
          </p:cNvPicPr>
          <p:nvPr/>
        </p:nvPicPr>
        <p:blipFill>
          <a:blip r:embed="rId13"/>
          <a:srcRect l="-57" r="-57"/>
          <a:stretch/>
        </p:blipFill>
        <p:spPr>
          <a:xfrm>
            <a:off x="1900123" y="4005072"/>
            <a:ext cx="200254" cy="228600"/>
          </a:xfrm>
          <a:prstGeom prst="rect">
            <a:avLst/>
          </a:prstGeom>
        </p:spPr>
      </p:pic>
      <p:sp>
        <p:nvSpPr>
          <p:cNvPr id="33" name="Text 6">
            <a:extLst>
              <a:ext uri="{FF2B5EF4-FFF2-40B4-BE49-F238E27FC236}">
                <a16:creationId xmlns:a16="http://schemas.microsoft.com/office/drawing/2014/main" id="{3B7E23AB-B88F-0F0F-6C3E-5332C7FCBA16}"/>
              </a:ext>
            </a:extLst>
          </p:cNvPr>
          <p:cNvSpPr txBox="1"/>
          <p:nvPr/>
        </p:nvSpPr>
        <p:spPr>
          <a:xfrm>
            <a:off x="4001414" y="2427646"/>
            <a:ext cx="8012245" cy="1016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</a:t>
            </a:r>
            <a:r>
              <a:rPr lang="en-US" sz="120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</a:t>
            </a:r>
            <a:r>
              <a:rPr lang="en-US" sz="160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r_progress + r_safety + r_smoothness + r_effort + r_time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r_anti_stagnation + </a:t>
            </a:r>
            <a:r>
              <a:rPr lang="en-US" sz="1600" b="1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r_anti_oscillation</a:t>
            </a:r>
            <a:r>
              <a:rPr lang="en-US" sz="160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r>
              <a:rPr lang="en-US" sz="1600" b="1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r_y_direction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TERMINAL_REWARDS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-200" r="-200"/>
          <a:stretch/>
        </p:blipFill>
        <p:spPr>
          <a:xfrm>
            <a:off x="0" y="0"/>
            <a:ext cx="12191695" cy="7589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1362456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3"/>
          <p:cNvSpPr txBox="1"/>
          <p:nvPr/>
        </p:nvSpPr>
        <p:spPr>
          <a:xfrm>
            <a:off x="571500" y="362102"/>
            <a:ext cx="8269834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Iteration 2: Simplification &amp; Progress</a:t>
            </a:r>
            <a:endParaRPr lang="en-US" sz="2700" dirty="0"/>
          </a:p>
        </p:txBody>
      </p:sp>
      <p:sp>
        <p:nvSpPr>
          <p:cNvPr id="7" name="Text 4"/>
          <p:cNvSpPr txBox="1"/>
          <p:nvPr/>
        </p:nvSpPr>
        <p:spPr>
          <a:xfrm>
            <a:off x="571500" y="914400"/>
            <a:ext cx="665866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50k - 150k Steps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9774936" y="828446"/>
            <a:ext cx="1848002" cy="342900"/>
          </a:xfrm>
          <a:prstGeom prst="rect">
            <a:avLst/>
          </a:prstGeom>
          <a:noFill/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6"/>
          <p:cNvSpPr/>
          <p:nvPr/>
        </p:nvSpPr>
        <p:spPr>
          <a:xfrm>
            <a:off x="10156241" y="828446"/>
            <a:ext cx="1466698" cy="342900"/>
          </a:xfrm>
          <a:prstGeom prst="rect">
            <a:avLst/>
          </a:prstGeom>
          <a:solidFill>
            <a:srgbClr val="FEF3C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770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PARTIAL SUCCESS </a:t>
            </a:r>
            <a:endParaRPr lang="en-US" sz="12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927641" y="923544"/>
            <a:ext cx="152705" cy="152705"/>
          </a:xfrm>
          <a:prstGeom prst="rect">
            <a:avLst/>
          </a:prstGeom>
        </p:spPr>
      </p:pic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 l="-400" r="-400"/>
          <a:stretch/>
        </p:blipFill>
        <p:spPr>
          <a:xfrm>
            <a:off x="6086246" y="1943100"/>
            <a:ext cx="19202" cy="43434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95198" y="1752905"/>
            <a:ext cx="512521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596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What Worked </a:t>
            </a:r>
            <a:endParaRPr lang="en-US" sz="16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71500" y="1805026"/>
            <a:ext cx="209398" cy="209398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571500" y="2352751"/>
            <a:ext cx="5333695" cy="4123944"/>
          </a:xfrm>
          <a:prstGeom prst="roundRect">
            <a:avLst>
              <a:gd name="adj" fmla="val 410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5" name="Shape 9"/>
          <p:cNvSpPr/>
          <p:nvPr/>
        </p:nvSpPr>
        <p:spPr>
          <a:xfrm>
            <a:off x="571500" y="2352751"/>
            <a:ext cx="5333695" cy="38405"/>
          </a:xfrm>
          <a:prstGeom prst="roundRect">
            <a:avLst>
              <a:gd name="adj" fmla="val 43990"/>
            </a:avLst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0"/>
          <p:cNvSpPr txBox="1"/>
          <p:nvPr/>
        </p:nvSpPr>
        <p:spPr>
          <a:xfrm>
            <a:off x="800100" y="2619756"/>
            <a:ext cx="49917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65F4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Simplified Reward Structure</a:t>
            </a:r>
            <a:endParaRPr lang="en-US" sz="1300" dirty="0"/>
          </a:p>
        </p:txBody>
      </p:sp>
      <p:sp>
        <p:nvSpPr>
          <p:cNvPr id="17" name="Text 11"/>
          <p:cNvSpPr txBox="1"/>
          <p:nvPr/>
        </p:nvSpPr>
        <p:spPr>
          <a:xfrm>
            <a:off x="800100" y="3000146"/>
            <a:ext cx="55632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Reduced 12+ components to 6 core terms to isolate behaviors: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800100" y="3381451"/>
            <a:ext cx="4876495" cy="647395"/>
          </a:xfrm>
          <a:prstGeom prst="roundRect">
            <a:avLst>
              <a:gd name="adj" fmla="val 830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3"/>
          <p:cNvSpPr txBox="1"/>
          <p:nvPr/>
        </p:nvSpPr>
        <p:spPr>
          <a:xfrm>
            <a:off x="923544" y="3504895"/>
            <a:ext cx="47439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= -d - |Δθ| - y_dist</a:t>
            </a:r>
            <a:endParaRPr lang="en-US" sz="1000" dirty="0"/>
          </a:p>
        </p:txBody>
      </p:sp>
      <p:sp>
        <p:nvSpPr>
          <p:cNvPr id="20" name="Text 14"/>
          <p:cNvSpPr txBox="1"/>
          <p:nvPr/>
        </p:nvSpPr>
        <p:spPr>
          <a:xfrm>
            <a:off x="923544" y="3705149"/>
            <a:ext cx="47439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Δd + Δθ + terminal</a:t>
            </a:r>
            <a:endParaRPr lang="en-US" sz="1000" dirty="0"/>
          </a:p>
        </p:txBody>
      </p:sp>
      <p:sp>
        <p:nvSpPr>
          <p:cNvPr id="21" name="Text 15"/>
          <p:cNvSpPr txBox="1"/>
          <p:nvPr/>
        </p:nvSpPr>
        <p:spPr>
          <a:xfrm>
            <a:off x="800100" y="4181551"/>
            <a:ext cx="49917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65F4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Observable Improvements</a:t>
            </a:r>
            <a:endParaRPr lang="en-US" sz="130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rcRect t="-43" b="-43"/>
          <a:stretch/>
        </p:blipFill>
        <p:spPr>
          <a:xfrm>
            <a:off x="800100" y="4562856"/>
            <a:ext cx="133502" cy="152705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314907" y="4524451"/>
            <a:ext cx="42181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Agent successfully learned to approach the parking area</a:t>
            </a:r>
            <a:endParaRPr lang="en-US" sz="120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7"/>
          <a:srcRect t="-43" b="-43"/>
          <a:stretch/>
        </p:blipFill>
        <p:spPr>
          <a:xfrm>
            <a:off x="800100" y="4924044"/>
            <a:ext cx="133502" cy="152705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1314907" y="4886554"/>
            <a:ext cx="3813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Reliable distance reduction from start (25m → 2m)</a:t>
            </a:r>
            <a:endParaRPr lang="en-US" sz="1200" dirty="0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7"/>
          <a:srcRect t="-43" b="-43"/>
          <a:stretch/>
        </p:blipFill>
        <p:spPr>
          <a:xfrm>
            <a:off x="800100" y="5286146"/>
            <a:ext cx="133502" cy="152705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1314907" y="5248656"/>
            <a:ext cx="25100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Collision rate dropped significantly</a:t>
            </a:r>
            <a:endParaRPr lang="en-US" sz="1200" dirty="0"/>
          </a:p>
        </p:txBody>
      </p:sp>
      <p:sp>
        <p:nvSpPr>
          <p:cNvPr id="28" name="Text 19"/>
          <p:cNvSpPr txBox="1"/>
          <p:nvPr/>
        </p:nvSpPr>
        <p:spPr>
          <a:xfrm>
            <a:off x="6610198" y="1752905"/>
            <a:ext cx="512521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D9770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New Discovery </a:t>
            </a:r>
            <a:endParaRPr lang="en-US" sz="1600" dirty="0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286500" y="1805026"/>
            <a:ext cx="209398" cy="209398"/>
          </a:xfrm>
          <a:prstGeom prst="rect">
            <a:avLst/>
          </a:prstGeom>
        </p:spPr>
      </p:pic>
      <p:sp>
        <p:nvSpPr>
          <p:cNvPr id="30" name="Shape 20"/>
          <p:cNvSpPr/>
          <p:nvPr/>
        </p:nvSpPr>
        <p:spPr>
          <a:xfrm>
            <a:off x="6286500" y="2352751"/>
            <a:ext cx="5333695" cy="4123944"/>
          </a:xfrm>
          <a:prstGeom prst="roundRect">
            <a:avLst>
              <a:gd name="adj" fmla="val 410"/>
            </a:avLst>
          </a:prstGeom>
          <a:solidFill>
            <a:srgbClr val="FFFBE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1" name="Shape 21"/>
          <p:cNvSpPr/>
          <p:nvPr/>
        </p:nvSpPr>
        <p:spPr>
          <a:xfrm>
            <a:off x="6286500" y="2352751"/>
            <a:ext cx="5333695" cy="38405"/>
          </a:xfrm>
          <a:prstGeom prst="roundRect">
            <a:avLst>
              <a:gd name="adj" fmla="val 43990"/>
            </a:avLst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Text 22"/>
          <p:cNvSpPr txBox="1"/>
          <p:nvPr/>
        </p:nvSpPr>
        <p:spPr>
          <a:xfrm>
            <a:off x="6515100" y="2619756"/>
            <a:ext cx="49917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2400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"False Attractor" Problem</a:t>
            </a:r>
            <a:endParaRPr lang="en-US" sz="1300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515100" y="3038551"/>
            <a:ext cx="152705" cy="152705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7049110" y="3000146"/>
            <a:ext cx="42766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Stalled Progress:</a:t>
            </a:r>
            <a:r>
              <a:rPr lang="en-US" sz="1200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Agent gets stuck at 1.8 - 2.0m distance</a:t>
            </a:r>
            <a:endParaRPr lang="en-US" sz="1200" dirty="0"/>
          </a:p>
        </p:txBody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515100" y="3400654"/>
            <a:ext cx="152705" cy="152705"/>
          </a:xfrm>
          <a:prstGeom prst="rect">
            <a:avLst/>
          </a:prstGeom>
        </p:spPr>
      </p:pic>
      <p:sp>
        <p:nvSpPr>
          <p:cNvPr id="36" name="Text 24"/>
          <p:cNvSpPr txBox="1"/>
          <p:nvPr/>
        </p:nvSpPr>
        <p:spPr>
          <a:xfrm>
            <a:off x="7049110" y="3362249"/>
            <a:ext cx="4419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Deceptive Metrics:</a:t>
            </a:r>
            <a:r>
              <a:rPr lang="en-US" sz="1200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Perfect angle (~2°) but absolute failure to enter slot</a:t>
            </a:r>
            <a:endParaRPr lang="en-US" sz="1200" dirty="0"/>
          </a:p>
        </p:txBody>
      </p:sp>
      <p:pic>
        <p:nvPicPr>
          <p:cNvPr id="37" name="Image 10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6515100" y="3991356"/>
            <a:ext cx="152705" cy="152705"/>
          </a:xfrm>
          <a:prstGeom prst="rect">
            <a:avLst/>
          </a:prstGeom>
        </p:spPr>
      </p:pic>
      <p:sp>
        <p:nvSpPr>
          <p:cNvPr id="38" name="Text 25"/>
          <p:cNvSpPr txBox="1"/>
          <p:nvPr/>
        </p:nvSpPr>
        <p:spPr>
          <a:xfrm>
            <a:off x="7049110" y="3952951"/>
            <a:ext cx="329824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Entry Failure:</a:t>
            </a:r>
            <a:r>
              <a:rPr lang="en-US" sz="1200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0/4 corners inside parking slot</a:t>
            </a:r>
            <a:endParaRPr lang="en-US" sz="1200" dirty="0"/>
          </a:p>
        </p:txBody>
      </p:sp>
      <p:sp>
        <p:nvSpPr>
          <p:cNvPr id="39" name="Shape 26"/>
          <p:cNvSpPr/>
          <p:nvPr/>
        </p:nvSpPr>
        <p:spPr>
          <a:xfrm>
            <a:off x="6515100" y="4315054"/>
            <a:ext cx="4876495" cy="1000354"/>
          </a:xfrm>
          <a:prstGeom prst="roundRect">
            <a:avLst>
              <a:gd name="adj" fmla="val 6964"/>
            </a:avLst>
          </a:prstGeom>
          <a:solidFill>
            <a:srgbClr val="FFFFFF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40" name="Image 11" descr="preencoded.png"/>
          <p:cNvPicPr>
            <a:picLocks noChangeAspect="1"/>
          </p:cNvPicPr>
          <p:nvPr/>
        </p:nvPicPr>
        <p:blipFill>
          <a:blip r:embed="rId12"/>
          <a:srcRect l="-133" r="-133"/>
          <a:stretch/>
        </p:blipFill>
        <p:spPr>
          <a:xfrm>
            <a:off x="6676949" y="4700930"/>
            <a:ext cx="171907" cy="228600"/>
          </a:xfrm>
          <a:prstGeom prst="rect">
            <a:avLst/>
          </a:prstGeom>
        </p:spPr>
      </p:pic>
      <p:sp>
        <p:nvSpPr>
          <p:cNvPr id="41" name="Text 27"/>
          <p:cNvSpPr txBox="1"/>
          <p:nvPr/>
        </p:nvSpPr>
        <p:spPr>
          <a:xfrm>
            <a:off x="6991502" y="4476902"/>
            <a:ext cx="43534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2400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Insight</a:t>
            </a:r>
            <a:endParaRPr lang="en-US" sz="1300" dirty="0"/>
          </a:p>
        </p:txBody>
      </p:sp>
      <p:sp>
        <p:nvSpPr>
          <p:cNvPr id="42" name="Text 28"/>
          <p:cNvSpPr txBox="1"/>
          <p:nvPr/>
        </p:nvSpPr>
        <p:spPr>
          <a:xfrm>
            <a:off x="6991502" y="4772254"/>
            <a:ext cx="431505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2400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agent found a local maximum: "Standing still with good angle is safer than trying to park."</a:t>
            </a:r>
            <a:endParaRPr lang="en-US" sz="1000" dirty="0"/>
          </a:p>
        </p:txBody>
      </p:sp>
      <p:sp>
        <p:nvSpPr>
          <p:cNvPr id="43" name="Text 29"/>
          <p:cNvSpPr txBox="1"/>
          <p:nvPr/>
        </p:nvSpPr>
        <p:spPr>
          <a:xfrm>
            <a:off x="11661343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07</a:t>
            </a:r>
            <a:endParaRPr lang="en-US" sz="1000" dirty="0"/>
          </a:p>
        </p:txBody>
      </p:sp>
      <p:sp>
        <p:nvSpPr>
          <p:cNvPr id="44" name="Shape 30"/>
          <p:cNvSpPr/>
          <p:nvPr/>
        </p:nvSpPr>
        <p:spPr>
          <a:xfrm>
            <a:off x="5905195" y="3924605"/>
            <a:ext cx="381305" cy="38130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45" name="Image 12" descr="preencoded.png"/>
          <p:cNvPicPr>
            <a:picLocks noChangeAspect="1"/>
          </p:cNvPicPr>
          <p:nvPr/>
        </p:nvPicPr>
        <p:blipFill>
          <a:blip r:embed="rId13"/>
          <a:srcRect l="-760" r="-760"/>
          <a:stretch/>
        </p:blipFill>
        <p:spPr>
          <a:xfrm>
            <a:off x="6019495" y="4028846"/>
            <a:ext cx="152705" cy="17190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495605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0" y="457200"/>
            <a:ext cx="12191695" cy="38405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 txBox="1"/>
          <p:nvPr/>
        </p:nvSpPr>
        <p:spPr>
          <a:xfrm>
            <a:off x="476402" y="0"/>
            <a:ext cx="37051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Root Cause Analysis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885286" y="99670"/>
            <a:ext cx="19202" cy="25694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 txBox="1"/>
          <p:nvPr/>
        </p:nvSpPr>
        <p:spPr>
          <a:xfrm>
            <a:off x="4094683" y="99670"/>
            <a:ext cx="4225442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BBF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"False Attractor" Problem (215k Steps)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6402" y="1257300"/>
            <a:ext cx="4496105" cy="1920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 txBox="1"/>
          <p:nvPr/>
        </p:nvSpPr>
        <p:spPr>
          <a:xfrm>
            <a:off x="797357" y="875995"/>
            <a:ext cx="4251046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Situation at 215k Steps </a:t>
            </a:r>
            <a:endParaRPr lang="en-US" sz="15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6402" y="918972"/>
            <a:ext cx="190195" cy="190195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76402" y="1514246"/>
            <a:ext cx="4496105" cy="2676449"/>
          </a:xfrm>
          <a:prstGeom prst="roundRect">
            <a:avLst>
              <a:gd name="adj" fmla="val 973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Shape 10"/>
          <p:cNvSpPr/>
          <p:nvPr/>
        </p:nvSpPr>
        <p:spPr>
          <a:xfrm>
            <a:off x="476402" y="1514246"/>
            <a:ext cx="57607" cy="2652674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1"/>
          <p:cNvSpPr txBox="1"/>
          <p:nvPr/>
        </p:nvSpPr>
        <p:spPr>
          <a:xfrm>
            <a:off x="991210" y="1714500"/>
            <a:ext cx="38962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2400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Agent State Breakdown </a:t>
            </a:r>
            <a:endParaRPr lang="en-US" sz="13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 l="-1064" r="-1064"/>
          <a:stretch/>
        </p:blipFill>
        <p:spPr>
          <a:xfrm>
            <a:off x="676656" y="1757477"/>
            <a:ext cx="219456" cy="171907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76656" y="2410358"/>
            <a:ext cx="4095598" cy="9144"/>
          </a:xfrm>
          <a:prstGeom prst="rect">
            <a:avLst/>
          </a:prstGeom>
          <a:solidFill>
            <a:srgbClr val="92400E">
              <a:alpha val="10000"/>
            </a:srgbClr>
          </a:solidFill>
          <a:ln w="12700">
            <a:solidFill>
              <a:srgbClr val="92400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3"/>
          <p:cNvSpPr txBox="1"/>
          <p:nvPr/>
        </p:nvSpPr>
        <p:spPr>
          <a:xfrm>
            <a:off x="676656" y="2115007"/>
            <a:ext cx="1156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8350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Current Position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3657600" y="2115007"/>
            <a:ext cx="12006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(18.11, 6.70)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76656" y="2824582"/>
            <a:ext cx="4095598" cy="9144"/>
          </a:xfrm>
          <a:prstGeom prst="rect">
            <a:avLst/>
          </a:prstGeom>
          <a:solidFill>
            <a:srgbClr val="92400E">
              <a:alpha val="10000"/>
            </a:srgbClr>
          </a:solidFill>
          <a:ln w="12700">
            <a:solidFill>
              <a:srgbClr val="92400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6"/>
          <p:cNvSpPr txBox="1"/>
          <p:nvPr/>
        </p:nvSpPr>
        <p:spPr>
          <a:xfrm>
            <a:off x="676656" y="2529230"/>
            <a:ext cx="1088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8350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 Position</a:t>
            </a:r>
            <a:endParaRPr lang="en-US" sz="1000" dirty="0"/>
          </a:p>
        </p:txBody>
      </p:sp>
      <p:sp>
        <p:nvSpPr>
          <p:cNvPr id="21" name="Text 17"/>
          <p:cNvSpPr txBox="1"/>
          <p:nvPr/>
        </p:nvSpPr>
        <p:spPr>
          <a:xfrm>
            <a:off x="3657600" y="2529230"/>
            <a:ext cx="12006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(17.50, 8.50)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676656" y="3238805"/>
            <a:ext cx="4095598" cy="9144"/>
          </a:xfrm>
          <a:prstGeom prst="rect">
            <a:avLst/>
          </a:prstGeom>
          <a:solidFill>
            <a:srgbClr val="92400E">
              <a:alpha val="10000"/>
            </a:srgbClr>
          </a:solidFill>
          <a:ln w="12700">
            <a:solidFill>
              <a:srgbClr val="92400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19"/>
          <p:cNvSpPr txBox="1"/>
          <p:nvPr/>
        </p:nvSpPr>
        <p:spPr>
          <a:xfrm>
            <a:off x="676656" y="2943454"/>
            <a:ext cx="8394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8350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Y-Axis Error</a:t>
            </a:r>
            <a:endParaRPr lang="en-US" sz="1000" dirty="0"/>
          </a:p>
        </p:txBody>
      </p:sp>
      <p:sp>
        <p:nvSpPr>
          <p:cNvPr id="24" name="Text 20"/>
          <p:cNvSpPr txBox="1"/>
          <p:nvPr/>
        </p:nvSpPr>
        <p:spPr>
          <a:xfrm>
            <a:off x="3314700" y="2943454"/>
            <a:ext cx="15435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1.60m (Critical!)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676656" y="3653028"/>
            <a:ext cx="4095598" cy="9144"/>
          </a:xfrm>
          <a:prstGeom prst="rect">
            <a:avLst/>
          </a:prstGeom>
          <a:solidFill>
            <a:srgbClr val="92400E">
              <a:alpha val="10000"/>
            </a:srgbClr>
          </a:solidFill>
          <a:ln w="12700">
            <a:solidFill>
              <a:srgbClr val="92400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2"/>
          <p:cNvSpPr txBox="1"/>
          <p:nvPr/>
        </p:nvSpPr>
        <p:spPr>
          <a:xfrm>
            <a:off x="676656" y="3357677"/>
            <a:ext cx="98663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8350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Heading Error</a:t>
            </a:r>
            <a:endParaRPr lang="en-US" sz="1000" dirty="0"/>
          </a:p>
        </p:txBody>
      </p:sp>
      <p:sp>
        <p:nvSpPr>
          <p:cNvPr id="27" name="Text 23"/>
          <p:cNvSpPr txBox="1"/>
          <p:nvPr/>
        </p:nvSpPr>
        <p:spPr>
          <a:xfrm>
            <a:off x="3314700" y="3357677"/>
            <a:ext cx="15435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~2.0° (Excellent)</a:t>
            </a:r>
            <a:endParaRPr lang="en-US" sz="1100" dirty="0"/>
          </a:p>
        </p:txBody>
      </p:sp>
      <p:sp>
        <p:nvSpPr>
          <p:cNvPr id="28" name="Text 24"/>
          <p:cNvSpPr txBox="1"/>
          <p:nvPr/>
        </p:nvSpPr>
        <p:spPr>
          <a:xfrm>
            <a:off x="676656" y="37719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8350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Speed</a:t>
            </a:r>
            <a:endParaRPr lang="en-US" sz="1000" dirty="0"/>
          </a:p>
        </p:txBody>
      </p:sp>
      <p:sp>
        <p:nvSpPr>
          <p:cNvPr id="29" name="Text 25"/>
          <p:cNvSpPr txBox="1"/>
          <p:nvPr/>
        </p:nvSpPr>
        <p:spPr>
          <a:xfrm>
            <a:off x="3314700" y="3771900"/>
            <a:ext cx="15435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~0.05 m/s (Stuck)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476402" y="4376318"/>
            <a:ext cx="4496105" cy="2361895"/>
          </a:xfrm>
          <a:prstGeom prst="roundRect">
            <a:avLst>
              <a:gd name="adj" fmla="val 1249"/>
            </a:avLst>
          </a:prstGeom>
          <a:solidFill>
            <a:srgbClr val="1F29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 27"/>
          <p:cNvSpPr txBox="1"/>
          <p:nvPr/>
        </p:nvSpPr>
        <p:spPr>
          <a:xfrm>
            <a:off x="571500" y="4472330"/>
            <a:ext cx="200162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TOP-DOWN VIEW RECONSTRUCTION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1295705" y="4567428"/>
            <a:ext cx="2857500" cy="1714500"/>
          </a:xfrm>
          <a:prstGeom prst="rect">
            <a:avLst/>
          </a:prstGeom>
          <a:solidFill>
            <a:srgbClr val="111827"/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3" name="Text 29"/>
          <p:cNvSpPr txBox="1"/>
          <p:nvPr/>
        </p:nvSpPr>
        <p:spPr>
          <a:xfrm>
            <a:off x="1752905" y="4767682"/>
            <a:ext cx="1200607" cy="476402"/>
          </a:xfrm>
          <a:prstGeom prst="rect">
            <a:avLst/>
          </a:prstGeom>
          <a:solidFill>
            <a:srgbClr val="10B981">
              <a:alpha val="10000"/>
            </a:srgbClr>
          </a:solidFill>
          <a:ln w="25400">
            <a:solidFill>
              <a:srgbClr val="10B98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B98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 SLOT</a:t>
            </a:r>
            <a:endParaRPr lang="en-US" sz="800" dirty="0"/>
          </a:p>
        </p:txBody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5"/>
          <a:srcRect l="-373" r="-373"/>
          <a:stretch/>
        </p:blipFill>
        <p:spPr>
          <a:xfrm>
            <a:off x="2352751" y="5005426"/>
            <a:ext cx="19202" cy="428854"/>
          </a:xfrm>
          <a:prstGeom prst="rect">
            <a:avLst/>
          </a:prstGeom>
        </p:spPr>
      </p:pic>
      <p:sp>
        <p:nvSpPr>
          <p:cNvPr id="35" name="Shape 30"/>
          <p:cNvSpPr/>
          <p:nvPr/>
        </p:nvSpPr>
        <p:spPr>
          <a:xfrm>
            <a:off x="1876349" y="5434279"/>
            <a:ext cx="905256" cy="381305"/>
          </a:xfrm>
          <a:prstGeom prst="rect">
            <a:avLst/>
          </a:prstGeom>
          <a:noFill/>
          <a:ln/>
        </p:spPr>
        <p:txBody>
          <a:bodyPr/>
          <a:lstStyle/>
          <a:p>
            <a:endParaRPr lang="tr-TR"/>
          </a:p>
        </p:txBody>
      </p:sp>
      <p:sp>
        <p:nvSpPr>
          <p:cNvPr id="36" name="Text 31"/>
          <p:cNvSpPr/>
          <p:nvPr/>
        </p:nvSpPr>
        <p:spPr>
          <a:xfrm rot="21480000">
            <a:off x="1876349" y="5434279"/>
            <a:ext cx="905256" cy="381305"/>
          </a:xfrm>
          <a:prstGeom prst="rect">
            <a:avLst/>
          </a:prstGeom>
          <a:solidFill>
            <a:srgbClr val="F59E0B"/>
          </a:solidFill>
          <a:ln w="25400">
            <a:solidFill>
              <a:srgbClr val="B4530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8350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AGENT</a:t>
            </a:r>
            <a:endParaRPr lang="en-US" sz="800" dirty="0"/>
          </a:p>
        </p:txBody>
      </p:sp>
      <p:sp>
        <p:nvSpPr>
          <p:cNvPr id="37" name="Text 32"/>
          <p:cNvSpPr txBox="1"/>
          <p:nvPr/>
        </p:nvSpPr>
        <p:spPr>
          <a:xfrm>
            <a:off x="723290" y="6396228"/>
            <a:ext cx="400324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Agent aligns angle perfectly but fails to enter slot due to Y-axis gap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5352898" y="1257300"/>
            <a:ext cx="6362395" cy="1920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9" name="Text 34"/>
          <p:cNvSpPr txBox="1"/>
          <p:nvPr/>
        </p:nvSpPr>
        <p:spPr>
          <a:xfrm>
            <a:off x="5702198" y="875995"/>
            <a:ext cx="6089904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Identified Root Causes </a:t>
            </a:r>
            <a:endParaRPr lang="en-US" sz="1500" dirty="0"/>
          </a:p>
        </p:txBody>
      </p:sp>
      <p:pic>
        <p:nvPicPr>
          <p:cNvPr id="40" name="Image 3" descr="preencoded.png"/>
          <p:cNvPicPr>
            <a:picLocks noChangeAspect="1"/>
          </p:cNvPicPr>
          <p:nvPr/>
        </p:nvPicPr>
        <p:blipFill>
          <a:blip r:embed="rId6"/>
          <a:srcRect l="-1282" r="-1282"/>
          <a:stretch/>
        </p:blipFill>
        <p:spPr>
          <a:xfrm>
            <a:off x="5352898" y="918972"/>
            <a:ext cx="219456" cy="190195"/>
          </a:xfrm>
          <a:prstGeom prst="rect">
            <a:avLst/>
          </a:prstGeom>
        </p:spPr>
      </p:pic>
      <p:sp>
        <p:nvSpPr>
          <p:cNvPr id="41" name="Shape 35"/>
          <p:cNvSpPr/>
          <p:nvPr/>
        </p:nvSpPr>
        <p:spPr>
          <a:xfrm>
            <a:off x="5352898" y="1514246"/>
            <a:ext cx="3086100" cy="1981505"/>
          </a:xfrm>
          <a:prstGeom prst="roundRect">
            <a:avLst>
              <a:gd name="adj" fmla="val 177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2" name="Shape 36"/>
          <p:cNvSpPr/>
          <p:nvPr/>
        </p:nvSpPr>
        <p:spPr>
          <a:xfrm>
            <a:off x="5553151" y="1714500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FEE2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43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639105" y="1800454"/>
            <a:ext cx="171907" cy="171907"/>
          </a:xfrm>
          <a:prstGeom prst="rect">
            <a:avLst/>
          </a:prstGeom>
        </p:spPr>
      </p:pic>
      <p:sp>
        <p:nvSpPr>
          <p:cNvPr id="44" name="Text 37"/>
          <p:cNvSpPr txBox="1"/>
          <p:nvPr/>
        </p:nvSpPr>
        <p:spPr>
          <a:xfrm>
            <a:off x="6010351" y="1714500"/>
            <a:ext cx="25438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Fixed Bonuses Exploitation</a:t>
            </a:r>
            <a:endParaRPr lang="en-US" sz="1200" dirty="0"/>
          </a:p>
        </p:txBody>
      </p:sp>
      <p:sp>
        <p:nvSpPr>
          <p:cNvPr id="45" name="Text 38"/>
          <p:cNvSpPr txBox="1"/>
          <p:nvPr/>
        </p:nvSpPr>
        <p:spPr>
          <a:xfrm>
            <a:off x="5553151" y="2152498"/>
            <a:ext cx="276240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Reward `+30` given for ANY approach. Agent learned to make microscopic movements to farm rewards without risking entry.</a:t>
            </a:r>
            <a:endParaRPr lang="en-US" sz="1000" dirty="0"/>
          </a:p>
        </p:txBody>
      </p:sp>
      <p:sp>
        <p:nvSpPr>
          <p:cNvPr id="46" name="Shape 39"/>
          <p:cNvSpPr/>
          <p:nvPr/>
        </p:nvSpPr>
        <p:spPr>
          <a:xfrm>
            <a:off x="8630107" y="1514246"/>
            <a:ext cx="3086100" cy="1981505"/>
          </a:xfrm>
          <a:prstGeom prst="roundRect">
            <a:avLst>
              <a:gd name="adj" fmla="val 177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7" name="Shape 40"/>
          <p:cNvSpPr/>
          <p:nvPr/>
        </p:nvSpPr>
        <p:spPr>
          <a:xfrm>
            <a:off x="8829446" y="1714500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FEE2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48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915400" y="1800454"/>
            <a:ext cx="171907" cy="171907"/>
          </a:xfrm>
          <a:prstGeom prst="rect">
            <a:avLst/>
          </a:prstGeom>
        </p:spPr>
      </p:pic>
      <p:sp>
        <p:nvSpPr>
          <p:cNvPr id="49" name="Text 41"/>
          <p:cNvSpPr txBox="1"/>
          <p:nvPr/>
        </p:nvSpPr>
        <p:spPr>
          <a:xfrm>
            <a:off x="9286646" y="1714500"/>
            <a:ext cx="186171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Standing Penalty</a:t>
            </a:r>
            <a:endParaRPr lang="en-US" sz="1200" dirty="0"/>
          </a:p>
        </p:txBody>
      </p:sp>
      <p:sp>
        <p:nvSpPr>
          <p:cNvPr id="50" name="Text 42"/>
          <p:cNvSpPr txBox="1"/>
          <p:nvPr/>
        </p:nvSpPr>
        <p:spPr>
          <a:xfrm>
            <a:off x="8829446" y="2152498"/>
            <a:ext cx="276240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Lack of penalty for zero velocity allowed the agent to "park" outside the slot indefinitely once angle was minimized.</a:t>
            </a:r>
            <a:endParaRPr lang="en-US" sz="1000" dirty="0"/>
          </a:p>
        </p:txBody>
      </p:sp>
      <p:sp>
        <p:nvSpPr>
          <p:cNvPr id="51" name="Shape 43"/>
          <p:cNvSpPr/>
          <p:nvPr/>
        </p:nvSpPr>
        <p:spPr>
          <a:xfrm>
            <a:off x="5352898" y="3678631"/>
            <a:ext cx="3086100" cy="2180844"/>
          </a:xfrm>
          <a:prstGeom prst="roundRect">
            <a:avLst>
              <a:gd name="adj" fmla="val 146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2" name="Shape 44"/>
          <p:cNvSpPr/>
          <p:nvPr/>
        </p:nvSpPr>
        <p:spPr>
          <a:xfrm>
            <a:off x="5553151" y="3878885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FEE2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53" name="Image 6" descr="preencoded.png"/>
          <p:cNvPicPr>
            <a:picLocks noChangeAspect="1"/>
          </p:cNvPicPr>
          <p:nvPr/>
        </p:nvPicPr>
        <p:blipFill>
          <a:blip r:embed="rId9"/>
          <a:srcRect l="-1064" r="-1064"/>
          <a:stretch/>
        </p:blipFill>
        <p:spPr>
          <a:xfrm>
            <a:off x="5615330" y="3964838"/>
            <a:ext cx="219456" cy="171907"/>
          </a:xfrm>
          <a:prstGeom prst="rect">
            <a:avLst/>
          </a:prstGeom>
        </p:spPr>
      </p:pic>
      <p:sp>
        <p:nvSpPr>
          <p:cNvPr id="54" name="Text 45"/>
          <p:cNvSpPr txBox="1"/>
          <p:nvPr/>
        </p:nvSpPr>
        <p:spPr>
          <a:xfrm>
            <a:off x="6010351" y="3878885"/>
            <a:ext cx="157093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Weight Imbalance</a:t>
            </a:r>
            <a:endParaRPr lang="en-US" sz="1200" dirty="0"/>
          </a:p>
        </p:txBody>
      </p:sp>
      <p:sp>
        <p:nvSpPr>
          <p:cNvPr id="55" name="Text 46"/>
          <p:cNvSpPr txBox="1"/>
          <p:nvPr/>
        </p:nvSpPr>
        <p:spPr>
          <a:xfrm>
            <a:off x="5553151" y="4316882"/>
            <a:ext cx="2762402" cy="1343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Angle penalty (50.0) dwarfed Y-penalty (5.0). Agent optimized the easier objective (heading) and ignored the harder one (position).</a:t>
            </a:r>
            <a:endParaRPr lang="en-US" sz="1000" dirty="0"/>
          </a:p>
        </p:txBody>
      </p:sp>
      <p:sp>
        <p:nvSpPr>
          <p:cNvPr id="56" name="Shape 47"/>
          <p:cNvSpPr/>
          <p:nvPr/>
        </p:nvSpPr>
        <p:spPr>
          <a:xfrm>
            <a:off x="8630107" y="3678631"/>
            <a:ext cx="3086100" cy="2180844"/>
          </a:xfrm>
          <a:prstGeom prst="roundRect">
            <a:avLst>
              <a:gd name="adj" fmla="val 146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7" name="Shape 48"/>
          <p:cNvSpPr/>
          <p:nvPr/>
        </p:nvSpPr>
        <p:spPr>
          <a:xfrm>
            <a:off x="8829446" y="3878885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FEE2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58" name="Image 7" descr="preencoded.png"/>
          <p:cNvPicPr>
            <a:picLocks noChangeAspect="1"/>
          </p:cNvPicPr>
          <p:nvPr/>
        </p:nvPicPr>
        <p:blipFill>
          <a:blip r:embed="rId10"/>
          <a:srcRect l="-760" r="-760"/>
          <a:stretch/>
        </p:blipFill>
        <p:spPr>
          <a:xfrm>
            <a:off x="8924544" y="3964838"/>
            <a:ext cx="152705" cy="171907"/>
          </a:xfrm>
          <a:prstGeom prst="rect">
            <a:avLst/>
          </a:prstGeom>
        </p:spPr>
      </p:pic>
      <p:sp>
        <p:nvSpPr>
          <p:cNvPr id="59" name="Text 49"/>
          <p:cNvSpPr txBox="1"/>
          <p:nvPr/>
        </p:nvSpPr>
        <p:spPr>
          <a:xfrm>
            <a:off x="9286646" y="3878885"/>
            <a:ext cx="20574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Absolute State Reward</a:t>
            </a:r>
            <a:endParaRPr lang="en-US" sz="1200" dirty="0"/>
          </a:p>
        </p:txBody>
      </p:sp>
      <p:sp>
        <p:nvSpPr>
          <p:cNvPr id="60" name="Text 50"/>
          <p:cNvSpPr txBox="1"/>
          <p:nvPr/>
        </p:nvSpPr>
        <p:spPr>
          <a:xfrm>
            <a:off x="8829446" y="4316882"/>
            <a:ext cx="2762402" cy="1343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Rewarded `total_corners_inside` instead of `new_corners`. Standing with 0 corners was safer than risking collision to get 1.</a:t>
            </a:r>
            <a:endParaRPr lang="en-US" sz="1000" dirty="0"/>
          </a:p>
        </p:txBody>
      </p:sp>
      <p:sp>
        <p:nvSpPr>
          <p:cNvPr id="61" name="Shape 51"/>
          <p:cNvSpPr/>
          <p:nvPr/>
        </p:nvSpPr>
        <p:spPr>
          <a:xfrm>
            <a:off x="5352898" y="6043270"/>
            <a:ext cx="6362395" cy="694944"/>
          </a:xfrm>
          <a:prstGeom prst="rect">
            <a:avLst/>
          </a:prstGeom>
          <a:noFill/>
          <a:ln/>
        </p:spPr>
        <p:txBody>
          <a:bodyPr/>
          <a:lstStyle/>
          <a:p>
            <a:endParaRPr lang="tr-TR"/>
          </a:p>
        </p:txBody>
      </p:sp>
      <p:sp>
        <p:nvSpPr>
          <p:cNvPr id="62" name="Text 52"/>
          <p:cNvSpPr/>
          <p:nvPr/>
        </p:nvSpPr>
        <p:spPr>
          <a:xfrm>
            <a:off x="5352898" y="6043270"/>
            <a:ext cx="6363310" cy="695858"/>
          </a:xfrm>
          <a:prstGeom prst="rect">
            <a:avLst/>
          </a:prstGeom>
          <a:solidFill>
            <a:srgbClr val="EFF6FF"/>
          </a:solidFill>
          <a:ln w="50800">
            <a:solidFill>
              <a:srgbClr val="3B82F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8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Insight:</a:t>
            </a:r>
            <a:r>
              <a:rPr lang="en-US" sz="1000" dirty="0">
                <a:solidFill>
                  <a:srgbClr val="1E3A8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The agent found a local maximum where </a:t>
            </a:r>
            <a:r>
              <a:rPr lang="en-US" sz="1000" dirty="0">
                <a:solidFill>
                  <a:srgbClr val="1E3A8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Risk(Entry) &gt; Reward(Status Quo)</a:t>
            </a:r>
            <a:r>
              <a:rPr lang="en-US" sz="1000" dirty="0">
                <a:solidFill>
                  <a:srgbClr val="1E3A8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We needed to invert this equation. </a:t>
            </a:r>
            <a:endParaRPr lang="en-US" sz="1000" dirty="0"/>
          </a:p>
        </p:txBody>
      </p:sp>
      <p:sp>
        <p:nvSpPr>
          <p:cNvPr id="63" name="Text 53"/>
          <p:cNvSpPr txBox="1"/>
          <p:nvPr/>
        </p:nvSpPr>
        <p:spPr>
          <a:xfrm>
            <a:off x="8725205" y="6224321"/>
            <a:ext cx="266547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3A8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Risk(Entry) &gt; Reward(Status Quo)</a:t>
            </a:r>
            <a:endParaRPr lang="en-US" sz="1000" dirty="0"/>
          </a:p>
        </p:txBody>
      </p:sp>
      <p:sp>
        <p:nvSpPr>
          <p:cNvPr id="64" name="Text 54"/>
          <p:cNvSpPr txBox="1"/>
          <p:nvPr/>
        </p:nvSpPr>
        <p:spPr>
          <a:xfrm>
            <a:off x="11661343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0" y="1171346"/>
            <a:ext cx="12191695" cy="5305349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571500" y="1457554"/>
            <a:ext cx="3333902" cy="4733849"/>
          </a:xfrm>
          <a:prstGeom prst="roundRect">
            <a:avLst>
              <a:gd name="adj" fmla="val 9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580644" y="1466698"/>
            <a:ext cx="3314700" cy="543154"/>
          </a:xfrm>
          <a:prstGeom prst="roundRect">
            <a:avLst>
              <a:gd name="adj" fmla="val 35442"/>
            </a:avLst>
          </a:prstGeom>
          <a:solidFill>
            <a:srgbClr val="0596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 txBox="1"/>
          <p:nvPr/>
        </p:nvSpPr>
        <p:spPr>
          <a:xfrm>
            <a:off x="771754" y="1609344"/>
            <a:ext cx="189555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Stage 0: APPROACH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172054" y="1614830"/>
            <a:ext cx="533095" cy="247802"/>
          </a:xfrm>
          <a:prstGeom prst="rect">
            <a:avLst/>
          </a:prstGeom>
          <a:noFill/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3172054" y="1614830"/>
            <a:ext cx="534010" cy="247802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&gt; 5.5m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71754" y="2200046"/>
            <a:ext cx="2933395" cy="752551"/>
          </a:xfrm>
          <a:prstGeom prst="roundRect">
            <a:avLst>
              <a:gd name="adj" fmla="val 9228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771754" y="2200046"/>
            <a:ext cx="38405" cy="752551"/>
          </a:xfrm>
          <a:prstGeom prst="roundRect">
            <a:avLst>
              <a:gd name="adj" fmla="val 180831"/>
            </a:avLst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 txBox="1"/>
          <p:nvPr/>
        </p:nvSpPr>
        <p:spPr>
          <a:xfrm>
            <a:off x="905256" y="2295144"/>
            <a:ext cx="2813609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596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Goal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905256" y="2457907"/>
            <a:ext cx="27816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Learn to move towards parking area without rushing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71754" y="3095244"/>
            <a:ext cx="2933395" cy="2180844"/>
          </a:xfrm>
          <a:prstGeom prst="roundRect">
            <a:avLst>
              <a:gd name="adj" fmla="val 109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895198" y="3477463"/>
            <a:ext cx="2686507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 txBox="1"/>
          <p:nvPr/>
        </p:nvSpPr>
        <p:spPr>
          <a:xfrm>
            <a:off x="895198" y="3219602"/>
            <a:ext cx="7525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- 0.3 · d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2144268" y="3219602"/>
            <a:ext cx="143743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Light distance penalty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895198" y="3799332"/>
            <a:ext cx="2686507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 txBox="1"/>
          <p:nvPr/>
        </p:nvSpPr>
        <p:spPr>
          <a:xfrm>
            <a:off x="895198" y="3541471"/>
            <a:ext cx="8293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+ 250 · Δd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983334" y="3541471"/>
            <a:ext cx="159837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Delta-Proportional Progress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895198" y="3863340"/>
            <a:ext cx="11247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- 2 (if stuck)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2162556" y="3863340"/>
            <a:ext cx="14200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Minimal stall penalty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71754" y="5514746"/>
            <a:ext cx="293339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Shape 22"/>
          <p:cNvSpPr/>
          <p:nvPr/>
        </p:nvSpPr>
        <p:spPr>
          <a:xfrm>
            <a:off x="771754" y="5691226"/>
            <a:ext cx="190195" cy="228600"/>
          </a:xfrm>
          <a:prstGeom prst="roundRect">
            <a:avLst>
              <a:gd name="adj" fmla="val 240385"/>
            </a:avLst>
          </a:prstGeom>
          <a:solidFill>
            <a:srgbClr val="0596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05586" y="5747918"/>
            <a:ext cx="114300" cy="114300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1049731" y="5619902"/>
            <a:ext cx="273405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755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Safe Exploration:</a:t>
            </a:r>
            <a:r>
              <a:rPr lang="en-US" sz="900" dirty="0">
                <a:solidFill>
                  <a:srgbClr val="4755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Reward floored at -50, weak safety barriers</a:t>
            </a:r>
            <a:endParaRPr lang="en-US" sz="900" dirty="0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rcRect t="-80" b="-80"/>
          <a:stretch/>
        </p:blipFill>
        <p:spPr>
          <a:xfrm>
            <a:off x="4095598" y="3709721"/>
            <a:ext cx="142646" cy="228600"/>
          </a:xfrm>
          <a:prstGeom prst="rect">
            <a:avLst/>
          </a:prstGeom>
        </p:spPr>
      </p:pic>
      <p:sp>
        <p:nvSpPr>
          <p:cNvPr id="28" name="Shape 24"/>
          <p:cNvSpPr/>
          <p:nvPr/>
        </p:nvSpPr>
        <p:spPr>
          <a:xfrm>
            <a:off x="4429354" y="1457554"/>
            <a:ext cx="3333902" cy="4733849"/>
          </a:xfrm>
          <a:prstGeom prst="roundRect">
            <a:avLst>
              <a:gd name="adj" fmla="val 9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9" name="Shape 25"/>
          <p:cNvSpPr/>
          <p:nvPr/>
        </p:nvSpPr>
        <p:spPr>
          <a:xfrm>
            <a:off x="4438498" y="1466698"/>
            <a:ext cx="3314700" cy="543154"/>
          </a:xfrm>
          <a:prstGeom prst="roundRect">
            <a:avLst>
              <a:gd name="adj" fmla="val 35442"/>
            </a:avLst>
          </a:prstGeom>
          <a:solidFill>
            <a:srgbClr val="D9770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Text 26"/>
          <p:cNvSpPr txBox="1"/>
          <p:nvPr/>
        </p:nvSpPr>
        <p:spPr>
          <a:xfrm>
            <a:off x="4629607" y="1609344"/>
            <a:ext cx="220279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Stage 1: Y-DIRECTION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6730898" y="1614830"/>
            <a:ext cx="838505" cy="247802"/>
          </a:xfrm>
          <a:prstGeom prst="rect">
            <a:avLst/>
          </a:prstGeom>
          <a:noFill/>
          <a:ln/>
        </p:spPr>
        <p:txBody>
          <a:bodyPr/>
          <a:lstStyle/>
          <a:p>
            <a:endParaRPr lang="tr-TR"/>
          </a:p>
        </p:txBody>
      </p:sp>
      <p:sp>
        <p:nvSpPr>
          <p:cNvPr id="32" name="Text 28"/>
          <p:cNvSpPr/>
          <p:nvPr/>
        </p:nvSpPr>
        <p:spPr>
          <a:xfrm>
            <a:off x="6730898" y="1614830"/>
            <a:ext cx="838505" cy="247802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5.5m - 3.0m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4629607" y="2200046"/>
            <a:ext cx="2933395" cy="752551"/>
          </a:xfrm>
          <a:prstGeom prst="roundRect">
            <a:avLst>
              <a:gd name="adj" fmla="val 9228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4" name="Shape 30"/>
          <p:cNvSpPr/>
          <p:nvPr/>
        </p:nvSpPr>
        <p:spPr>
          <a:xfrm>
            <a:off x="4629607" y="2200046"/>
            <a:ext cx="38405" cy="752551"/>
          </a:xfrm>
          <a:prstGeom prst="roundRect">
            <a:avLst>
              <a:gd name="adj" fmla="val 180831"/>
            </a:avLst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Text 31"/>
          <p:cNvSpPr txBox="1"/>
          <p:nvPr/>
        </p:nvSpPr>
        <p:spPr>
          <a:xfrm>
            <a:off x="4762195" y="2295144"/>
            <a:ext cx="2813609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D9770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Goal</a:t>
            </a:r>
            <a:endParaRPr lang="en-US" sz="800" dirty="0"/>
          </a:p>
        </p:txBody>
      </p:sp>
      <p:sp>
        <p:nvSpPr>
          <p:cNvPr id="36" name="Text 32"/>
          <p:cNvSpPr txBox="1"/>
          <p:nvPr/>
        </p:nvSpPr>
        <p:spPr>
          <a:xfrm>
            <a:off x="4762195" y="2457907"/>
            <a:ext cx="27816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Align vertical position (Y-axis) with parking slot</a:t>
            </a:r>
            <a:endParaRPr lang="en-US" sz="1000" dirty="0"/>
          </a:p>
        </p:txBody>
      </p:sp>
      <p:sp>
        <p:nvSpPr>
          <p:cNvPr id="37" name="Shape 33"/>
          <p:cNvSpPr/>
          <p:nvPr/>
        </p:nvSpPr>
        <p:spPr>
          <a:xfrm>
            <a:off x="4629607" y="3095244"/>
            <a:ext cx="2933395" cy="2180844"/>
          </a:xfrm>
          <a:prstGeom prst="roundRect">
            <a:avLst>
              <a:gd name="adj" fmla="val 109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8" name="Shape 34"/>
          <p:cNvSpPr/>
          <p:nvPr/>
        </p:nvSpPr>
        <p:spPr>
          <a:xfrm>
            <a:off x="4753051" y="3477463"/>
            <a:ext cx="2686507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9" name="Text 35"/>
          <p:cNvSpPr txBox="1"/>
          <p:nvPr/>
        </p:nvSpPr>
        <p:spPr>
          <a:xfrm>
            <a:off x="4753051" y="3219602"/>
            <a:ext cx="7525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- 0.5 · d</a:t>
            </a:r>
            <a:endParaRPr lang="en-US" sz="900" dirty="0"/>
          </a:p>
        </p:txBody>
      </p:sp>
      <p:sp>
        <p:nvSpPr>
          <p:cNvPr id="40" name="Text 36"/>
          <p:cNvSpPr txBox="1"/>
          <p:nvPr/>
        </p:nvSpPr>
        <p:spPr>
          <a:xfrm>
            <a:off x="5841187" y="3219602"/>
            <a:ext cx="159837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Moderate distance penalty</a:t>
            </a:r>
            <a:endParaRPr lang="en-US" sz="800" dirty="0"/>
          </a:p>
        </p:txBody>
      </p:sp>
      <p:sp>
        <p:nvSpPr>
          <p:cNvPr id="41" name="Shape 37"/>
          <p:cNvSpPr/>
          <p:nvPr/>
        </p:nvSpPr>
        <p:spPr>
          <a:xfrm>
            <a:off x="4753051" y="3998671"/>
            <a:ext cx="2686507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2" name="Text 38"/>
          <p:cNvSpPr txBox="1"/>
          <p:nvPr/>
        </p:nvSpPr>
        <p:spPr>
          <a:xfrm>
            <a:off x="4753051" y="3541471"/>
            <a:ext cx="143835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- 2.0 · |y - y_tgt|</a:t>
            </a:r>
            <a:endParaRPr lang="en-US" sz="900" dirty="0"/>
          </a:p>
        </p:txBody>
      </p:sp>
      <p:sp>
        <p:nvSpPr>
          <p:cNvPr id="43" name="Text 39"/>
          <p:cNvSpPr txBox="1"/>
          <p:nvPr/>
        </p:nvSpPr>
        <p:spPr>
          <a:xfrm>
            <a:off x="6072530" y="3541471"/>
            <a:ext cx="13716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Y-Distance Penalty</a:t>
            </a:r>
            <a:endParaRPr lang="en-US" sz="800" dirty="0"/>
          </a:p>
        </p:txBody>
      </p:sp>
      <p:sp>
        <p:nvSpPr>
          <p:cNvPr id="44" name="Shape 40"/>
          <p:cNvSpPr/>
          <p:nvPr/>
        </p:nvSpPr>
        <p:spPr>
          <a:xfrm>
            <a:off x="4753051" y="4319626"/>
            <a:ext cx="2686507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5" name="Text 41"/>
          <p:cNvSpPr txBox="1"/>
          <p:nvPr/>
        </p:nvSpPr>
        <p:spPr>
          <a:xfrm>
            <a:off x="4753051" y="4061765"/>
            <a:ext cx="10479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+ 300 · Δy_up</a:t>
            </a:r>
            <a:endParaRPr lang="en-US" sz="900" dirty="0"/>
          </a:p>
        </p:txBody>
      </p:sp>
      <p:sp>
        <p:nvSpPr>
          <p:cNvPr id="46" name="Text 42"/>
          <p:cNvSpPr txBox="1"/>
          <p:nvPr/>
        </p:nvSpPr>
        <p:spPr>
          <a:xfrm>
            <a:off x="6019495" y="4061765"/>
            <a:ext cx="14200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Bonus for moving UP</a:t>
            </a:r>
            <a:endParaRPr lang="en-US" sz="800" dirty="0"/>
          </a:p>
        </p:txBody>
      </p:sp>
      <p:sp>
        <p:nvSpPr>
          <p:cNvPr id="47" name="Text 43"/>
          <p:cNvSpPr txBox="1"/>
          <p:nvPr/>
        </p:nvSpPr>
        <p:spPr>
          <a:xfrm>
            <a:off x="4753051" y="4383634"/>
            <a:ext cx="13432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- 400 · |Δy_down|</a:t>
            </a:r>
            <a:endParaRPr lang="en-US" sz="900" dirty="0"/>
          </a:p>
        </p:txBody>
      </p:sp>
      <p:sp>
        <p:nvSpPr>
          <p:cNvPr id="48" name="Text 44"/>
          <p:cNvSpPr txBox="1"/>
          <p:nvPr/>
        </p:nvSpPr>
        <p:spPr>
          <a:xfrm>
            <a:off x="5939028" y="4383634"/>
            <a:ext cx="149961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Penalty for moving DOWN</a:t>
            </a:r>
            <a:endParaRPr lang="en-US" sz="800" dirty="0"/>
          </a:p>
        </p:txBody>
      </p:sp>
      <p:sp>
        <p:nvSpPr>
          <p:cNvPr id="49" name="Shape 45"/>
          <p:cNvSpPr/>
          <p:nvPr/>
        </p:nvSpPr>
        <p:spPr>
          <a:xfrm>
            <a:off x="4629607" y="5514746"/>
            <a:ext cx="293339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0" name="Shape 46"/>
          <p:cNvSpPr/>
          <p:nvPr/>
        </p:nvSpPr>
        <p:spPr>
          <a:xfrm>
            <a:off x="4629607" y="5691226"/>
            <a:ext cx="171907" cy="228600"/>
          </a:xfrm>
          <a:prstGeom prst="roundRect">
            <a:avLst>
              <a:gd name="adj" fmla="val 265958"/>
            </a:avLst>
          </a:prstGeom>
          <a:solidFill>
            <a:srgbClr val="D9770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51" name="Image 2" descr="preencoded.png"/>
          <p:cNvPicPr>
            <a:picLocks noChangeAspect="1"/>
          </p:cNvPicPr>
          <p:nvPr/>
        </p:nvPicPr>
        <p:blipFill>
          <a:blip r:embed="rId5"/>
          <a:srcRect l="-400" r="-400"/>
          <a:stretch/>
        </p:blipFill>
        <p:spPr>
          <a:xfrm>
            <a:off x="4685386" y="5747918"/>
            <a:ext cx="57607" cy="114300"/>
          </a:xfrm>
          <a:prstGeom prst="rect">
            <a:avLst/>
          </a:prstGeom>
        </p:spPr>
      </p:pic>
      <p:sp>
        <p:nvSpPr>
          <p:cNvPr id="52" name="Text 47"/>
          <p:cNvSpPr txBox="1"/>
          <p:nvPr/>
        </p:nvSpPr>
        <p:spPr>
          <a:xfrm>
            <a:off x="4893869" y="5619902"/>
            <a:ext cx="275325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755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Vertical Focus:</a:t>
            </a:r>
            <a:r>
              <a:rPr lang="en-US" sz="900" dirty="0">
                <a:solidFill>
                  <a:srgbClr val="4755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Strong incentives to correct Y-offset before arrival</a:t>
            </a:r>
            <a:endParaRPr lang="en-US" sz="900" dirty="0"/>
          </a:p>
        </p:txBody>
      </p:sp>
      <p:pic>
        <p:nvPicPr>
          <p:cNvPr id="53" name="Image 3" descr="preencoded.png"/>
          <p:cNvPicPr>
            <a:picLocks noChangeAspect="1"/>
          </p:cNvPicPr>
          <p:nvPr/>
        </p:nvPicPr>
        <p:blipFill>
          <a:blip r:embed="rId4"/>
          <a:srcRect t="-80" b="-80"/>
          <a:stretch/>
        </p:blipFill>
        <p:spPr>
          <a:xfrm>
            <a:off x="7953451" y="3709721"/>
            <a:ext cx="142646" cy="228600"/>
          </a:xfrm>
          <a:prstGeom prst="rect">
            <a:avLst/>
          </a:prstGeom>
        </p:spPr>
      </p:pic>
      <p:sp>
        <p:nvSpPr>
          <p:cNvPr id="54" name="Shape 48"/>
          <p:cNvSpPr/>
          <p:nvPr/>
        </p:nvSpPr>
        <p:spPr>
          <a:xfrm>
            <a:off x="8287207" y="1457554"/>
            <a:ext cx="3333902" cy="4733849"/>
          </a:xfrm>
          <a:prstGeom prst="roundRect">
            <a:avLst>
              <a:gd name="adj" fmla="val 9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5" name="Shape 49"/>
          <p:cNvSpPr/>
          <p:nvPr/>
        </p:nvSpPr>
        <p:spPr>
          <a:xfrm>
            <a:off x="8296351" y="1466698"/>
            <a:ext cx="3314700" cy="543154"/>
          </a:xfrm>
          <a:prstGeom prst="roundRect">
            <a:avLst>
              <a:gd name="adj" fmla="val 35442"/>
            </a:avLst>
          </a:prstGeom>
          <a:solidFill>
            <a:srgbClr val="DC262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6" name="Text 50"/>
          <p:cNvSpPr txBox="1"/>
          <p:nvPr/>
        </p:nvSpPr>
        <p:spPr>
          <a:xfrm>
            <a:off x="8486546" y="1609344"/>
            <a:ext cx="15435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Stage 2: ENTRY</a:t>
            </a:r>
            <a:endParaRPr lang="en-US" sz="1300" dirty="0"/>
          </a:p>
        </p:txBody>
      </p:sp>
      <p:sp>
        <p:nvSpPr>
          <p:cNvPr id="57" name="Shape 51"/>
          <p:cNvSpPr/>
          <p:nvPr/>
        </p:nvSpPr>
        <p:spPr>
          <a:xfrm>
            <a:off x="10878617" y="1614830"/>
            <a:ext cx="543154" cy="247802"/>
          </a:xfrm>
          <a:prstGeom prst="rect">
            <a:avLst/>
          </a:prstGeom>
          <a:noFill/>
          <a:ln/>
        </p:spPr>
        <p:txBody>
          <a:bodyPr/>
          <a:lstStyle/>
          <a:p>
            <a:endParaRPr lang="tr-TR"/>
          </a:p>
        </p:txBody>
      </p:sp>
      <p:sp>
        <p:nvSpPr>
          <p:cNvPr id="58" name="Text 52"/>
          <p:cNvSpPr/>
          <p:nvPr/>
        </p:nvSpPr>
        <p:spPr>
          <a:xfrm>
            <a:off x="10878617" y="1614830"/>
            <a:ext cx="543154" cy="247802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&lt; 3.0m</a:t>
            </a:r>
            <a:endParaRPr lang="en-US" sz="900" dirty="0"/>
          </a:p>
        </p:txBody>
      </p:sp>
      <p:sp>
        <p:nvSpPr>
          <p:cNvPr id="59" name="Shape 53"/>
          <p:cNvSpPr/>
          <p:nvPr/>
        </p:nvSpPr>
        <p:spPr>
          <a:xfrm>
            <a:off x="8486546" y="2200046"/>
            <a:ext cx="2933395" cy="552298"/>
          </a:xfrm>
          <a:prstGeom prst="roundRect">
            <a:avLst>
              <a:gd name="adj" fmla="val 17127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0" name="Shape 54"/>
          <p:cNvSpPr/>
          <p:nvPr/>
        </p:nvSpPr>
        <p:spPr>
          <a:xfrm>
            <a:off x="8486546" y="2200046"/>
            <a:ext cx="38405" cy="552298"/>
          </a:xfrm>
          <a:prstGeom prst="roundRect">
            <a:avLst>
              <a:gd name="adj" fmla="val 246304"/>
            </a:avLst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1" name="Text 55"/>
          <p:cNvSpPr txBox="1"/>
          <p:nvPr/>
        </p:nvSpPr>
        <p:spPr>
          <a:xfrm>
            <a:off x="8620049" y="2295144"/>
            <a:ext cx="2813609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DC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Goal</a:t>
            </a:r>
            <a:endParaRPr lang="en-US" sz="800" dirty="0"/>
          </a:p>
        </p:txBody>
      </p:sp>
      <p:sp>
        <p:nvSpPr>
          <p:cNvPr id="62" name="Text 56"/>
          <p:cNvSpPr txBox="1"/>
          <p:nvPr/>
        </p:nvSpPr>
        <p:spPr>
          <a:xfrm>
            <a:off x="8620049" y="2457907"/>
            <a:ext cx="32196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Fix angle, enter slot, prevent false attractor</a:t>
            </a:r>
            <a:endParaRPr lang="en-US" sz="1000" dirty="0"/>
          </a:p>
        </p:txBody>
      </p:sp>
      <p:sp>
        <p:nvSpPr>
          <p:cNvPr id="63" name="Shape 57"/>
          <p:cNvSpPr/>
          <p:nvPr/>
        </p:nvSpPr>
        <p:spPr>
          <a:xfrm>
            <a:off x="8486546" y="2895905"/>
            <a:ext cx="2933395" cy="2381098"/>
          </a:xfrm>
          <a:prstGeom prst="roundRect">
            <a:avLst>
              <a:gd name="adj" fmla="val 9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4" name="Shape 58"/>
          <p:cNvSpPr/>
          <p:nvPr/>
        </p:nvSpPr>
        <p:spPr>
          <a:xfrm>
            <a:off x="8610905" y="3476549"/>
            <a:ext cx="2686507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5" name="Text 59"/>
          <p:cNvSpPr txBox="1"/>
          <p:nvPr/>
        </p:nvSpPr>
        <p:spPr>
          <a:xfrm>
            <a:off x="8610905" y="3019349"/>
            <a:ext cx="1476756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- 20.0 · |y - y_tgt|</a:t>
            </a:r>
            <a:endParaRPr lang="en-US" sz="900" dirty="0"/>
          </a:p>
        </p:txBody>
      </p:sp>
      <p:sp>
        <p:nvSpPr>
          <p:cNvPr id="66" name="Shape 60"/>
          <p:cNvSpPr/>
          <p:nvPr/>
        </p:nvSpPr>
        <p:spPr>
          <a:xfrm>
            <a:off x="8610905" y="3797503"/>
            <a:ext cx="2686507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7" name="Text 61"/>
          <p:cNvSpPr txBox="1"/>
          <p:nvPr/>
        </p:nvSpPr>
        <p:spPr>
          <a:xfrm>
            <a:off x="8610905" y="3539642"/>
            <a:ext cx="10479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- 50.0 · |Δθ|</a:t>
            </a:r>
            <a:endParaRPr lang="en-US" sz="900" dirty="0"/>
          </a:p>
        </p:txBody>
      </p:sp>
      <p:sp>
        <p:nvSpPr>
          <p:cNvPr id="68" name="Text 62"/>
          <p:cNvSpPr txBox="1"/>
          <p:nvPr/>
        </p:nvSpPr>
        <p:spPr>
          <a:xfrm>
            <a:off x="9877349" y="3539642"/>
            <a:ext cx="14200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Angle Penalty</a:t>
            </a:r>
            <a:endParaRPr lang="en-US" sz="800" dirty="0"/>
          </a:p>
        </p:txBody>
      </p:sp>
      <p:sp>
        <p:nvSpPr>
          <p:cNvPr id="69" name="Shape 63"/>
          <p:cNvSpPr/>
          <p:nvPr/>
        </p:nvSpPr>
        <p:spPr>
          <a:xfrm>
            <a:off x="8610905" y="4119372"/>
            <a:ext cx="2686507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0" name="Text 64"/>
          <p:cNvSpPr txBox="1"/>
          <p:nvPr/>
        </p:nvSpPr>
        <p:spPr>
          <a:xfrm>
            <a:off x="8610905" y="3861511"/>
            <a:ext cx="12673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+ 600 · Δcorners</a:t>
            </a:r>
            <a:endParaRPr lang="en-US" sz="900" dirty="0"/>
          </a:p>
        </p:txBody>
      </p:sp>
      <p:sp>
        <p:nvSpPr>
          <p:cNvPr id="71" name="Text 65"/>
          <p:cNvSpPr txBox="1"/>
          <p:nvPr/>
        </p:nvSpPr>
        <p:spPr>
          <a:xfrm>
            <a:off x="9877349" y="3861511"/>
            <a:ext cx="14200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NEW</a:t>
            </a:r>
            <a:r>
              <a:rPr lang="en-US" sz="800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Corners Only</a:t>
            </a:r>
            <a:endParaRPr lang="en-US" sz="800" dirty="0"/>
          </a:p>
        </p:txBody>
      </p:sp>
      <p:sp>
        <p:nvSpPr>
          <p:cNvPr id="72" name="Shape 66"/>
          <p:cNvSpPr/>
          <p:nvPr/>
        </p:nvSpPr>
        <p:spPr>
          <a:xfrm>
            <a:off x="8610905" y="4441241"/>
            <a:ext cx="2686507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3" name="Text 67"/>
          <p:cNvSpPr txBox="1"/>
          <p:nvPr/>
        </p:nvSpPr>
        <p:spPr>
          <a:xfrm>
            <a:off x="8610905" y="4183380"/>
            <a:ext cx="14200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- 80 (if standing)</a:t>
            </a:r>
            <a:endParaRPr lang="en-US" sz="900" dirty="0"/>
          </a:p>
        </p:txBody>
      </p:sp>
      <p:sp>
        <p:nvSpPr>
          <p:cNvPr id="74" name="Text 68"/>
          <p:cNvSpPr txBox="1"/>
          <p:nvPr/>
        </p:nvSpPr>
        <p:spPr>
          <a:xfrm>
            <a:off x="9877349" y="4183380"/>
            <a:ext cx="14200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Anti-Stagnation</a:t>
            </a:r>
            <a:endParaRPr lang="en-US" sz="800" dirty="0"/>
          </a:p>
        </p:txBody>
      </p:sp>
      <p:sp>
        <p:nvSpPr>
          <p:cNvPr id="75" name="Text 69"/>
          <p:cNvSpPr txBox="1"/>
          <p:nvPr/>
        </p:nvSpPr>
        <p:spPr>
          <a:xfrm>
            <a:off x="8610905" y="4505249"/>
            <a:ext cx="12006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- 500 · retreat</a:t>
            </a:r>
            <a:endParaRPr lang="en-US" sz="900" dirty="0"/>
          </a:p>
        </p:txBody>
      </p:sp>
      <p:sp>
        <p:nvSpPr>
          <p:cNvPr id="76" name="Text 70"/>
          <p:cNvSpPr txBox="1"/>
          <p:nvPr/>
        </p:nvSpPr>
        <p:spPr>
          <a:xfrm>
            <a:off x="9877349" y="4505249"/>
            <a:ext cx="14200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Retreat Allowed</a:t>
            </a:r>
            <a:endParaRPr lang="en-US" sz="800" dirty="0"/>
          </a:p>
        </p:txBody>
      </p:sp>
      <p:sp>
        <p:nvSpPr>
          <p:cNvPr id="77" name="Shape 71"/>
          <p:cNvSpPr/>
          <p:nvPr/>
        </p:nvSpPr>
        <p:spPr>
          <a:xfrm>
            <a:off x="8486546" y="5514746"/>
            <a:ext cx="293339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8" name="Shape 72"/>
          <p:cNvSpPr/>
          <p:nvPr/>
        </p:nvSpPr>
        <p:spPr>
          <a:xfrm>
            <a:off x="8486546" y="5691226"/>
            <a:ext cx="181051" cy="228600"/>
          </a:xfrm>
          <a:prstGeom prst="roundRect">
            <a:avLst>
              <a:gd name="adj" fmla="val 252526"/>
            </a:avLst>
          </a:prstGeom>
          <a:solidFill>
            <a:srgbClr val="DC262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79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519465" y="5747918"/>
            <a:ext cx="114300" cy="114300"/>
          </a:xfrm>
          <a:prstGeom prst="rect">
            <a:avLst/>
          </a:prstGeom>
        </p:spPr>
      </p:pic>
      <p:sp>
        <p:nvSpPr>
          <p:cNvPr id="80" name="Text 73"/>
          <p:cNvSpPr txBox="1"/>
          <p:nvPr/>
        </p:nvSpPr>
        <p:spPr>
          <a:xfrm>
            <a:off x="8762695" y="5619902"/>
            <a:ext cx="274320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755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Precision Mode:</a:t>
            </a:r>
            <a:r>
              <a:rPr lang="en-US" sz="900" dirty="0">
                <a:solidFill>
                  <a:srgbClr val="4755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Full constraints, massive penalties for errors</a:t>
            </a:r>
            <a:endParaRPr lang="en-US" sz="900" dirty="0"/>
          </a:p>
        </p:txBody>
      </p:sp>
      <p:sp>
        <p:nvSpPr>
          <p:cNvPr id="81" name="Shape 74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2" name="Shape 75"/>
          <p:cNvSpPr/>
          <p:nvPr/>
        </p:nvSpPr>
        <p:spPr>
          <a:xfrm>
            <a:off x="0" y="6476695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3" name="Text 76"/>
          <p:cNvSpPr txBox="1"/>
          <p:nvPr/>
        </p:nvSpPr>
        <p:spPr>
          <a:xfrm>
            <a:off x="571500" y="6586423"/>
            <a:ext cx="307238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Iteration 3: Staged Reward System Implementation</a:t>
            </a:r>
            <a:endParaRPr lang="en-US" sz="900" dirty="0"/>
          </a:p>
        </p:txBody>
      </p:sp>
      <p:sp>
        <p:nvSpPr>
          <p:cNvPr id="84" name="Text 77"/>
          <p:cNvSpPr txBox="1"/>
          <p:nvPr/>
        </p:nvSpPr>
        <p:spPr>
          <a:xfrm>
            <a:off x="11279124" y="6586423"/>
            <a:ext cx="4197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9</a:t>
            </a:r>
            <a:endParaRPr lang="en-US" sz="900" dirty="0"/>
          </a:p>
        </p:txBody>
      </p:sp>
      <p:sp>
        <p:nvSpPr>
          <p:cNvPr id="85" name="Shape 78"/>
          <p:cNvSpPr/>
          <p:nvPr/>
        </p:nvSpPr>
        <p:spPr>
          <a:xfrm>
            <a:off x="0" y="0"/>
            <a:ext cx="12191695" cy="117134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6" name="Shape 79"/>
          <p:cNvSpPr/>
          <p:nvPr/>
        </p:nvSpPr>
        <p:spPr>
          <a:xfrm>
            <a:off x="0" y="1152144"/>
            <a:ext cx="12191695" cy="1920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7" name="Text 80"/>
          <p:cNvSpPr txBox="1"/>
          <p:nvPr/>
        </p:nvSpPr>
        <p:spPr>
          <a:xfrm>
            <a:off x="571500" y="286207"/>
            <a:ext cx="656905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3A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Solution: Staged Reward System</a:t>
            </a:r>
            <a:endParaRPr lang="en-US" sz="2700" dirty="0"/>
          </a:p>
        </p:txBody>
      </p:sp>
      <p:sp>
        <p:nvSpPr>
          <p:cNvPr id="88" name="Text 81"/>
          <p:cNvSpPr txBox="1"/>
          <p:nvPr/>
        </p:nvSpPr>
        <p:spPr>
          <a:xfrm>
            <a:off x="571500" y="800100"/>
            <a:ext cx="60679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Matching Reward Complexity to Task Phase</a:t>
            </a:r>
            <a:endParaRPr lang="en-US" sz="1300" dirty="0"/>
          </a:p>
        </p:txBody>
      </p:sp>
      <p:sp>
        <p:nvSpPr>
          <p:cNvPr id="89" name="Shape 82"/>
          <p:cNvSpPr/>
          <p:nvPr/>
        </p:nvSpPr>
        <p:spPr>
          <a:xfrm>
            <a:off x="9164117" y="657454"/>
            <a:ext cx="2457907" cy="400507"/>
          </a:xfrm>
          <a:prstGeom prst="roundRect">
            <a:avLst>
              <a:gd name="adj" fmla="val 4348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90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325966" y="780898"/>
            <a:ext cx="152705" cy="152705"/>
          </a:xfrm>
          <a:prstGeom prst="rect">
            <a:avLst/>
          </a:prstGeom>
        </p:spPr>
      </p:pic>
      <p:sp>
        <p:nvSpPr>
          <p:cNvPr id="91" name="Text 83"/>
          <p:cNvSpPr txBox="1"/>
          <p:nvPr/>
        </p:nvSpPr>
        <p:spPr>
          <a:xfrm>
            <a:off x="9554566" y="657454"/>
            <a:ext cx="19815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D4E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SOLVED FALSE ATTRACTOR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0" y="933602"/>
            <a:ext cx="12191695" cy="6476695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571500" y="1314907"/>
            <a:ext cx="4858207" cy="2343607"/>
          </a:xfrm>
          <a:prstGeom prst="roundRect">
            <a:avLst>
              <a:gd name="adj" fmla="val 126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571500" y="1314907"/>
            <a:ext cx="47549" cy="2343607"/>
          </a:xfrm>
          <a:prstGeom prst="roundRect">
            <a:avLst>
              <a:gd name="adj" fmla="val 62539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847649" y="1543507"/>
            <a:ext cx="342900" cy="342900"/>
          </a:xfrm>
          <a:prstGeom prst="roundRect">
            <a:avLst>
              <a:gd name="adj" fmla="val 44444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l="-760" r="-760"/>
          <a:stretch/>
        </p:blipFill>
        <p:spPr>
          <a:xfrm>
            <a:off x="942746" y="1628546"/>
            <a:ext cx="152705" cy="17190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04849" y="1585570"/>
            <a:ext cx="198424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3A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Deadlock Detection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47649" y="2000707"/>
            <a:ext cx="50392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Prevents agent from exploiting "safe spots" without making progress.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847649" y="2286000"/>
            <a:ext cx="4352544" cy="847649"/>
          </a:xfrm>
          <a:prstGeom prst="rect">
            <a:avLst/>
          </a:prstGeom>
          <a:noFill/>
          <a:ln/>
        </p:spPr>
        <p:txBody>
          <a:bodyPr/>
          <a:lstStyle/>
          <a:p>
            <a:endParaRPr lang="tr-TR"/>
          </a:p>
        </p:txBody>
      </p:sp>
      <p:sp>
        <p:nvSpPr>
          <p:cNvPr id="12" name="Text 9"/>
          <p:cNvSpPr/>
          <p:nvPr/>
        </p:nvSpPr>
        <p:spPr>
          <a:xfrm>
            <a:off x="847649" y="2286000"/>
            <a:ext cx="4353458" cy="848563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if |Δd| &lt; 0.01 for 40 steps: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terminate = True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reward -= 300 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847649" y="3228746"/>
            <a:ext cx="4197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Stuck</a:t>
            </a:r>
            <a:endParaRPr lang="en-US" sz="10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 t="-1100" b="-1100"/>
          <a:stretch/>
        </p:blipFill>
        <p:spPr>
          <a:xfrm>
            <a:off x="1276502" y="3262579"/>
            <a:ext cx="114300" cy="13350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485900" y="3228746"/>
            <a:ext cx="4672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Detect</a:t>
            </a:r>
            <a:endParaRPr lang="en-US" sz="10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rcRect t="-1100" b="-1100"/>
          <a:stretch/>
        </p:blipFill>
        <p:spPr>
          <a:xfrm>
            <a:off x="1967789" y="3262579"/>
            <a:ext cx="114300" cy="13350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2177186" y="3228746"/>
            <a:ext cx="153070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C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Terminate &amp; Penalize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571500" y="3895344"/>
            <a:ext cx="4858207" cy="2048256"/>
          </a:xfrm>
          <a:prstGeom prst="roundRect">
            <a:avLst>
              <a:gd name="adj" fmla="val 166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9" name="Shape 14"/>
          <p:cNvSpPr/>
          <p:nvPr/>
        </p:nvSpPr>
        <p:spPr>
          <a:xfrm>
            <a:off x="571500" y="3895344"/>
            <a:ext cx="47549" cy="2048256"/>
          </a:xfrm>
          <a:prstGeom prst="roundRect">
            <a:avLst>
              <a:gd name="adj" fmla="val 71556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Shape 15"/>
          <p:cNvSpPr/>
          <p:nvPr/>
        </p:nvSpPr>
        <p:spPr>
          <a:xfrm>
            <a:off x="847649" y="4123944"/>
            <a:ext cx="342900" cy="342900"/>
          </a:xfrm>
          <a:prstGeom prst="roundRect">
            <a:avLst>
              <a:gd name="adj" fmla="val 44444"/>
            </a:avLst>
          </a:prstGeom>
          <a:solidFill>
            <a:srgbClr val="FEE2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33602" y="4209898"/>
            <a:ext cx="171907" cy="17190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304849" y="4166921"/>
            <a:ext cx="2142439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91B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False Attractor Killer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847649" y="4581144"/>
            <a:ext cx="44677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Specifically targets the local minimum at 2m distance.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847649" y="4867351"/>
            <a:ext cx="4352544" cy="847649"/>
          </a:xfrm>
          <a:prstGeom prst="rect">
            <a:avLst/>
          </a:prstGeom>
          <a:noFill/>
          <a:ln/>
        </p:spPr>
        <p:txBody>
          <a:bodyPr/>
          <a:lstStyle/>
          <a:p>
            <a:endParaRPr lang="tr-TR"/>
          </a:p>
        </p:txBody>
      </p:sp>
      <p:sp>
        <p:nvSpPr>
          <p:cNvPr id="25" name="Text 19"/>
          <p:cNvSpPr/>
          <p:nvPr/>
        </p:nvSpPr>
        <p:spPr>
          <a:xfrm>
            <a:off x="847649" y="4867351"/>
            <a:ext cx="4353458" cy="848563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1D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if speed &lt; 0.05 and angle_err &gt; 10°: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7F1D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reward -= 80 (Standing)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7F1D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reward -= 300 (Wrong Pose) 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5801868" y="1314907"/>
            <a:ext cx="5820156" cy="5715000"/>
          </a:xfrm>
          <a:prstGeom prst="roundRect">
            <a:avLst>
              <a:gd name="adj" fmla="val 32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7" name="Text 21"/>
          <p:cNvSpPr txBox="1"/>
          <p:nvPr/>
        </p:nvSpPr>
        <p:spPr>
          <a:xfrm>
            <a:off x="6468466" y="1600200"/>
            <a:ext cx="4981651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Curriculum Learning Strategy </a:t>
            </a:r>
            <a:endParaRPr lang="en-US" sz="1600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6"/>
          <a:srcRect l="-1004" r="-1004"/>
          <a:stretch/>
        </p:blipFill>
        <p:spPr>
          <a:xfrm>
            <a:off x="6087161" y="1652321"/>
            <a:ext cx="267005" cy="209398"/>
          </a:xfrm>
          <a:prstGeom prst="rect">
            <a:avLst/>
          </a:prstGeom>
        </p:spPr>
      </p:pic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7"/>
          <a:srcRect l="-400" r="-400"/>
          <a:stretch/>
        </p:blipFill>
        <p:spPr>
          <a:xfrm>
            <a:off x="6278270" y="2343607"/>
            <a:ext cx="38405" cy="3771900"/>
          </a:xfrm>
          <a:prstGeom prst="rect">
            <a:avLst/>
          </a:prstGeom>
        </p:spPr>
      </p:pic>
      <p:sp>
        <p:nvSpPr>
          <p:cNvPr id="30" name="Shape 22"/>
          <p:cNvSpPr/>
          <p:nvPr/>
        </p:nvSpPr>
        <p:spPr>
          <a:xfrm>
            <a:off x="6087161" y="6305702"/>
            <a:ext cx="5248656" cy="437998"/>
          </a:xfrm>
          <a:prstGeom prst="roundRect">
            <a:avLst>
              <a:gd name="adj" fmla="val 18154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8"/>
          <a:srcRect l="-2512" r="-2512"/>
          <a:stretch/>
        </p:blipFill>
        <p:spPr>
          <a:xfrm>
            <a:off x="6211519" y="6458407"/>
            <a:ext cx="105156" cy="133502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6430061" y="6305702"/>
            <a:ext cx="44577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Goal:</a:t>
            </a: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Guide agent from simple tasks to complex maneuvers progressively.</a:t>
            </a:r>
            <a:endParaRPr lang="en-US" sz="1000" dirty="0"/>
          </a:p>
        </p:txBody>
      </p:sp>
      <p:sp>
        <p:nvSpPr>
          <p:cNvPr id="33" name="Shape 24"/>
          <p:cNvSpPr/>
          <p:nvPr/>
        </p:nvSpPr>
        <p:spPr>
          <a:xfrm>
            <a:off x="0" y="7410298"/>
            <a:ext cx="12191695" cy="171907"/>
          </a:xfrm>
          <a:prstGeom prst="rect">
            <a:avLst/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4" name="Text 25"/>
          <p:cNvSpPr txBox="1"/>
          <p:nvPr/>
        </p:nvSpPr>
        <p:spPr>
          <a:xfrm>
            <a:off x="571500" y="7410298"/>
            <a:ext cx="25054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Adaptive Difficulty • Anti-Stagnation Logic</a:t>
            </a:r>
            <a:endParaRPr lang="en-US" sz="900" dirty="0"/>
          </a:p>
        </p:txBody>
      </p:sp>
      <p:sp>
        <p:nvSpPr>
          <p:cNvPr id="35" name="Text 26"/>
          <p:cNvSpPr txBox="1"/>
          <p:nvPr/>
        </p:nvSpPr>
        <p:spPr>
          <a:xfrm>
            <a:off x="11215116" y="7410298"/>
            <a:ext cx="48829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10</a:t>
            </a:r>
            <a:endParaRPr lang="en-US" sz="900" dirty="0"/>
          </a:p>
        </p:txBody>
      </p:sp>
      <p:sp>
        <p:nvSpPr>
          <p:cNvPr id="36" name="Shape 27"/>
          <p:cNvSpPr/>
          <p:nvPr/>
        </p:nvSpPr>
        <p:spPr>
          <a:xfrm>
            <a:off x="6087161" y="2343607"/>
            <a:ext cx="418795" cy="418795"/>
          </a:xfrm>
          <a:prstGeom prst="rect">
            <a:avLst/>
          </a:prstGeom>
          <a:noFill/>
          <a:ln/>
        </p:spPr>
        <p:txBody>
          <a:bodyPr/>
          <a:lstStyle/>
          <a:p>
            <a:endParaRPr lang="tr-TR"/>
          </a:p>
        </p:txBody>
      </p:sp>
      <p:sp>
        <p:nvSpPr>
          <p:cNvPr id="37" name="Text 28"/>
          <p:cNvSpPr/>
          <p:nvPr/>
        </p:nvSpPr>
        <p:spPr>
          <a:xfrm>
            <a:off x="6087161" y="2343607"/>
            <a:ext cx="419710" cy="419710"/>
          </a:xfrm>
          <a:prstGeom prst="rect">
            <a:avLst/>
          </a:prstGeom>
          <a:solidFill>
            <a:srgbClr val="FFFFFF"/>
          </a:solidFill>
          <a:ln w="38100">
            <a:solidFill>
              <a:srgbClr val="3B82F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4E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200" dirty="0"/>
          </a:p>
        </p:txBody>
      </p:sp>
      <p:sp>
        <p:nvSpPr>
          <p:cNvPr id="38" name="Shape 29"/>
          <p:cNvSpPr/>
          <p:nvPr/>
        </p:nvSpPr>
        <p:spPr>
          <a:xfrm>
            <a:off x="6697066" y="2343607"/>
            <a:ext cx="4638751" cy="972007"/>
          </a:xfrm>
          <a:prstGeom prst="roundRect">
            <a:avLst>
              <a:gd name="adj" fmla="val 73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9" name="Text 30"/>
          <p:cNvSpPr txBox="1"/>
          <p:nvPr/>
        </p:nvSpPr>
        <p:spPr>
          <a:xfrm>
            <a:off x="6849770" y="2495398"/>
            <a:ext cx="44485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Early Episodes (0-50k)</a:t>
            </a:r>
            <a:endParaRPr lang="en-US" sz="1200" dirty="0"/>
          </a:p>
        </p:txBody>
      </p:sp>
      <p:sp>
        <p:nvSpPr>
          <p:cNvPr id="40" name="Text 31"/>
          <p:cNvSpPr txBox="1"/>
          <p:nvPr/>
        </p:nvSpPr>
        <p:spPr>
          <a:xfrm>
            <a:off x="6849770" y="2762402"/>
            <a:ext cx="441015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Spawn </a:t>
            </a:r>
            <a:r>
              <a:rPr lang="en-US" sz="1000" b="1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very close</a:t>
            </a:r>
            <a:r>
              <a:rPr lang="en-US" sz="1000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parking slot (1-2m). Gentle constraints allow easy exploration of the target area.</a:t>
            </a:r>
            <a:endParaRPr lang="en-US" sz="1000" dirty="0"/>
          </a:p>
        </p:txBody>
      </p:sp>
      <p:sp>
        <p:nvSpPr>
          <p:cNvPr id="41" name="Shape 32"/>
          <p:cNvSpPr/>
          <p:nvPr/>
        </p:nvSpPr>
        <p:spPr>
          <a:xfrm>
            <a:off x="6087161" y="3600907"/>
            <a:ext cx="418795" cy="418795"/>
          </a:xfrm>
          <a:prstGeom prst="rect">
            <a:avLst/>
          </a:prstGeom>
          <a:noFill/>
          <a:ln/>
        </p:spPr>
        <p:txBody>
          <a:bodyPr/>
          <a:lstStyle/>
          <a:p>
            <a:endParaRPr lang="tr-TR"/>
          </a:p>
        </p:txBody>
      </p:sp>
      <p:sp>
        <p:nvSpPr>
          <p:cNvPr id="42" name="Text 33"/>
          <p:cNvSpPr/>
          <p:nvPr/>
        </p:nvSpPr>
        <p:spPr>
          <a:xfrm>
            <a:off x="6087161" y="3600907"/>
            <a:ext cx="419710" cy="419710"/>
          </a:xfrm>
          <a:prstGeom prst="rect">
            <a:avLst/>
          </a:prstGeom>
          <a:solidFill>
            <a:srgbClr val="FFFFFF"/>
          </a:solidFill>
          <a:ln w="38100">
            <a:solidFill>
              <a:srgbClr val="3B82F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4E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200" dirty="0"/>
          </a:p>
        </p:txBody>
      </p:sp>
      <p:sp>
        <p:nvSpPr>
          <p:cNvPr id="43" name="Shape 34"/>
          <p:cNvSpPr/>
          <p:nvPr/>
        </p:nvSpPr>
        <p:spPr>
          <a:xfrm>
            <a:off x="6697066" y="3600907"/>
            <a:ext cx="4638751" cy="972007"/>
          </a:xfrm>
          <a:prstGeom prst="roundRect">
            <a:avLst>
              <a:gd name="adj" fmla="val 73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4" name="Text 35"/>
          <p:cNvSpPr txBox="1"/>
          <p:nvPr/>
        </p:nvSpPr>
        <p:spPr>
          <a:xfrm>
            <a:off x="6849770" y="3752698"/>
            <a:ext cx="44485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Mid Training (50k-150k)</a:t>
            </a:r>
            <a:endParaRPr lang="en-US" sz="1200" dirty="0"/>
          </a:p>
        </p:txBody>
      </p:sp>
      <p:sp>
        <p:nvSpPr>
          <p:cNvPr id="45" name="Text 36"/>
          <p:cNvSpPr txBox="1"/>
          <p:nvPr/>
        </p:nvSpPr>
        <p:spPr>
          <a:xfrm>
            <a:off x="6849770" y="4019702"/>
            <a:ext cx="441015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Spawn distance increases to </a:t>
            </a:r>
            <a:r>
              <a:rPr lang="en-US" sz="1000" b="1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medium range</a:t>
            </a:r>
            <a:r>
              <a:rPr lang="en-US" sz="1000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(3-5m). Introduction of stricter Y-axis penalties.</a:t>
            </a:r>
            <a:endParaRPr lang="en-US" sz="1000" dirty="0"/>
          </a:p>
        </p:txBody>
      </p:sp>
      <p:sp>
        <p:nvSpPr>
          <p:cNvPr id="46" name="Shape 37"/>
          <p:cNvSpPr/>
          <p:nvPr/>
        </p:nvSpPr>
        <p:spPr>
          <a:xfrm>
            <a:off x="6087161" y="4858207"/>
            <a:ext cx="418795" cy="418795"/>
          </a:xfrm>
          <a:prstGeom prst="rect">
            <a:avLst/>
          </a:prstGeom>
          <a:noFill/>
          <a:ln/>
        </p:spPr>
        <p:txBody>
          <a:bodyPr/>
          <a:lstStyle/>
          <a:p>
            <a:endParaRPr lang="tr-TR"/>
          </a:p>
        </p:txBody>
      </p:sp>
      <p:sp>
        <p:nvSpPr>
          <p:cNvPr id="47" name="Text 38"/>
          <p:cNvSpPr/>
          <p:nvPr/>
        </p:nvSpPr>
        <p:spPr>
          <a:xfrm>
            <a:off x="6087161" y="4858207"/>
            <a:ext cx="419710" cy="419710"/>
          </a:xfrm>
          <a:prstGeom prst="rect">
            <a:avLst/>
          </a:prstGeom>
          <a:solidFill>
            <a:srgbClr val="1E3A8A"/>
          </a:solidFill>
          <a:ln w="38100">
            <a:solidFill>
              <a:srgbClr val="1E3A8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200" dirty="0"/>
          </a:p>
        </p:txBody>
      </p:sp>
      <p:sp>
        <p:nvSpPr>
          <p:cNvPr id="48" name="Shape 39"/>
          <p:cNvSpPr/>
          <p:nvPr/>
        </p:nvSpPr>
        <p:spPr>
          <a:xfrm>
            <a:off x="6697066" y="4858207"/>
            <a:ext cx="4638751" cy="972007"/>
          </a:xfrm>
          <a:prstGeom prst="roundRect">
            <a:avLst>
              <a:gd name="adj" fmla="val 737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9" name="Text 40"/>
          <p:cNvSpPr txBox="1"/>
          <p:nvPr/>
        </p:nvSpPr>
        <p:spPr>
          <a:xfrm>
            <a:off x="6849770" y="5009998"/>
            <a:ext cx="44485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Final Stage (150k+)</a:t>
            </a:r>
            <a:endParaRPr lang="en-US" sz="1200" dirty="0"/>
          </a:p>
        </p:txBody>
      </p:sp>
      <p:sp>
        <p:nvSpPr>
          <p:cNvPr id="50" name="Text 41"/>
          <p:cNvSpPr txBox="1"/>
          <p:nvPr/>
        </p:nvSpPr>
        <p:spPr>
          <a:xfrm>
            <a:off x="6849770" y="5277002"/>
            <a:ext cx="441015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Full </a:t>
            </a:r>
            <a:r>
              <a:rPr lang="en-US" sz="1000" b="1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hard difficulty</a:t>
            </a:r>
            <a:r>
              <a:rPr lang="en-US" sz="1000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spawn (6m+). Full constraints enabled. Simulates real-world parallel parking scenario.</a:t>
            </a:r>
            <a:endParaRPr lang="en-US" sz="1000" dirty="0"/>
          </a:p>
        </p:txBody>
      </p:sp>
      <p:sp>
        <p:nvSpPr>
          <p:cNvPr id="51" name="Shape 42"/>
          <p:cNvSpPr/>
          <p:nvPr/>
        </p:nvSpPr>
        <p:spPr>
          <a:xfrm>
            <a:off x="0" y="0"/>
            <a:ext cx="12191695" cy="933602"/>
          </a:xfrm>
          <a:prstGeom prst="rect">
            <a:avLst/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2" name="Text 43"/>
          <p:cNvSpPr txBox="1"/>
          <p:nvPr/>
        </p:nvSpPr>
        <p:spPr>
          <a:xfrm>
            <a:off x="571500" y="237744"/>
            <a:ext cx="54388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Additional Fixes &amp; Curriculum</a:t>
            </a:r>
            <a:endParaRPr lang="en-US" sz="2400" dirty="0"/>
          </a:p>
        </p:txBody>
      </p:sp>
      <p:sp>
        <p:nvSpPr>
          <p:cNvPr id="53" name="Text 44"/>
          <p:cNvSpPr txBox="1"/>
          <p:nvPr/>
        </p:nvSpPr>
        <p:spPr>
          <a:xfrm>
            <a:off x="9678010" y="338328"/>
            <a:ext cx="231251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>
                    <a:alpha val="9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Refining Learning Stability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495605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0" y="457200"/>
            <a:ext cx="12191695" cy="38405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 txBox="1"/>
          <p:nvPr/>
        </p:nvSpPr>
        <p:spPr>
          <a:xfrm>
            <a:off x="476402" y="0"/>
            <a:ext cx="571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38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Code Structure &amp; Organization</a:t>
            </a:r>
            <a:endParaRPr lang="en-US" sz="2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6402" y="875995"/>
            <a:ext cx="6572707" cy="5453482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61695" y="1200607"/>
            <a:ext cx="152705" cy="15270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90295" y="1162202"/>
            <a:ext cx="10863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parking_rl/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761695" y="1505102"/>
            <a:ext cx="6001207" cy="304495"/>
          </a:xfrm>
          <a:prstGeom prst="roundRect">
            <a:avLst>
              <a:gd name="adj" fmla="val 37538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90295" y="1580998"/>
            <a:ext cx="152705" cy="15270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218895" y="1505102"/>
            <a:ext cx="5431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envs/</a:t>
            </a:r>
            <a:endParaRPr lang="en-US" sz="12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/>
          <a:srcRect t="-43" b="-43"/>
          <a:stretch/>
        </p:blipFill>
        <p:spPr>
          <a:xfrm>
            <a:off x="1218895" y="2076602"/>
            <a:ext cx="133502" cy="152705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429207" y="1923898"/>
            <a:ext cx="13432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parking_env.py</a:t>
            </a:r>
            <a:endParaRPr lang="en-US" sz="1200" dirty="0"/>
          </a:p>
        </p:txBody>
      </p:sp>
      <p:sp>
        <p:nvSpPr>
          <p:cNvPr id="15" name="Shape 9"/>
          <p:cNvSpPr/>
          <p:nvPr/>
        </p:nvSpPr>
        <p:spPr>
          <a:xfrm>
            <a:off x="2804465" y="1943100"/>
            <a:ext cx="809244" cy="418795"/>
          </a:xfrm>
          <a:prstGeom prst="rect">
            <a:avLst/>
          </a:prstGeom>
          <a:noFill/>
          <a:ln/>
        </p:spPr>
        <p:txBody>
          <a:bodyPr/>
          <a:lstStyle/>
          <a:p>
            <a:endParaRPr lang="tr-TR"/>
          </a:p>
        </p:txBody>
      </p:sp>
      <p:sp>
        <p:nvSpPr>
          <p:cNvPr id="16" name="Text 10"/>
          <p:cNvSpPr/>
          <p:nvPr/>
        </p:nvSpPr>
        <p:spPr>
          <a:xfrm>
            <a:off x="2804465" y="1943100"/>
            <a:ext cx="810158" cy="419710"/>
          </a:xfrm>
          <a:prstGeom prst="rect">
            <a:avLst/>
          </a:prstGeom>
          <a:solidFill>
            <a:srgbClr val="DBEAFE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806 lines</a:t>
            </a:r>
            <a:endParaRPr lang="en-US" sz="900" dirty="0"/>
          </a:p>
        </p:txBody>
      </p:sp>
      <p:sp>
        <p:nvSpPr>
          <p:cNvPr id="17" name="Text 11"/>
          <p:cNvSpPr txBox="1"/>
          <p:nvPr/>
        </p:nvSpPr>
        <p:spPr>
          <a:xfrm>
            <a:off x="3753612" y="1923898"/>
            <a:ext cx="3086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Core logic, Kinematics, Rewards</a:t>
            </a:r>
            <a:endParaRPr lang="en-US" sz="12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5"/>
          <a:srcRect t="-43" b="-43"/>
          <a:stretch/>
        </p:blipFill>
        <p:spPr>
          <a:xfrm>
            <a:off x="1218895" y="2533802"/>
            <a:ext cx="133502" cy="152705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429207" y="2495398"/>
            <a:ext cx="20016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antagonist_wrapper.py</a:t>
            </a:r>
            <a:endParaRPr lang="en-US" sz="1200" dirty="0"/>
          </a:p>
        </p:txBody>
      </p:sp>
      <p:sp>
        <p:nvSpPr>
          <p:cNvPr id="20" name="Text 13"/>
          <p:cNvSpPr txBox="1"/>
          <p:nvPr/>
        </p:nvSpPr>
        <p:spPr>
          <a:xfrm>
            <a:off x="3492094" y="2495398"/>
            <a:ext cx="21003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Curriculum interface</a:t>
            </a:r>
            <a:endParaRPr lang="en-US" sz="120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90295" y="2952598"/>
            <a:ext cx="152705" cy="152705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1218895" y="2838298"/>
            <a:ext cx="7242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agents/</a:t>
            </a:r>
            <a:endParaRPr lang="en-US" sz="120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5"/>
          <a:srcRect t="-43" b="-43"/>
          <a:stretch/>
        </p:blipFill>
        <p:spPr>
          <a:xfrm>
            <a:off x="1218895" y="3295498"/>
            <a:ext cx="133502" cy="152705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429207" y="3258007"/>
            <a:ext cx="12673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antagonist.py</a:t>
            </a:r>
            <a:endParaRPr lang="en-US" sz="1200" dirty="0"/>
          </a:p>
        </p:txBody>
      </p:sp>
      <p:sp>
        <p:nvSpPr>
          <p:cNvPr id="25" name="Text 16"/>
          <p:cNvSpPr txBox="1"/>
          <p:nvPr/>
        </p:nvSpPr>
        <p:spPr>
          <a:xfrm>
            <a:off x="2760574" y="3258007"/>
            <a:ext cx="2862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Progressive difficulty agent</a:t>
            </a:r>
            <a:endParaRPr lang="en-US" sz="1200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90295" y="3715207"/>
            <a:ext cx="152705" cy="152705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1218895" y="3600907"/>
            <a:ext cx="81015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configs/</a:t>
            </a:r>
            <a:endParaRPr lang="en-US" sz="1200" dirty="0"/>
          </a:p>
        </p:txBody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218895" y="4058107"/>
            <a:ext cx="152705" cy="152705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1447495" y="4019702"/>
            <a:ext cx="905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config.py</a:t>
            </a:r>
            <a:endParaRPr lang="en-US" sz="1200" dirty="0"/>
          </a:p>
        </p:txBody>
      </p:sp>
      <p:sp>
        <p:nvSpPr>
          <p:cNvPr id="30" name="Text 19"/>
          <p:cNvSpPr txBox="1"/>
          <p:nvPr/>
        </p:nvSpPr>
        <p:spPr>
          <a:xfrm>
            <a:off x="2414016" y="4019702"/>
            <a:ext cx="2862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Dataclasses, Hyperparameters</a:t>
            </a:r>
            <a:endParaRPr lang="en-US" sz="1200" dirty="0"/>
          </a:p>
        </p:txBody>
      </p:sp>
      <p:pic>
        <p:nvPicPr>
          <p:cNvPr id="31" name="Image 9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90295" y="4476902"/>
            <a:ext cx="152705" cy="152705"/>
          </a:xfrm>
          <a:prstGeom prst="rect">
            <a:avLst/>
          </a:prstGeom>
        </p:spPr>
      </p:pic>
      <p:sp>
        <p:nvSpPr>
          <p:cNvPr id="32" name="Text 20"/>
          <p:cNvSpPr txBox="1"/>
          <p:nvPr/>
        </p:nvSpPr>
        <p:spPr>
          <a:xfrm>
            <a:off x="1218895" y="4362602"/>
            <a:ext cx="7242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models/</a:t>
            </a:r>
            <a:endParaRPr lang="en-US" sz="1200" dirty="0"/>
          </a:p>
        </p:txBody>
      </p:sp>
      <p:sp>
        <p:nvSpPr>
          <p:cNvPr id="33" name="Text 21"/>
          <p:cNvSpPr txBox="1"/>
          <p:nvPr/>
        </p:nvSpPr>
        <p:spPr>
          <a:xfrm>
            <a:off x="2002536" y="4362602"/>
            <a:ext cx="24771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Saved checkpoints (.zip)</a:t>
            </a:r>
            <a:endParaRPr lang="en-US" sz="1200" dirty="0"/>
          </a:p>
        </p:txBody>
      </p:sp>
      <p:pic>
        <p:nvPicPr>
          <p:cNvPr id="34" name="Image 10" descr="preencoded.png"/>
          <p:cNvPicPr>
            <a:picLocks noChangeAspect="1"/>
          </p:cNvPicPr>
          <p:nvPr/>
        </p:nvPicPr>
        <p:blipFill>
          <a:blip r:embed="rId5"/>
          <a:srcRect t="-43" b="-43"/>
          <a:stretch/>
        </p:blipFill>
        <p:spPr>
          <a:xfrm>
            <a:off x="990295" y="4972507"/>
            <a:ext cx="133502" cy="152705"/>
          </a:xfrm>
          <a:prstGeom prst="rect">
            <a:avLst/>
          </a:prstGeom>
        </p:spPr>
      </p:pic>
      <p:sp>
        <p:nvSpPr>
          <p:cNvPr id="35" name="Text 22"/>
          <p:cNvSpPr txBox="1"/>
          <p:nvPr/>
        </p:nvSpPr>
        <p:spPr>
          <a:xfrm>
            <a:off x="1200607" y="4781398"/>
            <a:ext cx="79095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train.py</a:t>
            </a:r>
            <a:endParaRPr lang="en-US" sz="1200" dirty="0"/>
          </a:p>
        </p:txBody>
      </p:sp>
      <p:sp>
        <p:nvSpPr>
          <p:cNvPr id="36" name="Text 23"/>
          <p:cNvSpPr txBox="1"/>
          <p:nvPr/>
        </p:nvSpPr>
        <p:spPr>
          <a:xfrm>
            <a:off x="2074774" y="4781398"/>
            <a:ext cx="227685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Training loop, Logging</a:t>
            </a:r>
            <a:endParaRPr lang="en-US" sz="1200" dirty="0"/>
          </a:p>
        </p:txBody>
      </p:sp>
      <p:pic>
        <p:nvPicPr>
          <p:cNvPr id="37" name="Image 11" descr="preencoded.png"/>
          <p:cNvPicPr>
            <a:picLocks noChangeAspect="1"/>
          </p:cNvPicPr>
          <p:nvPr/>
        </p:nvPicPr>
        <p:blipFill>
          <a:blip r:embed="rId5"/>
          <a:srcRect t="-43" b="-43"/>
          <a:stretch/>
        </p:blipFill>
        <p:spPr>
          <a:xfrm>
            <a:off x="990295" y="5315407"/>
            <a:ext cx="133502" cy="152705"/>
          </a:xfrm>
          <a:prstGeom prst="rect">
            <a:avLst/>
          </a:prstGeom>
        </p:spPr>
      </p:pic>
      <p:sp>
        <p:nvSpPr>
          <p:cNvPr id="38" name="Text 24"/>
          <p:cNvSpPr txBox="1"/>
          <p:nvPr/>
        </p:nvSpPr>
        <p:spPr>
          <a:xfrm>
            <a:off x="1200607" y="5277002"/>
            <a:ext cx="724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demo.py</a:t>
            </a:r>
            <a:endParaRPr lang="en-US" sz="1200" dirty="0"/>
          </a:p>
        </p:txBody>
      </p:sp>
      <p:sp>
        <p:nvSpPr>
          <p:cNvPr id="39" name="Text 25"/>
          <p:cNvSpPr txBox="1"/>
          <p:nvPr/>
        </p:nvSpPr>
        <p:spPr>
          <a:xfrm>
            <a:off x="1983334" y="5277002"/>
            <a:ext cx="25758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Visualization &amp; Inference</a:t>
            </a:r>
            <a:endParaRPr lang="en-US" sz="1200" dirty="0"/>
          </a:p>
        </p:txBody>
      </p:sp>
      <p:pic>
        <p:nvPicPr>
          <p:cNvPr id="40" name="Image 12" descr="preencoded.png"/>
          <p:cNvPicPr>
            <a:picLocks noChangeAspect="1"/>
          </p:cNvPicPr>
          <p:nvPr/>
        </p:nvPicPr>
        <p:blipFill>
          <a:blip r:embed="rId5"/>
          <a:srcRect t="-43" b="-43"/>
          <a:stretch/>
        </p:blipFill>
        <p:spPr>
          <a:xfrm>
            <a:off x="990295" y="5658307"/>
            <a:ext cx="133502" cy="152705"/>
          </a:xfrm>
          <a:prstGeom prst="rect">
            <a:avLst/>
          </a:prstGeom>
        </p:spPr>
      </p:pic>
      <p:sp>
        <p:nvSpPr>
          <p:cNvPr id="41" name="Text 26"/>
          <p:cNvSpPr txBox="1"/>
          <p:nvPr/>
        </p:nvSpPr>
        <p:spPr>
          <a:xfrm>
            <a:off x="1200607" y="5619902"/>
            <a:ext cx="10863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evaluate.py</a:t>
            </a:r>
            <a:endParaRPr lang="en-US" sz="1200" dirty="0"/>
          </a:p>
        </p:txBody>
      </p:sp>
      <p:sp>
        <p:nvSpPr>
          <p:cNvPr id="42" name="Text 27"/>
          <p:cNvSpPr txBox="1"/>
          <p:nvPr/>
        </p:nvSpPr>
        <p:spPr>
          <a:xfrm>
            <a:off x="2349094" y="5619902"/>
            <a:ext cx="19147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Metric calculation</a:t>
            </a:r>
            <a:endParaRPr lang="en-US" sz="1200" dirty="0"/>
          </a:p>
        </p:txBody>
      </p:sp>
      <p:sp>
        <p:nvSpPr>
          <p:cNvPr id="43" name="Shape 28"/>
          <p:cNvSpPr/>
          <p:nvPr/>
        </p:nvSpPr>
        <p:spPr>
          <a:xfrm>
            <a:off x="7429500" y="875995"/>
            <a:ext cx="4286707" cy="1380744"/>
          </a:xfrm>
          <a:prstGeom prst="roundRect">
            <a:avLst>
              <a:gd name="adj" fmla="val 36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4" name="Shape 29"/>
          <p:cNvSpPr/>
          <p:nvPr/>
        </p:nvSpPr>
        <p:spPr>
          <a:xfrm>
            <a:off x="7429500" y="875995"/>
            <a:ext cx="47549" cy="1380744"/>
          </a:xfrm>
          <a:prstGeom prst="roundRect">
            <a:avLst>
              <a:gd name="adj" fmla="val 1061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45" name="Image 13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667244" y="1119226"/>
            <a:ext cx="171907" cy="171907"/>
          </a:xfrm>
          <a:prstGeom prst="rect">
            <a:avLst/>
          </a:prstGeom>
        </p:spPr>
      </p:pic>
      <p:sp>
        <p:nvSpPr>
          <p:cNvPr id="46" name="Text 30"/>
          <p:cNvSpPr txBox="1"/>
          <p:nvPr/>
        </p:nvSpPr>
        <p:spPr>
          <a:xfrm>
            <a:off x="7934249" y="1076249"/>
            <a:ext cx="220370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40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Modular Architecture</a:t>
            </a:r>
            <a:endParaRPr lang="en-US" sz="1300" dirty="0"/>
          </a:p>
        </p:txBody>
      </p:sp>
      <p:sp>
        <p:nvSpPr>
          <p:cNvPr id="47" name="Text 31"/>
          <p:cNvSpPr txBox="1"/>
          <p:nvPr/>
        </p:nvSpPr>
        <p:spPr>
          <a:xfrm>
            <a:off x="7667244" y="1410005"/>
            <a:ext cx="3924605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Separation of concerns between environment logic, agent implementation, and configuration management allows for easier debugging and extension.</a:t>
            </a:r>
            <a:endParaRPr lang="en-US" sz="1100" dirty="0"/>
          </a:p>
        </p:txBody>
      </p:sp>
      <p:sp>
        <p:nvSpPr>
          <p:cNvPr id="48" name="Shape 32"/>
          <p:cNvSpPr/>
          <p:nvPr/>
        </p:nvSpPr>
        <p:spPr>
          <a:xfrm>
            <a:off x="7429500" y="2443277"/>
            <a:ext cx="4286707" cy="1162202"/>
          </a:xfrm>
          <a:prstGeom prst="roundRect">
            <a:avLst>
              <a:gd name="adj" fmla="val 51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9" name="Shape 33"/>
          <p:cNvSpPr/>
          <p:nvPr/>
        </p:nvSpPr>
        <p:spPr>
          <a:xfrm>
            <a:off x="7429500" y="2443277"/>
            <a:ext cx="47549" cy="1162202"/>
          </a:xfrm>
          <a:prstGeom prst="roundRect">
            <a:avLst>
              <a:gd name="adj" fmla="val 126103"/>
            </a:avLst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50" name="Image 14" descr="preencoded.png"/>
          <p:cNvPicPr>
            <a:picLocks noChangeAspect="1"/>
          </p:cNvPicPr>
          <p:nvPr/>
        </p:nvPicPr>
        <p:blipFill>
          <a:blip r:embed="rId8"/>
          <a:srcRect l="-760" r="-760"/>
          <a:stretch/>
        </p:blipFill>
        <p:spPr>
          <a:xfrm>
            <a:off x="7667244" y="2686507"/>
            <a:ext cx="152705" cy="171907"/>
          </a:xfrm>
          <a:prstGeom prst="rect">
            <a:avLst/>
          </a:prstGeom>
        </p:spPr>
      </p:pic>
      <p:sp>
        <p:nvSpPr>
          <p:cNvPr id="51" name="Text 34"/>
          <p:cNvSpPr txBox="1"/>
          <p:nvPr/>
        </p:nvSpPr>
        <p:spPr>
          <a:xfrm>
            <a:off x="7915046" y="2643530"/>
            <a:ext cx="220553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478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Production Standards</a:t>
            </a:r>
            <a:endParaRPr lang="en-US" sz="1300" dirty="0"/>
          </a:p>
        </p:txBody>
      </p:sp>
      <p:sp>
        <p:nvSpPr>
          <p:cNvPr id="52" name="Text 35"/>
          <p:cNvSpPr txBox="1"/>
          <p:nvPr/>
        </p:nvSpPr>
        <p:spPr>
          <a:xfrm>
            <a:off x="7667244" y="2976372"/>
            <a:ext cx="392460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Comprehensive </a:t>
            </a:r>
            <a:r>
              <a:rPr lang="en-US" sz="1100" b="1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Type Hints</a:t>
            </a:r>
            <a:r>
              <a:rPr lang="en-US" sz="11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</a:t>
            </a:r>
            <a:r>
              <a:rPr lang="en-US" sz="1100" b="1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Docstrings</a:t>
            </a:r>
            <a:r>
              <a:rPr lang="en-US" sz="11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across all modules ensuring code readability and maintainability.</a:t>
            </a:r>
            <a:endParaRPr lang="en-US" sz="1100" dirty="0"/>
          </a:p>
        </p:txBody>
      </p:sp>
      <p:sp>
        <p:nvSpPr>
          <p:cNvPr id="53" name="Shape 36"/>
          <p:cNvSpPr/>
          <p:nvPr/>
        </p:nvSpPr>
        <p:spPr>
          <a:xfrm>
            <a:off x="7429500" y="3795674"/>
            <a:ext cx="4286707" cy="1181405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4" name="Shape 37"/>
          <p:cNvSpPr/>
          <p:nvPr/>
        </p:nvSpPr>
        <p:spPr>
          <a:xfrm>
            <a:off x="7429500" y="3795674"/>
            <a:ext cx="47549" cy="1181405"/>
          </a:xfrm>
          <a:prstGeom prst="roundRect">
            <a:avLst>
              <a:gd name="adj" fmla="val 124069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55" name="Image 15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667244" y="4038905"/>
            <a:ext cx="171907" cy="171907"/>
          </a:xfrm>
          <a:prstGeom prst="rect">
            <a:avLst/>
          </a:prstGeom>
        </p:spPr>
      </p:pic>
      <p:sp>
        <p:nvSpPr>
          <p:cNvPr id="56" name="Text 38"/>
          <p:cNvSpPr txBox="1"/>
          <p:nvPr/>
        </p:nvSpPr>
        <p:spPr>
          <a:xfrm>
            <a:off x="7934249" y="3995928"/>
            <a:ext cx="143286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D28D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Config-Driven</a:t>
            </a:r>
            <a:endParaRPr lang="en-US" sz="1300" dirty="0"/>
          </a:p>
        </p:txBody>
      </p:sp>
      <p:sp>
        <p:nvSpPr>
          <p:cNvPr id="57" name="Text 39"/>
          <p:cNvSpPr txBox="1"/>
          <p:nvPr/>
        </p:nvSpPr>
        <p:spPr>
          <a:xfrm>
            <a:off x="7667244" y="4328770"/>
            <a:ext cx="392460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hyperparameters centralized in </a:t>
            </a:r>
            <a:r>
              <a:rPr lang="en-US" sz="1100" dirty="0">
                <a:solidFill>
                  <a:srgbClr val="4B556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config.py</a:t>
            </a:r>
            <a:r>
              <a:rPr lang="en-US" sz="11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using Dataclasses. No hardcoded magic numbers in logic files.</a:t>
            </a:r>
            <a:endParaRPr lang="en-US" sz="1100" dirty="0"/>
          </a:p>
        </p:txBody>
      </p:sp>
      <p:sp>
        <p:nvSpPr>
          <p:cNvPr id="58" name="Shape 40"/>
          <p:cNvSpPr/>
          <p:nvPr/>
        </p:nvSpPr>
        <p:spPr>
          <a:xfrm>
            <a:off x="7429500" y="5167274"/>
            <a:ext cx="4286707" cy="1162202"/>
          </a:xfrm>
          <a:prstGeom prst="roundRect">
            <a:avLst>
              <a:gd name="adj" fmla="val 51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9" name="Shape 41"/>
          <p:cNvSpPr/>
          <p:nvPr/>
        </p:nvSpPr>
        <p:spPr>
          <a:xfrm>
            <a:off x="7429500" y="5167274"/>
            <a:ext cx="47549" cy="1162202"/>
          </a:xfrm>
          <a:prstGeom prst="roundRect">
            <a:avLst>
              <a:gd name="adj" fmla="val 126103"/>
            </a:avLst>
          </a:prstGeom>
          <a:solidFill>
            <a:srgbClr val="DB2777"/>
          </a:solidFill>
          <a:ln w="12700">
            <a:solidFill>
              <a:srgbClr val="DB277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60" name="Image 16" descr="preencoded.png"/>
          <p:cNvPicPr>
            <a:picLocks noChangeAspect="1"/>
          </p:cNvPicPr>
          <p:nvPr/>
        </p:nvPicPr>
        <p:blipFill>
          <a:blip r:embed="rId10"/>
          <a:srcRect t="-842" b="-842"/>
          <a:stretch/>
        </p:blipFill>
        <p:spPr>
          <a:xfrm>
            <a:off x="7667244" y="5410505"/>
            <a:ext cx="190195" cy="171907"/>
          </a:xfrm>
          <a:prstGeom prst="rect">
            <a:avLst/>
          </a:prstGeom>
        </p:spPr>
      </p:pic>
      <p:sp>
        <p:nvSpPr>
          <p:cNvPr id="61" name="Text 42"/>
          <p:cNvSpPr txBox="1"/>
          <p:nvPr/>
        </p:nvSpPr>
        <p:spPr>
          <a:xfrm>
            <a:off x="7953451" y="5367528"/>
            <a:ext cx="232074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BE18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Modular Reward System</a:t>
            </a:r>
            <a:endParaRPr lang="en-US" sz="1300" dirty="0"/>
          </a:p>
        </p:txBody>
      </p:sp>
      <p:sp>
        <p:nvSpPr>
          <p:cNvPr id="62" name="Text 43"/>
          <p:cNvSpPr txBox="1"/>
          <p:nvPr/>
        </p:nvSpPr>
        <p:spPr>
          <a:xfrm>
            <a:off x="7667244" y="5700370"/>
            <a:ext cx="392460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Reward components implemented as separate private methods for granular testing and weight tuning.</a:t>
            </a:r>
            <a:endParaRPr lang="en-US" sz="1100" dirty="0"/>
          </a:p>
        </p:txBody>
      </p:sp>
      <p:sp>
        <p:nvSpPr>
          <p:cNvPr id="63" name="Shape 44"/>
          <p:cNvSpPr/>
          <p:nvPr/>
        </p:nvSpPr>
        <p:spPr>
          <a:xfrm>
            <a:off x="0" y="6710782"/>
            <a:ext cx="12191695" cy="181051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4" name="Shape 45"/>
          <p:cNvSpPr/>
          <p:nvPr/>
        </p:nvSpPr>
        <p:spPr>
          <a:xfrm>
            <a:off x="0" y="6710782"/>
            <a:ext cx="121916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5" name="Text 46"/>
          <p:cNvSpPr txBox="1"/>
          <p:nvPr/>
        </p:nvSpPr>
        <p:spPr>
          <a:xfrm>
            <a:off x="476402" y="6719926"/>
            <a:ext cx="25054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Production-Grade Python Implementation</a:t>
            </a:r>
            <a:endParaRPr lang="en-US" sz="900" dirty="0"/>
          </a:p>
        </p:txBody>
      </p:sp>
      <p:sp>
        <p:nvSpPr>
          <p:cNvPr id="66" name="Text 47"/>
          <p:cNvSpPr txBox="1"/>
          <p:nvPr/>
        </p:nvSpPr>
        <p:spPr>
          <a:xfrm>
            <a:off x="11310214" y="6719926"/>
            <a:ext cx="48829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0" y="761695"/>
            <a:ext cx="12191695" cy="5810098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476402" y="1143000"/>
            <a:ext cx="38405" cy="25694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 txBox="1"/>
          <p:nvPr/>
        </p:nvSpPr>
        <p:spPr>
          <a:xfrm>
            <a:off x="657454" y="1143000"/>
            <a:ext cx="11744554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development process revealed critical lessons in reward engineering and RL system design that go beyond simple parameter tuning.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l="-13" r="-13"/>
          <a:stretch/>
        </p:blipFill>
        <p:spPr>
          <a:xfrm>
            <a:off x="476402" y="1686154"/>
            <a:ext cx="3588106" cy="21332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66598" y="1914754"/>
            <a:ext cx="267005" cy="267005"/>
          </a:xfrm>
          <a:prstGeom prst="rect">
            <a:avLst/>
          </a:prstGeom>
          <a:noFill/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6"/>
          <p:cNvSpPr/>
          <p:nvPr/>
        </p:nvSpPr>
        <p:spPr>
          <a:xfrm>
            <a:off x="666598" y="1914754"/>
            <a:ext cx="267005" cy="267005"/>
          </a:xfrm>
          <a:prstGeom prst="rect">
            <a:avLst/>
          </a:prstGeom>
          <a:solidFill>
            <a:srgbClr val="E0E7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40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047902" y="1948586"/>
            <a:ext cx="22329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Simplicity &gt; Complexity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66598" y="2295144"/>
            <a:ext cx="32863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initial 12+ component reward function was impossible to debug. Reducing to core components per stage made behavior predictable and identifiable.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66598" y="3319272"/>
            <a:ext cx="3209544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0"/>
          <p:cNvSpPr txBox="1"/>
          <p:nvPr/>
        </p:nvSpPr>
        <p:spPr>
          <a:xfrm>
            <a:off x="819302" y="3442716"/>
            <a:ext cx="3133649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596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Design for debuggability </a:t>
            </a:r>
            <a:endParaRPr lang="en-US" sz="9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 l="-1358" r="-1358"/>
          <a:stretch/>
        </p:blipFill>
        <p:spPr>
          <a:xfrm>
            <a:off x="666598" y="3473806"/>
            <a:ext cx="95098" cy="123444"/>
          </a:xfrm>
          <a:prstGeom prst="rect">
            <a:avLst/>
          </a:prstGeom>
        </p:spPr>
      </p:pic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rcRect l="-11" r="-11"/>
          <a:stretch/>
        </p:blipFill>
        <p:spPr>
          <a:xfrm>
            <a:off x="4302252" y="1686154"/>
            <a:ext cx="3588106" cy="2133295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492447" y="1914754"/>
            <a:ext cx="267005" cy="267005"/>
          </a:xfrm>
          <a:prstGeom prst="rect">
            <a:avLst/>
          </a:prstGeom>
          <a:noFill/>
          <a:ln/>
        </p:spPr>
        <p:txBody>
          <a:bodyPr/>
          <a:lstStyle/>
          <a:p>
            <a:endParaRPr lang="tr-TR"/>
          </a:p>
        </p:txBody>
      </p:sp>
      <p:sp>
        <p:nvSpPr>
          <p:cNvPr id="17" name="Text 12"/>
          <p:cNvSpPr/>
          <p:nvPr/>
        </p:nvSpPr>
        <p:spPr>
          <a:xfrm>
            <a:off x="4492447" y="1914754"/>
            <a:ext cx="267005" cy="267005"/>
          </a:xfrm>
          <a:prstGeom prst="rect">
            <a:avLst/>
          </a:prstGeom>
          <a:solidFill>
            <a:srgbClr val="E0E7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40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4873752" y="1948586"/>
            <a:ext cx="254477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Reward Progress, Not State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4492447" y="2295144"/>
            <a:ext cx="32863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Fixed bonuses for "being in a good state" led to exploitation. Using delta-proportional rewards (rewarding </a:t>
            </a:r>
            <a:r>
              <a:rPr lang="en-US" sz="1000" i="1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change</a:t>
            </a: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 incentivized continuous improvement. 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492447" y="3319272"/>
            <a:ext cx="3209544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6"/>
          <p:cNvSpPr txBox="1"/>
          <p:nvPr/>
        </p:nvSpPr>
        <p:spPr>
          <a:xfrm>
            <a:off x="4673498" y="3442716"/>
            <a:ext cx="3105302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596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Always use deltas (Δ) </a:t>
            </a:r>
            <a:endParaRPr lang="en-US" sz="9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492447" y="3473806"/>
            <a:ext cx="123444" cy="123444"/>
          </a:xfrm>
          <a:prstGeom prst="rect">
            <a:avLst/>
          </a:prstGeom>
        </p:spPr>
      </p:pic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rcRect l="-13" r="-13"/>
          <a:stretch/>
        </p:blipFill>
        <p:spPr>
          <a:xfrm>
            <a:off x="8128102" y="1686154"/>
            <a:ext cx="3588106" cy="2133295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8318297" y="1914754"/>
            <a:ext cx="267005" cy="267005"/>
          </a:xfrm>
          <a:prstGeom prst="rect">
            <a:avLst/>
          </a:prstGeom>
          <a:noFill/>
          <a:ln/>
        </p:spPr>
        <p:txBody>
          <a:bodyPr/>
          <a:lstStyle/>
          <a:p>
            <a:endParaRPr lang="tr-TR"/>
          </a:p>
        </p:txBody>
      </p:sp>
      <p:sp>
        <p:nvSpPr>
          <p:cNvPr id="25" name="Text 18"/>
          <p:cNvSpPr/>
          <p:nvPr/>
        </p:nvSpPr>
        <p:spPr>
          <a:xfrm>
            <a:off x="8318297" y="1914754"/>
            <a:ext cx="267005" cy="267005"/>
          </a:xfrm>
          <a:prstGeom prst="rect">
            <a:avLst/>
          </a:prstGeom>
          <a:solidFill>
            <a:srgbClr val="E0E7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40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000" dirty="0"/>
          </a:p>
        </p:txBody>
      </p:sp>
      <p:sp>
        <p:nvSpPr>
          <p:cNvPr id="26" name="Text 19"/>
          <p:cNvSpPr txBox="1"/>
          <p:nvPr/>
        </p:nvSpPr>
        <p:spPr>
          <a:xfrm>
            <a:off x="8699602" y="1948586"/>
            <a:ext cx="29818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Explicitly Prevent Local Minima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8318297" y="2295144"/>
            <a:ext cx="32863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agent found a "false attractor" by standing still at a safe distance. We had to add explicit penalties for stagnation and lack of progress to force movement.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8318297" y="3319272"/>
            <a:ext cx="3209544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Text 22"/>
          <p:cNvSpPr txBox="1"/>
          <p:nvPr/>
        </p:nvSpPr>
        <p:spPr>
          <a:xfrm>
            <a:off x="8499348" y="3442716"/>
            <a:ext cx="3105302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596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Anticipate false attractors </a:t>
            </a:r>
            <a:endParaRPr lang="en-US" sz="900" dirty="0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318297" y="3473806"/>
            <a:ext cx="123444" cy="123444"/>
          </a:xfrm>
          <a:prstGeom prst="rect">
            <a:avLst/>
          </a:prstGeom>
        </p:spPr>
      </p:pic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9"/>
          <a:srcRect l="-13" r="-13"/>
          <a:stretch/>
        </p:blipFill>
        <p:spPr>
          <a:xfrm>
            <a:off x="476402" y="4058107"/>
            <a:ext cx="3588106" cy="2133295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666598" y="4286707"/>
            <a:ext cx="267005" cy="267005"/>
          </a:xfrm>
          <a:prstGeom prst="rect">
            <a:avLst/>
          </a:prstGeom>
          <a:noFill/>
          <a:ln/>
        </p:spPr>
        <p:txBody>
          <a:bodyPr/>
          <a:lstStyle/>
          <a:p>
            <a:endParaRPr lang="tr-TR"/>
          </a:p>
        </p:txBody>
      </p:sp>
      <p:sp>
        <p:nvSpPr>
          <p:cNvPr id="33" name="Text 24"/>
          <p:cNvSpPr/>
          <p:nvPr/>
        </p:nvSpPr>
        <p:spPr>
          <a:xfrm>
            <a:off x="666598" y="4286707"/>
            <a:ext cx="267005" cy="267005"/>
          </a:xfrm>
          <a:prstGeom prst="rect">
            <a:avLst/>
          </a:prstGeom>
          <a:solidFill>
            <a:srgbClr val="E0E7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40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endParaRPr lang="en-US" sz="1000" dirty="0"/>
          </a:p>
        </p:txBody>
      </p:sp>
      <p:sp>
        <p:nvSpPr>
          <p:cNvPr id="34" name="Text 25"/>
          <p:cNvSpPr txBox="1"/>
          <p:nvPr/>
        </p:nvSpPr>
        <p:spPr>
          <a:xfrm>
            <a:off x="1047902" y="4320540"/>
            <a:ext cx="204094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Priorities via Weights</a:t>
            </a:r>
            <a:endParaRPr lang="en-US" sz="1200" dirty="0"/>
          </a:p>
        </p:txBody>
      </p:sp>
      <p:sp>
        <p:nvSpPr>
          <p:cNvPr id="35" name="Text 26"/>
          <p:cNvSpPr txBox="1"/>
          <p:nvPr/>
        </p:nvSpPr>
        <p:spPr>
          <a:xfrm>
            <a:off x="666598" y="4667098"/>
            <a:ext cx="32863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agent ignored Y-positioning because the penalty (5.0) was weak compared to angle (50.0). Boosting critical dimensions to 20.0 forced learning.</a:t>
            </a:r>
            <a:endParaRPr lang="en-US" sz="1000" dirty="0"/>
          </a:p>
        </p:txBody>
      </p:sp>
      <p:sp>
        <p:nvSpPr>
          <p:cNvPr id="36" name="Shape 27"/>
          <p:cNvSpPr/>
          <p:nvPr/>
        </p:nvSpPr>
        <p:spPr>
          <a:xfrm>
            <a:off x="666598" y="5691226"/>
            <a:ext cx="3209544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7" name="Text 28"/>
          <p:cNvSpPr txBox="1"/>
          <p:nvPr/>
        </p:nvSpPr>
        <p:spPr>
          <a:xfrm>
            <a:off x="875995" y="5814670"/>
            <a:ext cx="3076956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596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Weight reflects priority </a:t>
            </a:r>
            <a:endParaRPr lang="en-US" sz="900" dirty="0"/>
          </a:p>
        </p:txBody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10"/>
          <a:srcRect t="-524" b="-524"/>
          <a:stretch/>
        </p:blipFill>
        <p:spPr>
          <a:xfrm>
            <a:off x="666598" y="5845759"/>
            <a:ext cx="152705" cy="123444"/>
          </a:xfrm>
          <a:prstGeom prst="rect">
            <a:avLst/>
          </a:prstGeom>
        </p:spPr>
      </p:pic>
      <p:pic>
        <p:nvPicPr>
          <p:cNvPr id="39" name="Image 8" descr="preencoded.png"/>
          <p:cNvPicPr>
            <a:picLocks noChangeAspect="1"/>
          </p:cNvPicPr>
          <p:nvPr/>
        </p:nvPicPr>
        <p:blipFill>
          <a:blip r:embed="rId11"/>
          <a:srcRect l="-11" r="-11"/>
          <a:stretch/>
        </p:blipFill>
        <p:spPr>
          <a:xfrm>
            <a:off x="4302252" y="4058107"/>
            <a:ext cx="3588106" cy="2133295"/>
          </a:xfrm>
          <a:prstGeom prst="rect">
            <a:avLst/>
          </a:prstGeom>
        </p:spPr>
      </p:pic>
      <p:sp>
        <p:nvSpPr>
          <p:cNvPr id="40" name="Shape 29"/>
          <p:cNvSpPr/>
          <p:nvPr/>
        </p:nvSpPr>
        <p:spPr>
          <a:xfrm>
            <a:off x="4492447" y="4286707"/>
            <a:ext cx="267005" cy="267005"/>
          </a:xfrm>
          <a:prstGeom prst="rect">
            <a:avLst/>
          </a:prstGeom>
          <a:noFill/>
          <a:ln/>
        </p:spPr>
        <p:txBody>
          <a:bodyPr/>
          <a:lstStyle/>
          <a:p>
            <a:endParaRPr lang="tr-TR"/>
          </a:p>
        </p:txBody>
      </p:sp>
      <p:sp>
        <p:nvSpPr>
          <p:cNvPr id="41" name="Text 30"/>
          <p:cNvSpPr/>
          <p:nvPr/>
        </p:nvSpPr>
        <p:spPr>
          <a:xfrm>
            <a:off x="4492447" y="4286707"/>
            <a:ext cx="267005" cy="267005"/>
          </a:xfrm>
          <a:prstGeom prst="rect">
            <a:avLst/>
          </a:prstGeom>
          <a:solidFill>
            <a:srgbClr val="E0E7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40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endParaRPr lang="en-US" sz="1000" dirty="0"/>
          </a:p>
        </p:txBody>
      </p:sp>
      <p:sp>
        <p:nvSpPr>
          <p:cNvPr id="42" name="Text 31"/>
          <p:cNvSpPr txBox="1"/>
          <p:nvPr/>
        </p:nvSpPr>
        <p:spPr>
          <a:xfrm>
            <a:off x="4873752" y="4320540"/>
            <a:ext cx="234817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Exploration Needs Safety</a:t>
            </a:r>
            <a:endParaRPr lang="en-US" sz="1200" dirty="0"/>
          </a:p>
        </p:txBody>
      </p:sp>
      <p:sp>
        <p:nvSpPr>
          <p:cNvPr id="43" name="Text 32"/>
          <p:cNvSpPr txBox="1"/>
          <p:nvPr/>
        </p:nvSpPr>
        <p:spPr>
          <a:xfrm>
            <a:off x="4492447" y="4667098"/>
            <a:ext cx="32863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Early training failed when penalties were too harsh. Implementing reward floors and weaker constraints in early stages allowed necessary exploration.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4492447" y="5691226"/>
            <a:ext cx="3209544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5" name="Text 34"/>
          <p:cNvSpPr txBox="1"/>
          <p:nvPr/>
        </p:nvSpPr>
        <p:spPr>
          <a:xfrm>
            <a:off x="4701845" y="5814670"/>
            <a:ext cx="3076956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596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Don't crush exploration </a:t>
            </a:r>
            <a:endParaRPr lang="en-US" sz="900" dirty="0"/>
          </a:p>
        </p:txBody>
      </p:sp>
      <p:pic>
        <p:nvPicPr>
          <p:cNvPr id="46" name="Image 9" descr="preencoded.png"/>
          <p:cNvPicPr>
            <a:picLocks noChangeAspect="1"/>
          </p:cNvPicPr>
          <p:nvPr/>
        </p:nvPicPr>
        <p:blipFill>
          <a:blip r:embed="rId12"/>
          <a:srcRect t="-524" b="-524"/>
          <a:stretch/>
        </p:blipFill>
        <p:spPr>
          <a:xfrm>
            <a:off x="4492447" y="5845759"/>
            <a:ext cx="152705" cy="123444"/>
          </a:xfrm>
          <a:prstGeom prst="rect">
            <a:avLst/>
          </a:prstGeom>
        </p:spPr>
      </p:pic>
      <p:pic>
        <p:nvPicPr>
          <p:cNvPr id="47" name="Image 10" descr="preencoded.png"/>
          <p:cNvPicPr>
            <a:picLocks noChangeAspect="1"/>
          </p:cNvPicPr>
          <p:nvPr/>
        </p:nvPicPr>
        <p:blipFill>
          <a:blip r:embed="rId13"/>
          <a:srcRect l="-13" r="-13"/>
          <a:stretch/>
        </p:blipFill>
        <p:spPr>
          <a:xfrm>
            <a:off x="8128102" y="4058107"/>
            <a:ext cx="3588106" cy="2133295"/>
          </a:xfrm>
          <a:prstGeom prst="rect">
            <a:avLst/>
          </a:prstGeom>
        </p:spPr>
      </p:pic>
      <p:sp>
        <p:nvSpPr>
          <p:cNvPr id="48" name="Shape 35"/>
          <p:cNvSpPr/>
          <p:nvPr/>
        </p:nvSpPr>
        <p:spPr>
          <a:xfrm>
            <a:off x="8318297" y="4286707"/>
            <a:ext cx="267005" cy="267005"/>
          </a:xfrm>
          <a:prstGeom prst="rect">
            <a:avLst/>
          </a:prstGeom>
          <a:noFill/>
          <a:ln/>
        </p:spPr>
        <p:txBody>
          <a:bodyPr/>
          <a:lstStyle/>
          <a:p>
            <a:endParaRPr lang="tr-TR"/>
          </a:p>
        </p:txBody>
      </p:sp>
      <p:sp>
        <p:nvSpPr>
          <p:cNvPr id="49" name="Text 36"/>
          <p:cNvSpPr/>
          <p:nvPr/>
        </p:nvSpPr>
        <p:spPr>
          <a:xfrm>
            <a:off x="8318297" y="4286707"/>
            <a:ext cx="267005" cy="267005"/>
          </a:xfrm>
          <a:prstGeom prst="rect">
            <a:avLst/>
          </a:prstGeom>
          <a:solidFill>
            <a:srgbClr val="E0E7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40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</a:t>
            </a:r>
            <a:endParaRPr lang="en-US" sz="1000" dirty="0"/>
          </a:p>
        </p:txBody>
      </p:sp>
      <p:sp>
        <p:nvSpPr>
          <p:cNvPr id="50" name="Text 37"/>
          <p:cNvSpPr txBox="1"/>
          <p:nvPr/>
        </p:nvSpPr>
        <p:spPr>
          <a:xfrm>
            <a:off x="8699602" y="4320540"/>
            <a:ext cx="230154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Design for Observability</a:t>
            </a:r>
            <a:endParaRPr lang="en-US" sz="1200" dirty="0"/>
          </a:p>
        </p:txBody>
      </p:sp>
      <p:sp>
        <p:nvSpPr>
          <p:cNvPr id="51" name="Text 38"/>
          <p:cNvSpPr txBox="1"/>
          <p:nvPr/>
        </p:nvSpPr>
        <p:spPr>
          <a:xfrm>
            <a:off x="8318297" y="4667098"/>
            <a:ext cx="32863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 couldn't fix what we couldn't see. Adding detailed logging, stage tracking, and reward component breakdowns was crucial for the final breakthrough.</a:t>
            </a:r>
            <a:endParaRPr lang="en-US" sz="1000" dirty="0"/>
          </a:p>
        </p:txBody>
      </p:sp>
      <p:sp>
        <p:nvSpPr>
          <p:cNvPr id="52" name="Shape 39"/>
          <p:cNvSpPr/>
          <p:nvPr/>
        </p:nvSpPr>
        <p:spPr>
          <a:xfrm>
            <a:off x="8318297" y="5691226"/>
            <a:ext cx="3209544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3" name="Text 40"/>
          <p:cNvSpPr txBox="1"/>
          <p:nvPr/>
        </p:nvSpPr>
        <p:spPr>
          <a:xfrm>
            <a:off x="8518550" y="5814670"/>
            <a:ext cx="3086100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596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Log everything </a:t>
            </a:r>
            <a:endParaRPr lang="en-US" sz="900" dirty="0"/>
          </a:p>
        </p:txBody>
      </p:sp>
      <p:pic>
        <p:nvPicPr>
          <p:cNvPr id="54" name="Image 11" descr="preencoded.png"/>
          <p:cNvPicPr>
            <a:picLocks noChangeAspect="1"/>
          </p:cNvPicPr>
          <p:nvPr/>
        </p:nvPicPr>
        <p:blipFill>
          <a:blip r:embed="rId14"/>
          <a:srcRect l="-1358" r="-1358"/>
          <a:stretch/>
        </p:blipFill>
        <p:spPr>
          <a:xfrm>
            <a:off x="8318297" y="5845759"/>
            <a:ext cx="142646" cy="123444"/>
          </a:xfrm>
          <a:prstGeom prst="rect">
            <a:avLst/>
          </a:prstGeom>
        </p:spPr>
      </p:pic>
      <p:sp>
        <p:nvSpPr>
          <p:cNvPr id="55" name="Shape 41"/>
          <p:cNvSpPr/>
          <p:nvPr/>
        </p:nvSpPr>
        <p:spPr>
          <a:xfrm>
            <a:off x="0" y="6572707"/>
            <a:ext cx="12191695" cy="286207"/>
          </a:xfrm>
          <a:prstGeom prst="rect">
            <a:avLst/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6" name="Text 42"/>
          <p:cNvSpPr txBox="1"/>
          <p:nvPr/>
        </p:nvSpPr>
        <p:spPr>
          <a:xfrm>
            <a:off x="476402" y="6629400"/>
            <a:ext cx="216529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Project Retrospective • Key Lessons</a:t>
            </a:r>
            <a:endParaRPr lang="en-US" sz="900" dirty="0"/>
          </a:p>
        </p:txBody>
      </p:sp>
      <p:sp>
        <p:nvSpPr>
          <p:cNvPr id="57" name="Text 43"/>
          <p:cNvSpPr txBox="1"/>
          <p:nvPr/>
        </p:nvSpPr>
        <p:spPr>
          <a:xfrm>
            <a:off x="11310214" y="6629400"/>
            <a:ext cx="48829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12</a:t>
            </a:r>
            <a:endParaRPr lang="en-US" sz="900" dirty="0"/>
          </a:p>
        </p:txBody>
      </p:sp>
      <p:sp>
        <p:nvSpPr>
          <p:cNvPr id="58" name="Shape 44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9" name="Text 45"/>
          <p:cNvSpPr txBox="1"/>
          <p:nvPr/>
        </p:nvSpPr>
        <p:spPr>
          <a:xfrm>
            <a:off x="476402" y="152705"/>
            <a:ext cx="57835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Learned - Key Insights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0" y="761695"/>
            <a:ext cx="12191695" cy="5715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571500" y="1143000"/>
            <a:ext cx="3333902" cy="4953305"/>
          </a:xfrm>
          <a:prstGeom prst="roundRect">
            <a:avLst>
              <a:gd name="adj" fmla="val 94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809244" y="1809598"/>
            <a:ext cx="2857500" cy="1920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l="-989999" r="-989999"/>
          <a:stretch/>
        </p:blipFill>
        <p:spPr>
          <a:xfrm>
            <a:off x="809244" y="1518818"/>
            <a:ext cx="190195" cy="91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95451" y="1380744"/>
            <a:ext cx="198150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596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Worked Well</a:t>
            </a:r>
            <a:endParaRPr lang="en-US" sz="15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 t="-556" b="-556"/>
          <a:stretch/>
        </p:blipFill>
        <p:spPr>
          <a:xfrm>
            <a:off x="809244" y="2048256"/>
            <a:ext cx="123444" cy="14264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04849" y="2018995"/>
            <a:ext cx="2438705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Staged Reward System:</a:t>
            </a:r>
            <a:r>
              <a:rPr lang="en-US" sz="11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Breaking the task into Approach → Y-Align → Entry phases simplified learning.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rcRect t="-556" b="-556"/>
          <a:stretch/>
        </p:blipFill>
        <p:spPr>
          <a:xfrm>
            <a:off x="809244" y="2833726"/>
            <a:ext cx="123444" cy="14264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304849" y="2805379"/>
            <a:ext cx="2438705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Delta Bonuses:</a:t>
            </a:r>
            <a:r>
              <a:rPr lang="en-US" sz="11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Rewarding improvement (Δ) instead of state prevented exploitation.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rcRect t="-556" b="-556"/>
          <a:stretch/>
        </p:blipFill>
        <p:spPr>
          <a:xfrm>
            <a:off x="809244" y="3619195"/>
            <a:ext cx="123444" cy="142646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304849" y="3590849"/>
            <a:ext cx="2438705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Deadlock Detection:</a:t>
            </a:r>
            <a:r>
              <a:rPr lang="en-US" sz="11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Automatically terminating stuck episodes saved training time.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4"/>
          <a:srcRect t="-556" b="-556"/>
          <a:stretch/>
        </p:blipFill>
        <p:spPr>
          <a:xfrm>
            <a:off x="809244" y="4405579"/>
            <a:ext cx="123444" cy="142646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304849" y="4376318"/>
            <a:ext cx="243870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Curriculum:</a:t>
            </a:r>
            <a:r>
              <a:rPr lang="en-US" sz="11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Progressive spawn difficulty helped early stabilization.</a:t>
            </a:r>
            <a:endParaRPr lang="en-US" sz="1100" dirty="0"/>
          </a:p>
        </p:txBody>
      </p:sp>
      <p:sp>
        <p:nvSpPr>
          <p:cNvPr id="17" name="Shape 10"/>
          <p:cNvSpPr/>
          <p:nvPr/>
        </p:nvSpPr>
        <p:spPr>
          <a:xfrm>
            <a:off x="4095598" y="1143000"/>
            <a:ext cx="3333902" cy="4953305"/>
          </a:xfrm>
          <a:prstGeom prst="roundRect">
            <a:avLst>
              <a:gd name="adj" fmla="val 94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8" name="Shape 11"/>
          <p:cNvSpPr/>
          <p:nvPr/>
        </p:nvSpPr>
        <p:spPr>
          <a:xfrm>
            <a:off x="4334256" y="1809598"/>
            <a:ext cx="2857500" cy="1920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5"/>
          <a:srcRect l="-989999" r="-989999"/>
          <a:stretch/>
        </p:blipFill>
        <p:spPr>
          <a:xfrm>
            <a:off x="4334256" y="1518818"/>
            <a:ext cx="190195" cy="9144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4619549" y="1380744"/>
            <a:ext cx="188275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DC26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Didn't Work</a:t>
            </a:r>
            <a:endParaRPr lang="en-US" sz="15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6"/>
          <a:srcRect t="-870" b="-870"/>
          <a:stretch/>
        </p:blipFill>
        <p:spPr>
          <a:xfrm>
            <a:off x="4334256" y="2048256"/>
            <a:ext cx="105156" cy="142646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4809744" y="2018995"/>
            <a:ext cx="2457907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Over-Complex Rewards:</a:t>
            </a:r>
            <a:r>
              <a:rPr lang="en-US" sz="11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Initial 12+ component function was undebuggable chaos.</a:t>
            </a:r>
            <a:endParaRPr lang="en-US" sz="1100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6"/>
          <a:srcRect t="-870" b="-870"/>
          <a:stretch/>
        </p:blipFill>
        <p:spPr>
          <a:xfrm>
            <a:off x="4334256" y="2833726"/>
            <a:ext cx="105156" cy="142646"/>
          </a:xfrm>
          <a:prstGeom prst="rect">
            <a:avLst/>
          </a:prstGeom>
        </p:spPr>
      </p:pic>
      <p:sp>
        <p:nvSpPr>
          <p:cNvPr id="24" name="Text 14"/>
          <p:cNvSpPr txBox="1"/>
          <p:nvPr/>
        </p:nvSpPr>
        <p:spPr>
          <a:xfrm>
            <a:off x="4809744" y="2805379"/>
            <a:ext cx="2457907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Fixed Bonuses:</a:t>
            </a:r>
            <a:r>
              <a:rPr lang="en-US" sz="11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Providing constant reward for "being close" created false attractors.</a:t>
            </a:r>
            <a:endParaRPr lang="en-US" sz="1100" dirty="0"/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6"/>
          <a:srcRect t="-870" b="-870"/>
          <a:stretch/>
        </p:blipFill>
        <p:spPr>
          <a:xfrm>
            <a:off x="4334256" y="3619195"/>
            <a:ext cx="105156" cy="142646"/>
          </a:xfrm>
          <a:prstGeom prst="rect">
            <a:avLst/>
          </a:prstGeom>
        </p:spPr>
      </p:pic>
      <p:sp>
        <p:nvSpPr>
          <p:cNvPr id="26" name="Text 15"/>
          <p:cNvSpPr txBox="1"/>
          <p:nvPr/>
        </p:nvSpPr>
        <p:spPr>
          <a:xfrm>
            <a:off x="4809744" y="3590849"/>
            <a:ext cx="2457907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Weak Y-Penalty:</a:t>
            </a:r>
            <a:r>
              <a:rPr lang="en-US" sz="11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Initial weight (5.0) was ignored in favor of angle optimization (50.0).</a:t>
            </a:r>
            <a:endParaRPr lang="en-US" sz="1100" dirty="0"/>
          </a:p>
        </p:txBody>
      </p:sp>
      <p:sp>
        <p:nvSpPr>
          <p:cNvPr id="27" name="Shape 16"/>
          <p:cNvSpPr/>
          <p:nvPr/>
        </p:nvSpPr>
        <p:spPr>
          <a:xfrm>
            <a:off x="7810805" y="1143000"/>
            <a:ext cx="3810305" cy="1857146"/>
          </a:xfrm>
          <a:prstGeom prst="roundRect">
            <a:avLst>
              <a:gd name="adj" fmla="val 3030"/>
            </a:avLst>
          </a:prstGeom>
          <a:solidFill>
            <a:srgbClr val="FFF7ED"/>
          </a:solidFill>
          <a:ln w="12700">
            <a:solidFill>
              <a:srgbClr val="FFEDD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Text 17"/>
          <p:cNvSpPr txBox="1"/>
          <p:nvPr/>
        </p:nvSpPr>
        <p:spPr>
          <a:xfrm>
            <a:off x="8238744" y="1343254"/>
            <a:ext cx="32964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Current Constraints </a:t>
            </a:r>
            <a:endParaRPr lang="en-US" sz="1200" dirty="0"/>
          </a:p>
        </p:txBody>
      </p:sp>
      <p:pic>
        <p:nvPicPr>
          <p:cNvPr id="29" name="Image 9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010144" y="1380744"/>
            <a:ext cx="152705" cy="152705"/>
          </a:xfrm>
          <a:prstGeom prst="rect">
            <a:avLst/>
          </a:prstGeom>
        </p:spPr>
      </p:pic>
      <p:sp>
        <p:nvSpPr>
          <p:cNvPr id="30" name="Shape 18"/>
          <p:cNvSpPr/>
          <p:nvPr/>
        </p:nvSpPr>
        <p:spPr>
          <a:xfrm>
            <a:off x="8010144" y="1666951"/>
            <a:ext cx="1362456" cy="286207"/>
          </a:xfrm>
          <a:prstGeom prst="rect">
            <a:avLst/>
          </a:prstGeom>
          <a:noFill/>
          <a:ln/>
        </p:spPr>
        <p:txBody>
          <a:bodyPr/>
          <a:lstStyle/>
          <a:p>
            <a:endParaRPr lang="tr-TR"/>
          </a:p>
        </p:txBody>
      </p:sp>
      <p:sp>
        <p:nvSpPr>
          <p:cNvPr id="31" name="Text 19"/>
          <p:cNvSpPr/>
          <p:nvPr/>
        </p:nvSpPr>
        <p:spPr>
          <a:xfrm>
            <a:off x="8307324" y="1666951"/>
            <a:ext cx="1065276" cy="286207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C2410C">
                <a:alpha val="2000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A341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Limited Compute</a:t>
            </a:r>
            <a:endParaRPr lang="en-US" sz="900" dirty="0"/>
          </a:p>
        </p:txBody>
      </p:sp>
      <p:pic>
        <p:nvPicPr>
          <p:cNvPr id="32" name="Image 10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115300" y="1739189"/>
            <a:ext cx="123444" cy="123444"/>
          </a:xfrm>
          <a:prstGeom prst="rect">
            <a:avLst/>
          </a:prstGeom>
        </p:spPr>
      </p:pic>
      <p:sp>
        <p:nvSpPr>
          <p:cNvPr id="33" name="Shape 20"/>
          <p:cNvSpPr/>
          <p:nvPr/>
        </p:nvSpPr>
        <p:spPr>
          <a:xfrm>
            <a:off x="9440266" y="1666951"/>
            <a:ext cx="1095451" cy="286207"/>
          </a:xfrm>
          <a:prstGeom prst="rect">
            <a:avLst/>
          </a:prstGeom>
          <a:noFill/>
          <a:ln/>
        </p:spPr>
        <p:txBody>
          <a:bodyPr/>
          <a:lstStyle/>
          <a:p>
            <a:endParaRPr lang="tr-TR"/>
          </a:p>
        </p:txBody>
      </p:sp>
      <p:sp>
        <p:nvSpPr>
          <p:cNvPr id="34" name="Text 21"/>
          <p:cNvSpPr/>
          <p:nvPr/>
        </p:nvSpPr>
        <p:spPr>
          <a:xfrm>
            <a:off x="9718243" y="1666951"/>
            <a:ext cx="817474" cy="286207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C2410C">
                <a:alpha val="2000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A341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~300k Steps</a:t>
            </a:r>
            <a:endParaRPr lang="en-US" sz="900" dirty="0"/>
          </a:p>
        </p:txBody>
      </p:sp>
      <p:pic>
        <p:nvPicPr>
          <p:cNvPr id="35" name="Image 11" descr="preencoded.png"/>
          <p:cNvPicPr>
            <a:picLocks noChangeAspect="1"/>
          </p:cNvPicPr>
          <p:nvPr/>
        </p:nvPicPr>
        <p:blipFill>
          <a:blip r:embed="rId9"/>
          <a:srcRect t="-1359" b="-1359"/>
          <a:stretch/>
        </p:blipFill>
        <p:spPr>
          <a:xfrm>
            <a:off x="9544507" y="1739189"/>
            <a:ext cx="105156" cy="123444"/>
          </a:xfrm>
          <a:prstGeom prst="rect">
            <a:avLst/>
          </a:prstGeom>
        </p:spPr>
      </p:pic>
      <p:sp>
        <p:nvSpPr>
          <p:cNvPr id="36" name="Shape 22"/>
          <p:cNvSpPr/>
          <p:nvPr/>
        </p:nvSpPr>
        <p:spPr>
          <a:xfrm>
            <a:off x="8010144" y="2024482"/>
            <a:ext cx="1057046" cy="286207"/>
          </a:xfrm>
          <a:prstGeom prst="rect">
            <a:avLst/>
          </a:prstGeom>
          <a:noFill/>
          <a:ln/>
        </p:spPr>
        <p:txBody>
          <a:bodyPr/>
          <a:lstStyle/>
          <a:p>
            <a:endParaRPr lang="tr-TR"/>
          </a:p>
        </p:txBody>
      </p:sp>
      <p:sp>
        <p:nvSpPr>
          <p:cNvPr id="37" name="Text 23"/>
          <p:cNvSpPr/>
          <p:nvPr/>
        </p:nvSpPr>
        <p:spPr>
          <a:xfrm>
            <a:off x="8307324" y="2024482"/>
            <a:ext cx="760781" cy="286207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C2410C">
                <a:alpha val="2000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A341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Single Seed</a:t>
            </a:r>
            <a:endParaRPr lang="en-US" sz="900" dirty="0"/>
          </a:p>
        </p:txBody>
      </p:sp>
      <p:pic>
        <p:nvPicPr>
          <p:cNvPr id="38" name="Image 12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115300" y="2096719"/>
            <a:ext cx="123444" cy="123444"/>
          </a:xfrm>
          <a:prstGeom prst="rect">
            <a:avLst/>
          </a:prstGeom>
        </p:spPr>
      </p:pic>
      <p:sp>
        <p:nvSpPr>
          <p:cNvPr id="39" name="Shape 24"/>
          <p:cNvSpPr/>
          <p:nvPr/>
        </p:nvSpPr>
        <p:spPr>
          <a:xfrm>
            <a:off x="9140342" y="2024482"/>
            <a:ext cx="1295705" cy="286207"/>
          </a:xfrm>
          <a:prstGeom prst="rect">
            <a:avLst/>
          </a:prstGeom>
          <a:noFill/>
          <a:ln/>
        </p:spPr>
        <p:txBody>
          <a:bodyPr/>
          <a:lstStyle/>
          <a:p>
            <a:endParaRPr lang="tr-TR"/>
          </a:p>
        </p:txBody>
      </p:sp>
      <p:sp>
        <p:nvSpPr>
          <p:cNvPr id="40" name="Text 25"/>
          <p:cNvSpPr/>
          <p:nvPr/>
        </p:nvSpPr>
        <p:spPr>
          <a:xfrm>
            <a:off x="9465869" y="2024482"/>
            <a:ext cx="970178" cy="286207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C2410C">
                <a:alpha val="2000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A341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Single Scenario</a:t>
            </a:r>
            <a:endParaRPr lang="en-US" sz="900" dirty="0"/>
          </a:p>
        </p:txBody>
      </p:sp>
      <p:pic>
        <p:nvPicPr>
          <p:cNvPr id="41" name="Image 13" descr="preencoded.png"/>
          <p:cNvPicPr>
            <a:picLocks noChangeAspect="1"/>
          </p:cNvPicPr>
          <p:nvPr/>
        </p:nvPicPr>
        <p:blipFill>
          <a:blip r:embed="rId11"/>
          <a:srcRect t="-524" b="-524"/>
          <a:stretch/>
        </p:blipFill>
        <p:spPr>
          <a:xfrm>
            <a:off x="9245498" y="2096719"/>
            <a:ext cx="152705" cy="123444"/>
          </a:xfrm>
          <a:prstGeom prst="rect">
            <a:avLst/>
          </a:prstGeom>
        </p:spPr>
      </p:pic>
      <p:sp>
        <p:nvSpPr>
          <p:cNvPr id="42" name="Text 26"/>
          <p:cNvSpPr txBox="1"/>
          <p:nvPr/>
        </p:nvSpPr>
        <p:spPr>
          <a:xfrm>
            <a:off x="8010144" y="2419502"/>
            <a:ext cx="34866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Due to time constraints, we couldn't perform extensive hyperparameter sweeps or multi-seed robustness testing.</a:t>
            </a:r>
            <a:endParaRPr lang="en-US" sz="1000" dirty="0"/>
          </a:p>
        </p:txBody>
      </p:sp>
      <p:sp>
        <p:nvSpPr>
          <p:cNvPr id="43" name="Shape 27"/>
          <p:cNvSpPr/>
          <p:nvPr/>
        </p:nvSpPr>
        <p:spPr>
          <a:xfrm>
            <a:off x="7810805" y="3381451"/>
            <a:ext cx="3810305" cy="2714854"/>
          </a:xfrm>
          <a:prstGeom prst="roundRect">
            <a:avLst>
              <a:gd name="adj" fmla="val 1418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4" name="Text 28"/>
          <p:cNvSpPr txBox="1"/>
          <p:nvPr/>
        </p:nvSpPr>
        <p:spPr>
          <a:xfrm>
            <a:off x="8238744" y="3581705"/>
            <a:ext cx="32964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40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If We Started Over... </a:t>
            </a:r>
            <a:endParaRPr lang="en-US" sz="1200" dirty="0"/>
          </a:p>
        </p:txBody>
      </p:sp>
      <p:pic>
        <p:nvPicPr>
          <p:cNvPr id="45" name="Image 14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8010144" y="3619195"/>
            <a:ext cx="152705" cy="152705"/>
          </a:xfrm>
          <a:prstGeom prst="rect">
            <a:avLst/>
          </a:prstGeom>
        </p:spPr>
      </p:pic>
      <p:sp>
        <p:nvSpPr>
          <p:cNvPr id="46" name="Text 29"/>
          <p:cNvSpPr txBox="1"/>
          <p:nvPr/>
        </p:nvSpPr>
        <p:spPr>
          <a:xfrm>
            <a:off x="8010144" y="3952951"/>
            <a:ext cx="3486607" cy="107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1E3A8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"We would implement the </a:t>
            </a:r>
            <a:r>
              <a:rPr lang="en-US" sz="1000" b="1" i="1" dirty="0">
                <a:solidFill>
                  <a:srgbClr val="1E3A8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staged reward system from Day 1</a:t>
            </a:r>
            <a:r>
              <a:rPr lang="en-US" sz="1000" i="1" dirty="0">
                <a:solidFill>
                  <a:srgbClr val="1E3A8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prioritize logging detailed reward component breakdowns immediately. We spent 50% of our time fighting a complex reward function that was fundamentally flawed." </a:t>
            </a:r>
            <a:endParaRPr lang="en-US" sz="1000" dirty="0"/>
          </a:p>
        </p:txBody>
      </p:sp>
      <p:sp>
        <p:nvSpPr>
          <p:cNvPr id="47" name="Shape 30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8" name="Shape 31"/>
          <p:cNvSpPr/>
          <p:nvPr/>
        </p:nvSpPr>
        <p:spPr>
          <a:xfrm>
            <a:off x="0" y="6476695"/>
            <a:ext cx="121916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9" name="Text 32"/>
          <p:cNvSpPr txBox="1"/>
          <p:nvPr/>
        </p:nvSpPr>
        <p:spPr>
          <a:xfrm>
            <a:off x="571500" y="6586423"/>
            <a:ext cx="25054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Honest Assessment • Project Constraints</a:t>
            </a:r>
            <a:endParaRPr lang="en-US" sz="900" dirty="0"/>
          </a:p>
        </p:txBody>
      </p:sp>
      <p:sp>
        <p:nvSpPr>
          <p:cNvPr id="50" name="Text 33"/>
          <p:cNvSpPr txBox="1"/>
          <p:nvPr/>
        </p:nvSpPr>
        <p:spPr>
          <a:xfrm>
            <a:off x="11215116" y="6586423"/>
            <a:ext cx="48829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13</a:t>
            </a:r>
            <a:endParaRPr lang="en-US" sz="900" dirty="0"/>
          </a:p>
        </p:txBody>
      </p:sp>
      <p:sp>
        <p:nvSpPr>
          <p:cNvPr id="51" name="Shape 34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2" name="Shape 35"/>
          <p:cNvSpPr/>
          <p:nvPr/>
        </p:nvSpPr>
        <p:spPr>
          <a:xfrm>
            <a:off x="0" y="723290"/>
            <a:ext cx="12191695" cy="38405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3" name="Text 36"/>
          <p:cNvSpPr txBox="1"/>
          <p:nvPr/>
        </p:nvSpPr>
        <p:spPr>
          <a:xfrm>
            <a:off x="571500" y="133502"/>
            <a:ext cx="4649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Challenges &amp; Limitations</a:t>
            </a:r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0" y="761695"/>
            <a:ext cx="12191695" cy="5715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6" r="-6"/>
          <a:stretch/>
        </p:blipFill>
        <p:spPr>
          <a:xfrm>
            <a:off x="571500" y="1143000"/>
            <a:ext cx="3530498" cy="2361895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t="-402" b="-402"/>
          <a:stretch/>
        </p:blipFill>
        <p:spPr>
          <a:xfrm>
            <a:off x="580644" y="1152144"/>
            <a:ext cx="3511296" cy="384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3533242" y="1380744"/>
            <a:ext cx="4096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4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 l="-4" r="-4"/>
          <a:stretch/>
        </p:blipFill>
        <p:spPr>
          <a:xfrm>
            <a:off x="4330598" y="1143000"/>
            <a:ext cx="3530498" cy="2361895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rcRect t="-404" b="-404"/>
          <a:stretch/>
        </p:blipFill>
        <p:spPr>
          <a:xfrm>
            <a:off x="4339742" y="1152144"/>
            <a:ext cx="3511296" cy="38405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7233818" y="1380744"/>
            <a:ext cx="467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4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3"/>
          <a:srcRect l="-6" r="-6"/>
          <a:stretch/>
        </p:blipFill>
        <p:spPr>
          <a:xfrm>
            <a:off x="8089697" y="1143000"/>
            <a:ext cx="3530498" cy="2361895"/>
          </a:xfrm>
          <a:prstGeom prst="rect">
            <a:avLst/>
          </a:prstGeom>
        </p:spPr>
      </p:pic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7"/>
          <a:srcRect t="-402" b="-402"/>
          <a:stretch/>
        </p:blipFill>
        <p:spPr>
          <a:xfrm>
            <a:off x="8099755" y="1152144"/>
            <a:ext cx="3511296" cy="38405"/>
          </a:xfrm>
          <a:prstGeom prst="rect">
            <a:avLst/>
          </a:prstGeom>
        </p:spPr>
      </p:pic>
      <p:sp>
        <p:nvSpPr>
          <p:cNvPr id="13" name="Text 5"/>
          <p:cNvSpPr txBox="1"/>
          <p:nvPr/>
        </p:nvSpPr>
        <p:spPr>
          <a:xfrm>
            <a:off x="10992917" y="1380744"/>
            <a:ext cx="467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400" dirty="0"/>
          </a:p>
        </p:txBody>
      </p:sp>
      <p:pic>
        <p:nvPicPr>
          <p:cNvPr id="14" name="Image 6" descr="preencoded.png"/>
          <p:cNvPicPr>
            <a:picLocks noChangeAspect="1"/>
          </p:cNvPicPr>
          <p:nvPr/>
        </p:nvPicPr>
        <p:blipFill>
          <a:blip r:embed="rId8"/>
          <a:srcRect l="-11" r="-11"/>
          <a:stretch/>
        </p:blipFill>
        <p:spPr>
          <a:xfrm>
            <a:off x="571500" y="3733495"/>
            <a:ext cx="5410505" cy="2361895"/>
          </a:xfrm>
          <a:prstGeom prst="rect">
            <a:avLst/>
          </a:prstGeom>
        </p:spPr>
      </p:pic>
      <p:pic>
        <p:nvPicPr>
          <p:cNvPr id="15" name="Image 7" descr="preencoded.png"/>
          <p:cNvPicPr>
            <a:picLocks noChangeAspect="1"/>
          </p:cNvPicPr>
          <p:nvPr/>
        </p:nvPicPr>
        <p:blipFill>
          <a:blip r:embed="rId9"/>
          <a:srcRect t="-397" b="-397"/>
          <a:stretch/>
        </p:blipFill>
        <p:spPr>
          <a:xfrm>
            <a:off x="580644" y="3743554"/>
            <a:ext cx="5391302" cy="38405"/>
          </a:xfrm>
          <a:prstGeom prst="rect">
            <a:avLst/>
          </a:prstGeom>
        </p:spPr>
      </p:pic>
      <p:sp>
        <p:nvSpPr>
          <p:cNvPr id="16" name="Text 6"/>
          <p:cNvSpPr txBox="1"/>
          <p:nvPr/>
        </p:nvSpPr>
        <p:spPr>
          <a:xfrm>
            <a:off x="5320894" y="3972154"/>
            <a:ext cx="5056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400" dirty="0"/>
          </a:p>
        </p:txBody>
      </p:sp>
      <p:pic>
        <p:nvPicPr>
          <p:cNvPr id="17" name="Image 8" descr="preencoded.png"/>
          <p:cNvPicPr>
            <a:picLocks noChangeAspect="1"/>
          </p:cNvPicPr>
          <p:nvPr/>
        </p:nvPicPr>
        <p:blipFill>
          <a:blip r:embed="rId10"/>
          <a:srcRect l="-9" r="-9"/>
          <a:stretch/>
        </p:blipFill>
        <p:spPr>
          <a:xfrm>
            <a:off x="6210605" y="3733495"/>
            <a:ext cx="5410505" cy="2361895"/>
          </a:xfrm>
          <a:prstGeom prst="rect">
            <a:avLst/>
          </a:prstGeom>
        </p:spPr>
      </p:pic>
      <p:pic>
        <p:nvPicPr>
          <p:cNvPr id="18" name="Image 9" descr="preencoded.png"/>
          <p:cNvPicPr>
            <a:picLocks noChangeAspect="1"/>
          </p:cNvPicPr>
          <p:nvPr/>
        </p:nvPicPr>
        <p:blipFill>
          <a:blip r:embed="rId11"/>
          <a:srcRect t="-399" b="-399"/>
          <a:stretch/>
        </p:blipFill>
        <p:spPr>
          <a:xfrm>
            <a:off x="6219749" y="3743554"/>
            <a:ext cx="5391302" cy="38405"/>
          </a:xfrm>
          <a:prstGeom prst="rect">
            <a:avLst/>
          </a:prstGeom>
        </p:spPr>
      </p:pic>
      <p:sp>
        <p:nvSpPr>
          <p:cNvPr id="19" name="Text 7"/>
          <p:cNvSpPr txBox="1"/>
          <p:nvPr/>
        </p:nvSpPr>
        <p:spPr>
          <a:xfrm>
            <a:off x="10988345" y="3972154"/>
            <a:ext cx="4764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2400" dirty="0"/>
          </a:p>
        </p:txBody>
      </p:sp>
      <p:sp>
        <p:nvSpPr>
          <p:cNvPr id="20" name="Shape 8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1" name="Shape 9"/>
          <p:cNvSpPr/>
          <p:nvPr/>
        </p:nvSpPr>
        <p:spPr>
          <a:xfrm>
            <a:off x="0" y="6476695"/>
            <a:ext cx="121916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10"/>
          <p:cNvSpPr txBox="1"/>
          <p:nvPr/>
        </p:nvSpPr>
        <p:spPr>
          <a:xfrm>
            <a:off x="571500" y="6586423"/>
            <a:ext cx="266456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Novel Approaches &amp; Implementation Quality</a:t>
            </a:r>
            <a:endParaRPr lang="en-US" sz="900" dirty="0"/>
          </a:p>
        </p:txBody>
      </p:sp>
      <p:sp>
        <p:nvSpPr>
          <p:cNvPr id="23" name="Text 11"/>
          <p:cNvSpPr txBox="1"/>
          <p:nvPr/>
        </p:nvSpPr>
        <p:spPr>
          <a:xfrm>
            <a:off x="11215116" y="6586423"/>
            <a:ext cx="48829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14</a:t>
            </a:r>
            <a:endParaRPr lang="en-US" sz="900" dirty="0"/>
          </a:p>
        </p:txBody>
      </p:sp>
      <p:sp>
        <p:nvSpPr>
          <p:cNvPr id="24" name="Shape 12"/>
          <p:cNvSpPr/>
          <p:nvPr/>
        </p:nvSpPr>
        <p:spPr>
          <a:xfrm>
            <a:off x="809244" y="138074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25" name="Image 10" descr="preencoded.png"/>
          <p:cNvPicPr>
            <a:picLocks noChangeAspect="1"/>
          </p:cNvPicPr>
          <p:nvPr/>
        </p:nvPicPr>
        <p:blipFill>
          <a:blip r:embed="rId12"/>
          <a:srcRect l="-1282" r="-1282"/>
          <a:stretch/>
        </p:blipFill>
        <p:spPr>
          <a:xfrm>
            <a:off x="929030" y="1514246"/>
            <a:ext cx="219456" cy="190195"/>
          </a:xfrm>
          <a:prstGeom prst="rect">
            <a:avLst/>
          </a:prstGeom>
        </p:spPr>
      </p:pic>
      <p:sp>
        <p:nvSpPr>
          <p:cNvPr id="26" name="Text 13"/>
          <p:cNvSpPr txBox="1"/>
          <p:nvPr/>
        </p:nvSpPr>
        <p:spPr>
          <a:xfrm>
            <a:off x="809244" y="1990649"/>
            <a:ext cx="33037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Three-Stage Reward Engineering</a:t>
            </a:r>
            <a:endParaRPr lang="en-US" sz="1300" dirty="0"/>
          </a:p>
        </p:txBody>
      </p:sp>
      <p:sp>
        <p:nvSpPr>
          <p:cNvPr id="27" name="Text 14"/>
          <p:cNvSpPr txBox="1"/>
          <p:nvPr/>
        </p:nvSpPr>
        <p:spPr>
          <a:xfrm>
            <a:off x="809244" y="2308860"/>
            <a:ext cx="3134563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Designed a novel progressive system matching reward complexity to task phases (Approach → Position → Entry) with reward floors for safe exploration.</a:t>
            </a:r>
            <a:endParaRPr lang="en-US" sz="1000" dirty="0"/>
          </a:p>
        </p:txBody>
      </p:sp>
      <p:sp>
        <p:nvSpPr>
          <p:cNvPr id="28" name="Shape 15"/>
          <p:cNvSpPr/>
          <p:nvPr/>
        </p:nvSpPr>
        <p:spPr>
          <a:xfrm>
            <a:off x="4568342" y="138074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29" name="Image 11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4701845" y="1514246"/>
            <a:ext cx="190195" cy="190195"/>
          </a:xfrm>
          <a:prstGeom prst="rect">
            <a:avLst/>
          </a:prstGeom>
        </p:spPr>
      </p:pic>
      <p:sp>
        <p:nvSpPr>
          <p:cNvPr id="30" name="Text 16"/>
          <p:cNvSpPr txBox="1"/>
          <p:nvPr/>
        </p:nvSpPr>
        <p:spPr>
          <a:xfrm>
            <a:off x="4568342" y="1990649"/>
            <a:ext cx="31720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Delta-Proportional Shaping</a:t>
            </a:r>
            <a:endParaRPr lang="en-US" sz="1300" dirty="0"/>
          </a:p>
        </p:txBody>
      </p:sp>
      <p:sp>
        <p:nvSpPr>
          <p:cNvPr id="31" name="Text 17"/>
          <p:cNvSpPr txBox="1"/>
          <p:nvPr/>
        </p:nvSpPr>
        <p:spPr>
          <a:xfrm>
            <a:off x="4568342" y="2308860"/>
            <a:ext cx="3134563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Shifted from rewarding absolute states to rewarding </a:t>
            </a:r>
            <a:r>
              <a:rPr lang="en-US" sz="1000" b="1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improvement (Δ)</a:t>
            </a:r>
            <a:r>
              <a:rPr lang="en-US" sz="1000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across all objectives, completely eliminating static state exploitation. </a:t>
            </a:r>
            <a:endParaRPr lang="en-US" sz="1000" dirty="0"/>
          </a:p>
        </p:txBody>
      </p:sp>
      <p:sp>
        <p:nvSpPr>
          <p:cNvPr id="32" name="Shape 18"/>
          <p:cNvSpPr/>
          <p:nvPr/>
        </p:nvSpPr>
        <p:spPr>
          <a:xfrm>
            <a:off x="8328355" y="138074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33" name="Image 12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460943" y="1514246"/>
            <a:ext cx="190195" cy="190195"/>
          </a:xfrm>
          <a:prstGeom prst="rect">
            <a:avLst/>
          </a:prstGeom>
        </p:spPr>
      </p:pic>
      <p:sp>
        <p:nvSpPr>
          <p:cNvPr id="34" name="Text 19"/>
          <p:cNvSpPr txBox="1"/>
          <p:nvPr/>
        </p:nvSpPr>
        <p:spPr>
          <a:xfrm>
            <a:off x="8328355" y="1990649"/>
            <a:ext cx="31720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False Attractor Prevention</a:t>
            </a:r>
            <a:endParaRPr lang="en-US" sz="1300" dirty="0"/>
          </a:p>
        </p:txBody>
      </p:sp>
      <p:sp>
        <p:nvSpPr>
          <p:cNvPr id="35" name="Text 20"/>
          <p:cNvSpPr txBox="1"/>
          <p:nvPr/>
        </p:nvSpPr>
        <p:spPr>
          <a:xfrm>
            <a:off x="8328355" y="2308860"/>
            <a:ext cx="3134563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Identified and solved local minima via explicit penalties for stagnation (standing still), retreat, and deadlock detection mechanisms.</a:t>
            </a:r>
            <a:endParaRPr lang="en-US" sz="1000" dirty="0"/>
          </a:p>
        </p:txBody>
      </p:sp>
      <p:sp>
        <p:nvSpPr>
          <p:cNvPr id="36" name="Shape 21"/>
          <p:cNvSpPr/>
          <p:nvPr/>
        </p:nvSpPr>
        <p:spPr>
          <a:xfrm>
            <a:off x="809244" y="397215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37" name="Image 13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918972" y="4105656"/>
            <a:ext cx="237744" cy="190195"/>
          </a:xfrm>
          <a:prstGeom prst="rect">
            <a:avLst/>
          </a:prstGeom>
        </p:spPr>
      </p:pic>
      <p:sp>
        <p:nvSpPr>
          <p:cNvPr id="38" name="Text 22"/>
          <p:cNvSpPr txBox="1"/>
          <p:nvPr/>
        </p:nvSpPr>
        <p:spPr>
          <a:xfrm>
            <a:off x="809244" y="4581144"/>
            <a:ext cx="50484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Integrated Curriculum Strategy</a:t>
            </a:r>
            <a:endParaRPr lang="en-US" sz="1300" dirty="0"/>
          </a:p>
        </p:txBody>
      </p:sp>
      <p:sp>
        <p:nvSpPr>
          <p:cNvPr id="39" name="Text 23"/>
          <p:cNvSpPr txBox="1"/>
          <p:nvPr/>
        </p:nvSpPr>
        <p:spPr>
          <a:xfrm>
            <a:off x="809244" y="4899355"/>
            <a:ext cx="501091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Implemented an adaptive spawning system that increases task difficulty (distance and angle constraints) linearly with training progress, stabilizing early learning.</a:t>
            </a:r>
            <a:endParaRPr lang="en-US" sz="1000" dirty="0"/>
          </a:p>
        </p:txBody>
      </p:sp>
      <p:sp>
        <p:nvSpPr>
          <p:cNvPr id="40" name="Shape 24"/>
          <p:cNvSpPr/>
          <p:nvPr/>
        </p:nvSpPr>
        <p:spPr>
          <a:xfrm>
            <a:off x="6448349" y="397215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41" name="Image 14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6558077" y="4105656"/>
            <a:ext cx="237744" cy="190195"/>
          </a:xfrm>
          <a:prstGeom prst="rect">
            <a:avLst/>
          </a:prstGeom>
        </p:spPr>
      </p:pic>
      <p:sp>
        <p:nvSpPr>
          <p:cNvPr id="42" name="Text 25"/>
          <p:cNvSpPr txBox="1"/>
          <p:nvPr/>
        </p:nvSpPr>
        <p:spPr>
          <a:xfrm>
            <a:off x="6448349" y="4581144"/>
            <a:ext cx="50484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Production-Grade Codebase</a:t>
            </a:r>
            <a:endParaRPr lang="en-US" sz="1300" dirty="0"/>
          </a:p>
        </p:txBody>
      </p:sp>
      <p:sp>
        <p:nvSpPr>
          <p:cNvPr id="43" name="Text 26"/>
          <p:cNvSpPr txBox="1"/>
          <p:nvPr/>
        </p:nvSpPr>
        <p:spPr>
          <a:xfrm>
            <a:off x="6448349" y="4899355"/>
            <a:ext cx="501091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Delivered a robust 806-line custom Environment with comprehensive type hinting, modular reward components, and configuration management for reproducibility.</a:t>
            </a:r>
            <a:endParaRPr lang="en-US" sz="1000" dirty="0"/>
          </a:p>
        </p:txBody>
      </p:sp>
      <p:sp>
        <p:nvSpPr>
          <p:cNvPr id="44" name="Shape 27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5" name="Text 28"/>
          <p:cNvSpPr txBox="1"/>
          <p:nvPr/>
        </p:nvSpPr>
        <p:spPr>
          <a:xfrm>
            <a:off x="571500" y="152705"/>
            <a:ext cx="44613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Technical Contributions</a:t>
            </a:r>
            <a:endParaRPr lang="en-US" sz="2400" dirty="0"/>
          </a:p>
        </p:txBody>
      </p:sp>
      <p:sp>
        <p:nvSpPr>
          <p:cNvPr id="46" name="Shape 29"/>
          <p:cNvSpPr/>
          <p:nvPr/>
        </p:nvSpPr>
        <p:spPr>
          <a:xfrm>
            <a:off x="8941918" y="209398"/>
            <a:ext cx="2686507" cy="342900"/>
          </a:xfrm>
          <a:prstGeom prst="rect">
            <a:avLst/>
          </a:prstGeom>
          <a:noFill/>
          <a:ln/>
        </p:spPr>
        <p:txBody>
          <a:bodyPr/>
          <a:lstStyle/>
          <a:p>
            <a:endParaRPr lang="tr-TR"/>
          </a:p>
        </p:txBody>
      </p:sp>
      <p:sp>
        <p:nvSpPr>
          <p:cNvPr id="47" name="Text 30"/>
          <p:cNvSpPr/>
          <p:nvPr/>
        </p:nvSpPr>
        <p:spPr>
          <a:xfrm>
            <a:off x="8941918" y="209398"/>
            <a:ext cx="2686507" cy="342900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FDBF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Innovations &amp; Engineering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0" y="761695"/>
            <a:ext cx="12191695" cy="5715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952805" y="2991002"/>
            <a:ext cx="10287000" cy="5760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76402" y="5086807"/>
            <a:ext cx="11239805" cy="1009498"/>
          </a:xfrm>
          <a:prstGeom prst="roundRect">
            <a:avLst>
              <a:gd name="adj" fmla="val 683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4"/>
          <p:cNvSpPr txBox="1"/>
          <p:nvPr/>
        </p:nvSpPr>
        <p:spPr>
          <a:xfrm>
            <a:off x="838505" y="5238598"/>
            <a:ext cx="108402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3A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Qualitative Progress Indicators </a:t>
            </a:r>
            <a:endParaRPr lang="en-US" sz="10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9107" y="5272430"/>
            <a:ext cx="133502" cy="13350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76072" y="5533949"/>
            <a:ext cx="27340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Collision Rate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1453896" y="5743346"/>
            <a:ext cx="190926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High  Low </a:t>
            </a:r>
            <a:endParaRPr lang="en-US" sz="10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/>
          <a:srcRect l="-2571" r="-2571"/>
          <a:stretch/>
        </p:blipFill>
        <p:spPr>
          <a:xfrm>
            <a:off x="2326234" y="5786323"/>
            <a:ext cx="105156" cy="11430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3345790" y="5533949"/>
            <a:ext cx="27340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 Approach</a:t>
            </a:r>
            <a:endParaRPr lang="en-US" sz="900" dirty="0"/>
          </a:p>
        </p:txBody>
      </p:sp>
      <p:sp>
        <p:nvSpPr>
          <p:cNvPr id="14" name="Text 8"/>
          <p:cNvSpPr txBox="1"/>
          <p:nvPr/>
        </p:nvSpPr>
        <p:spPr>
          <a:xfrm>
            <a:off x="3912718" y="5743346"/>
            <a:ext cx="221924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Random  Consistent </a:t>
            </a:r>
            <a:endParaRPr lang="en-US" sz="10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5"/>
          <a:srcRect l="-2571" r="-2571"/>
          <a:stretch/>
        </p:blipFill>
        <p:spPr>
          <a:xfrm>
            <a:off x="5404104" y="5786323"/>
            <a:ext cx="105156" cy="114300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6114593" y="5533949"/>
            <a:ext cx="27340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Angle Control</a:t>
            </a:r>
            <a:endParaRPr lang="en-US" sz="900" dirty="0"/>
          </a:p>
        </p:txBody>
      </p:sp>
      <p:sp>
        <p:nvSpPr>
          <p:cNvPr id="18" name="Text 10"/>
          <p:cNvSpPr txBox="1"/>
          <p:nvPr/>
        </p:nvSpPr>
        <p:spPr>
          <a:xfrm>
            <a:off x="6663233" y="5743346"/>
            <a:ext cx="22384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Erratic  Precise (~2°) </a:t>
            </a:r>
            <a:endParaRPr lang="en-US" sz="100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5"/>
          <a:srcRect l="-2571" r="-2571"/>
          <a:stretch/>
        </p:blipFill>
        <p:spPr>
          <a:xfrm>
            <a:off x="8193938" y="5786323"/>
            <a:ext cx="105156" cy="114300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8884310" y="5533949"/>
            <a:ext cx="27340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Y-Positioning</a:t>
            </a:r>
            <a:endParaRPr lang="en-US" sz="900" dirty="0"/>
          </a:p>
        </p:txBody>
      </p:sp>
      <p:sp>
        <p:nvSpPr>
          <p:cNvPr id="22" name="Text 12"/>
          <p:cNvSpPr txBox="1"/>
          <p:nvPr/>
        </p:nvSpPr>
        <p:spPr>
          <a:xfrm>
            <a:off x="9501530" y="5743346"/>
            <a:ext cx="216895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Ignored Learning...</a:t>
            </a:r>
            <a:endParaRPr lang="en-US" sz="1000" dirty="0"/>
          </a:p>
        </p:txBody>
      </p:sp>
      <p:pic>
        <p:nvPicPr>
          <p:cNvPr id="24" name="Image 9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884103" y="5786323"/>
            <a:ext cx="114300" cy="114300"/>
          </a:xfrm>
          <a:prstGeom prst="rect">
            <a:avLst/>
          </a:prstGeom>
        </p:spPr>
      </p:pic>
      <p:sp>
        <p:nvSpPr>
          <p:cNvPr id="25" name="Shape 13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6" name="Shape 14"/>
          <p:cNvSpPr/>
          <p:nvPr/>
        </p:nvSpPr>
        <p:spPr>
          <a:xfrm>
            <a:off x="0" y="6476695"/>
            <a:ext cx="121916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Text 15"/>
          <p:cNvSpPr txBox="1"/>
          <p:nvPr/>
        </p:nvSpPr>
        <p:spPr>
          <a:xfrm>
            <a:off x="476402" y="6586423"/>
            <a:ext cx="180228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Training Progression Timeline</a:t>
            </a:r>
            <a:endParaRPr lang="en-US" sz="900" dirty="0"/>
          </a:p>
        </p:txBody>
      </p:sp>
      <p:sp>
        <p:nvSpPr>
          <p:cNvPr id="28" name="Text 16"/>
          <p:cNvSpPr txBox="1"/>
          <p:nvPr/>
        </p:nvSpPr>
        <p:spPr>
          <a:xfrm>
            <a:off x="11310214" y="6586423"/>
            <a:ext cx="48829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15</a:t>
            </a:r>
            <a:endParaRPr lang="en-US" sz="900" dirty="0"/>
          </a:p>
        </p:txBody>
      </p:sp>
      <p:sp>
        <p:nvSpPr>
          <p:cNvPr id="29" name="Shape 17"/>
          <p:cNvSpPr/>
          <p:nvPr/>
        </p:nvSpPr>
        <p:spPr>
          <a:xfrm>
            <a:off x="476402" y="1333195"/>
            <a:ext cx="2476195" cy="1638605"/>
          </a:xfrm>
          <a:prstGeom prst="roundRect">
            <a:avLst>
              <a:gd name="adj" fmla="val 2596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0" name="Shape 18"/>
          <p:cNvSpPr/>
          <p:nvPr/>
        </p:nvSpPr>
        <p:spPr>
          <a:xfrm>
            <a:off x="476402" y="1333195"/>
            <a:ext cx="2476195" cy="38405"/>
          </a:xfrm>
          <a:prstGeom prst="roundRect">
            <a:avLst>
              <a:gd name="adj" fmla="val 110741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 19"/>
          <p:cNvSpPr txBox="1"/>
          <p:nvPr/>
        </p:nvSpPr>
        <p:spPr>
          <a:xfrm>
            <a:off x="619049" y="1514246"/>
            <a:ext cx="22786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Phase 1: Exploration</a:t>
            </a:r>
            <a:endParaRPr lang="en-US" sz="1200" dirty="0"/>
          </a:p>
        </p:txBody>
      </p:sp>
      <p:sp>
        <p:nvSpPr>
          <p:cNvPr id="32" name="Shape 20"/>
          <p:cNvSpPr/>
          <p:nvPr/>
        </p:nvSpPr>
        <p:spPr>
          <a:xfrm>
            <a:off x="619049" y="1790395"/>
            <a:ext cx="828446" cy="209398"/>
          </a:xfrm>
          <a:prstGeom prst="rect">
            <a:avLst/>
          </a:prstGeom>
          <a:noFill/>
          <a:ln/>
        </p:spPr>
        <p:txBody>
          <a:bodyPr/>
          <a:lstStyle/>
          <a:p>
            <a:endParaRPr lang="tr-TR"/>
          </a:p>
        </p:txBody>
      </p:sp>
      <p:sp>
        <p:nvSpPr>
          <p:cNvPr id="33" name="Text 21"/>
          <p:cNvSpPr/>
          <p:nvPr/>
        </p:nvSpPr>
        <p:spPr>
          <a:xfrm>
            <a:off x="619049" y="1790395"/>
            <a:ext cx="829361" cy="210312"/>
          </a:xfrm>
          <a:prstGeom prst="rect">
            <a:avLst/>
          </a:prstGeom>
          <a:solidFill>
            <a:srgbClr val="F1F5F9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0 - 50k Steps</a:t>
            </a:r>
            <a:endParaRPr lang="en-US" sz="900" dirty="0"/>
          </a:p>
        </p:txBody>
      </p:sp>
      <p:sp>
        <p:nvSpPr>
          <p:cNvPr id="34" name="Text 22"/>
          <p:cNvSpPr txBox="1"/>
          <p:nvPr/>
        </p:nvSpPr>
        <p:spPr>
          <a:xfrm>
            <a:off x="809244" y="2095805"/>
            <a:ext cx="208849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Random actions</a:t>
            </a:r>
            <a:endParaRPr lang="en-US" sz="1000" dirty="0"/>
          </a:p>
        </p:txBody>
      </p:sp>
      <p:pic>
        <p:nvPicPr>
          <p:cNvPr id="35" name="Image 10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19049" y="2124151"/>
            <a:ext cx="114300" cy="114300"/>
          </a:xfrm>
          <a:prstGeom prst="rect">
            <a:avLst/>
          </a:prstGeom>
        </p:spPr>
      </p:pic>
      <p:sp>
        <p:nvSpPr>
          <p:cNvPr id="36" name="Text 23"/>
          <p:cNvSpPr txBox="1"/>
          <p:nvPr/>
        </p:nvSpPr>
        <p:spPr>
          <a:xfrm>
            <a:off x="809244" y="2339035"/>
            <a:ext cx="208849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 collision rate</a:t>
            </a:r>
            <a:endParaRPr lang="en-US" sz="1000" dirty="0"/>
          </a:p>
        </p:txBody>
      </p:sp>
      <p:pic>
        <p:nvPicPr>
          <p:cNvPr id="37" name="Image 11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19049" y="2368296"/>
            <a:ext cx="114300" cy="114300"/>
          </a:xfrm>
          <a:prstGeom prst="rect">
            <a:avLst/>
          </a:prstGeom>
        </p:spPr>
      </p:pic>
      <p:sp>
        <p:nvSpPr>
          <p:cNvPr id="38" name="Text 24"/>
          <p:cNvSpPr txBox="1"/>
          <p:nvPr/>
        </p:nvSpPr>
        <p:spPr>
          <a:xfrm>
            <a:off x="809244" y="2583180"/>
            <a:ext cx="208849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directional sense</a:t>
            </a:r>
            <a:endParaRPr lang="en-US" sz="1000" dirty="0"/>
          </a:p>
        </p:txBody>
      </p:sp>
      <p:pic>
        <p:nvPicPr>
          <p:cNvPr id="39" name="Image 12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19049" y="2611526"/>
            <a:ext cx="114300" cy="114300"/>
          </a:xfrm>
          <a:prstGeom prst="rect">
            <a:avLst/>
          </a:prstGeom>
        </p:spPr>
      </p:pic>
      <p:pic>
        <p:nvPicPr>
          <p:cNvPr id="40" name="Image 13" descr="preencoded.png"/>
          <p:cNvPicPr>
            <a:picLocks noChangeAspect="1"/>
          </p:cNvPicPr>
          <p:nvPr/>
        </p:nvPicPr>
        <p:blipFill>
          <a:blip r:embed="rId10"/>
          <a:srcRect l="-320" r="-320"/>
          <a:stretch/>
        </p:blipFill>
        <p:spPr>
          <a:xfrm>
            <a:off x="1705356" y="4610405"/>
            <a:ext cx="19202" cy="286207"/>
          </a:xfrm>
          <a:prstGeom prst="rect">
            <a:avLst/>
          </a:prstGeom>
        </p:spPr>
      </p:pic>
      <p:pic>
        <p:nvPicPr>
          <p:cNvPr id="41" name="Image 14" descr="preencoded.png"/>
          <p:cNvPicPr>
            <a:picLocks noChangeAspect="1"/>
          </p:cNvPicPr>
          <p:nvPr/>
        </p:nvPicPr>
        <p:blipFill>
          <a:blip r:embed="rId10"/>
          <a:srcRect l="-320" r="-320"/>
          <a:stretch/>
        </p:blipFill>
        <p:spPr>
          <a:xfrm>
            <a:off x="4625950" y="1333195"/>
            <a:ext cx="19202" cy="286207"/>
          </a:xfrm>
          <a:prstGeom prst="rect">
            <a:avLst/>
          </a:prstGeom>
        </p:spPr>
      </p:pic>
      <p:sp>
        <p:nvSpPr>
          <p:cNvPr id="42" name="Shape 25"/>
          <p:cNvSpPr/>
          <p:nvPr/>
        </p:nvSpPr>
        <p:spPr>
          <a:xfrm>
            <a:off x="3396996" y="1619402"/>
            <a:ext cx="2476195" cy="1638605"/>
          </a:xfrm>
          <a:prstGeom prst="roundRect">
            <a:avLst>
              <a:gd name="adj" fmla="val 2596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3" name="Shape 26"/>
          <p:cNvSpPr/>
          <p:nvPr/>
        </p:nvSpPr>
        <p:spPr>
          <a:xfrm>
            <a:off x="3396996" y="1619402"/>
            <a:ext cx="2476195" cy="38405"/>
          </a:xfrm>
          <a:prstGeom prst="roundRect">
            <a:avLst>
              <a:gd name="adj" fmla="val 110741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4" name="Text 27"/>
          <p:cNvSpPr txBox="1"/>
          <p:nvPr/>
        </p:nvSpPr>
        <p:spPr>
          <a:xfrm>
            <a:off x="3540557" y="1800454"/>
            <a:ext cx="22786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Phase 2: Approach</a:t>
            </a:r>
            <a:endParaRPr lang="en-US" sz="1200" dirty="0"/>
          </a:p>
        </p:txBody>
      </p:sp>
      <p:sp>
        <p:nvSpPr>
          <p:cNvPr id="45" name="Shape 28"/>
          <p:cNvSpPr/>
          <p:nvPr/>
        </p:nvSpPr>
        <p:spPr>
          <a:xfrm>
            <a:off x="3540557" y="2076602"/>
            <a:ext cx="1028700" cy="209398"/>
          </a:xfrm>
          <a:prstGeom prst="rect">
            <a:avLst/>
          </a:prstGeom>
          <a:noFill/>
          <a:ln/>
        </p:spPr>
        <p:txBody>
          <a:bodyPr/>
          <a:lstStyle/>
          <a:p>
            <a:endParaRPr lang="tr-TR"/>
          </a:p>
        </p:txBody>
      </p:sp>
      <p:sp>
        <p:nvSpPr>
          <p:cNvPr id="46" name="Text 29"/>
          <p:cNvSpPr/>
          <p:nvPr/>
        </p:nvSpPr>
        <p:spPr>
          <a:xfrm>
            <a:off x="3540557" y="2076602"/>
            <a:ext cx="1028700" cy="210312"/>
          </a:xfrm>
          <a:prstGeom prst="rect">
            <a:avLst/>
          </a:prstGeom>
          <a:solidFill>
            <a:srgbClr val="F1F5F9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50k - 150k Steps</a:t>
            </a:r>
            <a:endParaRPr lang="en-US" sz="900" dirty="0"/>
          </a:p>
        </p:txBody>
      </p:sp>
      <p:sp>
        <p:nvSpPr>
          <p:cNvPr id="47" name="Text 30"/>
          <p:cNvSpPr txBox="1"/>
          <p:nvPr/>
        </p:nvSpPr>
        <p:spPr>
          <a:xfrm>
            <a:off x="3730752" y="2381098"/>
            <a:ext cx="208849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Consistent pathing</a:t>
            </a:r>
            <a:endParaRPr lang="en-US" sz="1000" dirty="0"/>
          </a:p>
        </p:txBody>
      </p:sp>
      <p:pic>
        <p:nvPicPr>
          <p:cNvPr id="48" name="Image 15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3540557" y="2409444"/>
            <a:ext cx="114300" cy="114300"/>
          </a:xfrm>
          <a:prstGeom prst="rect">
            <a:avLst/>
          </a:prstGeom>
        </p:spPr>
      </p:pic>
      <p:sp>
        <p:nvSpPr>
          <p:cNvPr id="49" name="Text 31"/>
          <p:cNvSpPr txBox="1"/>
          <p:nvPr/>
        </p:nvSpPr>
        <p:spPr>
          <a:xfrm>
            <a:off x="3730752" y="2625242"/>
            <a:ext cx="208849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Safety improved</a:t>
            </a:r>
            <a:endParaRPr lang="en-US" sz="1000" dirty="0"/>
          </a:p>
        </p:txBody>
      </p:sp>
      <p:pic>
        <p:nvPicPr>
          <p:cNvPr id="50" name="Image 16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3540557" y="2653589"/>
            <a:ext cx="114300" cy="114300"/>
          </a:xfrm>
          <a:prstGeom prst="rect">
            <a:avLst/>
          </a:prstGeom>
        </p:spPr>
      </p:pic>
      <p:sp>
        <p:nvSpPr>
          <p:cNvPr id="51" name="Text 32"/>
          <p:cNvSpPr txBox="1"/>
          <p:nvPr/>
        </p:nvSpPr>
        <p:spPr>
          <a:xfrm>
            <a:off x="3702406" y="2868473"/>
            <a:ext cx="211683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Stalls at ~5m dist</a:t>
            </a:r>
            <a:endParaRPr lang="en-US" sz="1000" dirty="0"/>
          </a:p>
        </p:txBody>
      </p:sp>
      <p:pic>
        <p:nvPicPr>
          <p:cNvPr id="52" name="Image 17" descr="preencoded.png"/>
          <p:cNvPicPr>
            <a:picLocks noChangeAspect="1"/>
          </p:cNvPicPr>
          <p:nvPr/>
        </p:nvPicPr>
        <p:blipFill>
          <a:blip r:embed="rId13"/>
          <a:srcRect l="-133" r="-133"/>
          <a:stretch/>
        </p:blipFill>
        <p:spPr>
          <a:xfrm>
            <a:off x="3540557" y="2897734"/>
            <a:ext cx="85954" cy="114300"/>
          </a:xfrm>
          <a:prstGeom prst="rect">
            <a:avLst/>
          </a:prstGeom>
        </p:spPr>
      </p:pic>
      <p:sp>
        <p:nvSpPr>
          <p:cNvPr id="53" name="Shape 33"/>
          <p:cNvSpPr/>
          <p:nvPr/>
        </p:nvSpPr>
        <p:spPr>
          <a:xfrm>
            <a:off x="6318504" y="1333195"/>
            <a:ext cx="2476195" cy="1638605"/>
          </a:xfrm>
          <a:prstGeom prst="roundRect">
            <a:avLst>
              <a:gd name="adj" fmla="val 2596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4" name="Shape 34"/>
          <p:cNvSpPr/>
          <p:nvPr/>
        </p:nvSpPr>
        <p:spPr>
          <a:xfrm>
            <a:off x="6318504" y="1333195"/>
            <a:ext cx="2476195" cy="38405"/>
          </a:xfrm>
          <a:prstGeom prst="roundRect">
            <a:avLst>
              <a:gd name="adj" fmla="val 110741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5" name="Text 35"/>
          <p:cNvSpPr txBox="1"/>
          <p:nvPr/>
        </p:nvSpPr>
        <p:spPr>
          <a:xfrm>
            <a:off x="6461150" y="1514246"/>
            <a:ext cx="22786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Phase 3: Stagnation</a:t>
            </a:r>
            <a:endParaRPr lang="en-US" sz="1200" dirty="0"/>
          </a:p>
        </p:txBody>
      </p:sp>
      <p:sp>
        <p:nvSpPr>
          <p:cNvPr id="56" name="Shape 36"/>
          <p:cNvSpPr/>
          <p:nvPr/>
        </p:nvSpPr>
        <p:spPr>
          <a:xfrm>
            <a:off x="6461150" y="1790395"/>
            <a:ext cx="1086307" cy="209398"/>
          </a:xfrm>
          <a:prstGeom prst="rect">
            <a:avLst/>
          </a:prstGeom>
          <a:noFill/>
          <a:ln/>
        </p:spPr>
        <p:txBody>
          <a:bodyPr/>
          <a:lstStyle/>
          <a:p>
            <a:endParaRPr lang="tr-TR"/>
          </a:p>
        </p:txBody>
      </p:sp>
      <p:sp>
        <p:nvSpPr>
          <p:cNvPr id="57" name="Text 37"/>
          <p:cNvSpPr/>
          <p:nvPr/>
        </p:nvSpPr>
        <p:spPr>
          <a:xfrm>
            <a:off x="6461150" y="1790395"/>
            <a:ext cx="1086307" cy="210312"/>
          </a:xfrm>
          <a:prstGeom prst="rect">
            <a:avLst/>
          </a:prstGeom>
          <a:solidFill>
            <a:srgbClr val="F1F5F9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150k - 215k Steps</a:t>
            </a:r>
            <a:endParaRPr lang="en-US" sz="900" dirty="0"/>
          </a:p>
        </p:txBody>
      </p:sp>
      <p:sp>
        <p:nvSpPr>
          <p:cNvPr id="58" name="Text 38"/>
          <p:cNvSpPr txBox="1"/>
          <p:nvPr/>
        </p:nvSpPr>
        <p:spPr>
          <a:xfrm>
            <a:off x="6642202" y="2095805"/>
            <a:ext cx="20976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Good angle (~2°)</a:t>
            </a:r>
            <a:endParaRPr lang="en-US" sz="1000" dirty="0"/>
          </a:p>
        </p:txBody>
      </p:sp>
      <p:pic>
        <p:nvPicPr>
          <p:cNvPr id="59" name="Image 18" descr="preencoded.png"/>
          <p:cNvPicPr>
            <a:picLocks noChangeAspect="1"/>
          </p:cNvPicPr>
          <p:nvPr/>
        </p:nvPicPr>
        <p:blipFill>
          <a:blip r:embed="rId14"/>
          <a:srcRect l="-2571" r="-2571"/>
          <a:stretch/>
        </p:blipFill>
        <p:spPr>
          <a:xfrm>
            <a:off x="6461150" y="2124151"/>
            <a:ext cx="105156" cy="114300"/>
          </a:xfrm>
          <a:prstGeom prst="rect">
            <a:avLst/>
          </a:prstGeom>
        </p:spPr>
      </p:pic>
      <p:sp>
        <p:nvSpPr>
          <p:cNvPr id="60" name="Text 39"/>
          <p:cNvSpPr txBox="1"/>
          <p:nvPr/>
        </p:nvSpPr>
        <p:spPr>
          <a:xfrm>
            <a:off x="6651346" y="2339035"/>
            <a:ext cx="208849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False attractor found</a:t>
            </a:r>
            <a:endParaRPr lang="en-US" sz="1000" dirty="0"/>
          </a:p>
        </p:txBody>
      </p:sp>
      <p:pic>
        <p:nvPicPr>
          <p:cNvPr id="61" name="Image 19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6461150" y="2368296"/>
            <a:ext cx="114300" cy="114300"/>
          </a:xfrm>
          <a:prstGeom prst="rect">
            <a:avLst/>
          </a:prstGeom>
        </p:spPr>
      </p:pic>
      <p:sp>
        <p:nvSpPr>
          <p:cNvPr id="62" name="Text 40"/>
          <p:cNvSpPr txBox="1"/>
          <p:nvPr/>
        </p:nvSpPr>
        <p:spPr>
          <a:xfrm>
            <a:off x="6622999" y="2583180"/>
            <a:ext cx="211683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Y-axis ignored</a:t>
            </a:r>
            <a:endParaRPr lang="en-US" sz="1000" dirty="0"/>
          </a:p>
        </p:txBody>
      </p:sp>
      <p:pic>
        <p:nvPicPr>
          <p:cNvPr id="63" name="Image 20" descr="preencoded.png"/>
          <p:cNvPicPr>
            <a:picLocks noChangeAspect="1"/>
          </p:cNvPicPr>
          <p:nvPr/>
        </p:nvPicPr>
        <p:blipFill>
          <a:blip r:embed="rId16"/>
          <a:srcRect l="-133" r="-133"/>
          <a:stretch/>
        </p:blipFill>
        <p:spPr>
          <a:xfrm>
            <a:off x="6461150" y="2611526"/>
            <a:ext cx="85954" cy="114300"/>
          </a:xfrm>
          <a:prstGeom prst="rect">
            <a:avLst/>
          </a:prstGeom>
        </p:spPr>
      </p:pic>
      <p:pic>
        <p:nvPicPr>
          <p:cNvPr id="64" name="Image 21" descr="preencoded.png"/>
          <p:cNvPicPr>
            <a:picLocks noChangeAspect="1"/>
          </p:cNvPicPr>
          <p:nvPr/>
        </p:nvPicPr>
        <p:blipFill>
          <a:blip r:embed="rId10"/>
          <a:srcRect l="-320" r="-320"/>
          <a:stretch/>
        </p:blipFill>
        <p:spPr>
          <a:xfrm>
            <a:off x="7546543" y="4610405"/>
            <a:ext cx="19202" cy="286207"/>
          </a:xfrm>
          <a:prstGeom prst="rect">
            <a:avLst/>
          </a:prstGeom>
        </p:spPr>
      </p:pic>
      <p:pic>
        <p:nvPicPr>
          <p:cNvPr id="65" name="Image 22" descr="preencoded.png"/>
          <p:cNvPicPr>
            <a:picLocks noChangeAspect="1"/>
          </p:cNvPicPr>
          <p:nvPr/>
        </p:nvPicPr>
        <p:blipFill>
          <a:blip r:embed="rId10"/>
          <a:srcRect l="-320" r="-320"/>
          <a:stretch/>
        </p:blipFill>
        <p:spPr>
          <a:xfrm>
            <a:off x="10468051" y="1333195"/>
            <a:ext cx="19202" cy="286207"/>
          </a:xfrm>
          <a:prstGeom prst="rect">
            <a:avLst/>
          </a:prstGeom>
        </p:spPr>
      </p:pic>
      <p:sp>
        <p:nvSpPr>
          <p:cNvPr id="66" name="Shape 41"/>
          <p:cNvSpPr/>
          <p:nvPr/>
        </p:nvSpPr>
        <p:spPr>
          <a:xfrm>
            <a:off x="9239098" y="1619402"/>
            <a:ext cx="2476195" cy="1638605"/>
          </a:xfrm>
          <a:prstGeom prst="roundRect">
            <a:avLst>
              <a:gd name="adj" fmla="val 2596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7" name="Shape 42"/>
          <p:cNvSpPr/>
          <p:nvPr/>
        </p:nvSpPr>
        <p:spPr>
          <a:xfrm>
            <a:off x="9239098" y="1619402"/>
            <a:ext cx="2476195" cy="38405"/>
          </a:xfrm>
          <a:prstGeom prst="roundRect">
            <a:avLst>
              <a:gd name="adj" fmla="val 110741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8" name="Text 43"/>
          <p:cNvSpPr txBox="1"/>
          <p:nvPr/>
        </p:nvSpPr>
        <p:spPr>
          <a:xfrm>
            <a:off x="9381744" y="1800454"/>
            <a:ext cx="22786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Phase 4: Correction</a:t>
            </a:r>
            <a:endParaRPr lang="en-US" sz="1200" dirty="0"/>
          </a:p>
        </p:txBody>
      </p:sp>
      <p:sp>
        <p:nvSpPr>
          <p:cNvPr id="69" name="Shape 44"/>
          <p:cNvSpPr/>
          <p:nvPr/>
        </p:nvSpPr>
        <p:spPr>
          <a:xfrm>
            <a:off x="9381744" y="2076602"/>
            <a:ext cx="1086307" cy="209398"/>
          </a:xfrm>
          <a:prstGeom prst="rect">
            <a:avLst/>
          </a:prstGeom>
          <a:noFill/>
          <a:ln/>
        </p:spPr>
        <p:txBody>
          <a:bodyPr/>
          <a:lstStyle/>
          <a:p>
            <a:endParaRPr lang="tr-TR"/>
          </a:p>
        </p:txBody>
      </p:sp>
      <p:sp>
        <p:nvSpPr>
          <p:cNvPr id="70" name="Text 45"/>
          <p:cNvSpPr/>
          <p:nvPr/>
        </p:nvSpPr>
        <p:spPr>
          <a:xfrm>
            <a:off x="9381744" y="2076602"/>
            <a:ext cx="1086307" cy="210312"/>
          </a:xfrm>
          <a:prstGeom prst="rect">
            <a:avLst/>
          </a:prstGeom>
          <a:solidFill>
            <a:srgbClr val="F1F5F9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215k - 300k Steps</a:t>
            </a:r>
            <a:endParaRPr lang="en-US" sz="900" dirty="0"/>
          </a:p>
        </p:txBody>
      </p:sp>
      <p:sp>
        <p:nvSpPr>
          <p:cNvPr id="71" name="Text 46"/>
          <p:cNvSpPr txBox="1"/>
          <p:nvPr/>
        </p:nvSpPr>
        <p:spPr>
          <a:xfrm>
            <a:off x="9601200" y="2381098"/>
            <a:ext cx="205922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Staged rewards active</a:t>
            </a:r>
            <a:endParaRPr lang="en-US" sz="1000" dirty="0"/>
          </a:p>
        </p:txBody>
      </p:sp>
      <p:pic>
        <p:nvPicPr>
          <p:cNvPr id="72" name="Image 23" descr="preencoded.png"/>
          <p:cNvPicPr>
            <a:picLocks noChangeAspect="1"/>
          </p:cNvPicPr>
          <p:nvPr/>
        </p:nvPicPr>
        <p:blipFill>
          <a:blip r:embed="rId17"/>
          <a:srcRect t="-80" b="-80"/>
          <a:stretch/>
        </p:blipFill>
        <p:spPr>
          <a:xfrm>
            <a:off x="9381744" y="2409444"/>
            <a:ext cx="142646" cy="114300"/>
          </a:xfrm>
          <a:prstGeom prst="rect">
            <a:avLst/>
          </a:prstGeom>
        </p:spPr>
      </p:pic>
      <p:sp>
        <p:nvSpPr>
          <p:cNvPr id="73" name="Text 47"/>
          <p:cNvSpPr txBox="1"/>
          <p:nvPr/>
        </p:nvSpPr>
        <p:spPr>
          <a:xfrm>
            <a:off x="9543593" y="2625242"/>
            <a:ext cx="211683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Y-correction focus</a:t>
            </a:r>
            <a:endParaRPr lang="en-US" sz="1000" dirty="0"/>
          </a:p>
        </p:txBody>
      </p:sp>
      <p:pic>
        <p:nvPicPr>
          <p:cNvPr id="74" name="Image 24" descr="preencoded.png"/>
          <p:cNvPicPr>
            <a:picLocks noChangeAspect="1"/>
          </p:cNvPicPr>
          <p:nvPr/>
        </p:nvPicPr>
        <p:blipFill>
          <a:blip r:embed="rId18"/>
          <a:srcRect l="-133" r="-133"/>
          <a:stretch/>
        </p:blipFill>
        <p:spPr>
          <a:xfrm>
            <a:off x="9381744" y="2653589"/>
            <a:ext cx="85954" cy="114300"/>
          </a:xfrm>
          <a:prstGeom prst="rect">
            <a:avLst/>
          </a:prstGeom>
        </p:spPr>
      </p:pic>
      <p:sp>
        <p:nvSpPr>
          <p:cNvPr id="75" name="Text 48"/>
          <p:cNvSpPr txBox="1"/>
          <p:nvPr/>
        </p:nvSpPr>
        <p:spPr>
          <a:xfrm>
            <a:off x="9543593" y="2868473"/>
            <a:ext cx="211683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Training ongoing...</a:t>
            </a:r>
            <a:endParaRPr lang="en-US" sz="1000" dirty="0"/>
          </a:p>
        </p:txBody>
      </p:sp>
      <p:pic>
        <p:nvPicPr>
          <p:cNvPr id="76" name="Image 25" descr="preencoded.png"/>
          <p:cNvPicPr>
            <a:picLocks noChangeAspect="1"/>
          </p:cNvPicPr>
          <p:nvPr/>
        </p:nvPicPr>
        <p:blipFill>
          <a:blip r:embed="rId19"/>
          <a:srcRect l="-133" r="-133"/>
          <a:stretch/>
        </p:blipFill>
        <p:spPr>
          <a:xfrm>
            <a:off x="9381744" y="2897734"/>
            <a:ext cx="85954" cy="114300"/>
          </a:xfrm>
          <a:prstGeom prst="rect">
            <a:avLst/>
          </a:prstGeom>
        </p:spPr>
      </p:pic>
      <p:pic>
        <p:nvPicPr>
          <p:cNvPr id="77" name="Image 26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1476756" y="2876702"/>
            <a:ext cx="476402" cy="476402"/>
          </a:xfrm>
          <a:prstGeom prst="rect">
            <a:avLst/>
          </a:prstGeom>
        </p:spPr>
      </p:pic>
      <p:sp>
        <p:nvSpPr>
          <p:cNvPr id="78" name="Shape 49"/>
          <p:cNvSpPr/>
          <p:nvPr/>
        </p:nvSpPr>
        <p:spPr>
          <a:xfrm>
            <a:off x="1476756" y="2876702"/>
            <a:ext cx="476402" cy="476402"/>
          </a:xfrm>
          <a:prstGeom prst="rect">
            <a:avLst/>
          </a:prstGeom>
          <a:noFill/>
          <a:ln/>
        </p:spPr>
        <p:txBody>
          <a:bodyPr/>
          <a:lstStyle/>
          <a:p>
            <a:endParaRPr lang="tr-TR"/>
          </a:p>
        </p:txBody>
      </p:sp>
      <p:sp>
        <p:nvSpPr>
          <p:cNvPr id="79" name="Text 50"/>
          <p:cNvSpPr/>
          <p:nvPr/>
        </p:nvSpPr>
        <p:spPr>
          <a:xfrm>
            <a:off x="1476756" y="2876702"/>
            <a:ext cx="476402" cy="4764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200" dirty="0"/>
          </a:p>
        </p:txBody>
      </p:sp>
      <p:pic>
        <p:nvPicPr>
          <p:cNvPr id="80" name="Image 27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4397350" y="2876702"/>
            <a:ext cx="476402" cy="476402"/>
          </a:xfrm>
          <a:prstGeom prst="rect">
            <a:avLst/>
          </a:prstGeom>
        </p:spPr>
      </p:pic>
      <p:sp>
        <p:nvSpPr>
          <p:cNvPr id="81" name="Shape 51"/>
          <p:cNvSpPr/>
          <p:nvPr/>
        </p:nvSpPr>
        <p:spPr>
          <a:xfrm>
            <a:off x="4397350" y="2876702"/>
            <a:ext cx="476402" cy="476402"/>
          </a:xfrm>
          <a:prstGeom prst="rect">
            <a:avLst/>
          </a:prstGeom>
          <a:noFill/>
          <a:ln/>
        </p:spPr>
        <p:txBody>
          <a:bodyPr/>
          <a:lstStyle/>
          <a:p>
            <a:endParaRPr lang="tr-TR"/>
          </a:p>
        </p:txBody>
      </p:sp>
      <p:sp>
        <p:nvSpPr>
          <p:cNvPr id="82" name="Text 52"/>
          <p:cNvSpPr/>
          <p:nvPr/>
        </p:nvSpPr>
        <p:spPr>
          <a:xfrm>
            <a:off x="4397350" y="2876702"/>
            <a:ext cx="476402" cy="4764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200" dirty="0"/>
          </a:p>
        </p:txBody>
      </p:sp>
      <p:pic>
        <p:nvPicPr>
          <p:cNvPr id="83" name="Image 28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7317943" y="2876702"/>
            <a:ext cx="476402" cy="476402"/>
          </a:xfrm>
          <a:prstGeom prst="rect">
            <a:avLst/>
          </a:prstGeom>
        </p:spPr>
      </p:pic>
      <p:sp>
        <p:nvSpPr>
          <p:cNvPr id="84" name="Shape 53"/>
          <p:cNvSpPr/>
          <p:nvPr/>
        </p:nvSpPr>
        <p:spPr>
          <a:xfrm>
            <a:off x="7317943" y="2876702"/>
            <a:ext cx="476402" cy="476402"/>
          </a:xfrm>
          <a:prstGeom prst="rect">
            <a:avLst/>
          </a:prstGeom>
          <a:noFill/>
          <a:ln/>
        </p:spPr>
        <p:txBody>
          <a:bodyPr/>
          <a:lstStyle/>
          <a:p>
            <a:endParaRPr lang="tr-TR"/>
          </a:p>
        </p:txBody>
      </p:sp>
      <p:sp>
        <p:nvSpPr>
          <p:cNvPr id="85" name="Text 54"/>
          <p:cNvSpPr/>
          <p:nvPr/>
        </p:nvSpPr>
        <p:spPr>
          <a:xfrm>
            <a:off x="7317943" y="2876702"/>
            <a:ext cx="476402" cy="4764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200" dirty="0"/>
          </a:p>
        </p:txBody>
      </p:sp>
      <p:pic>
        <p:nvPicPr>
          <p:cNvPr id="86" name="Image 29" descr="preencoded.png"/>
          <p:cNvPicPr>
            <a:picLocks noChangeAspect="1"/>
          </p:cNvPicPr>
          <p:nvPr/>
        </p:nvPicPr>
        <p:blipFill>
          <a:blip r:embed="rId21"/>
          <a:srcRect/>
          <a:stretch/>
        </p:blipFill>
        <p:spPr>
          <a:xfrm>
            <a:off x="10109606" y="3130798"/>
            <a:ext cx="476402" cy="412503"/>
          </a:xfrm>
          <a:prstGeom prst="rect">
            <a:avLst/>
          </a:prstGeom>
        </p:spPr>
      </p:pic>
      <p:pic>
        <p:nvPicPr>
          <p:cNvPr id="87" name="Image 30" descr="preencoded.png"/>
          <p:cNvPicPr>
            <a:picLocks noChangeAspect="1"/>
          </p:cNvPicPr>
          <p:nvPr/>
        </p:nvPicPr>
        <p:blipFill>
          <a:blip r:embed="rId22"/>
          <a:srcRect/>
          <a:stretch/>
        </p:blipFill>
        <p:spPr>
          <a:xfrm>
            <a:off x="10233749" y="3219145"/>
            <a:ext cx="200254" cy="200254"/>
          </a:xfrm>
          <a:prstGeom prst="rect">
            <a:avLst/>
          </a:prstGeom>
        </p:spPr>
      </p:pic>
      <p:sp>
        <p:nvSpPr>
          <p:cNvPr id="88" name="Shape 55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1E3A8A"/>
          </a:solidFill>
          <a:ln/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89" name="Shape 56"/>
          <p:cNvSpPr/>
          <p:nvPr/>
        </p:nvSpPr>
        <p:spPr>
          <a:xfrm>
            <a:off x="0" y="723290"/>
            <a:ext cx="12191695" cy="38405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0" name="Text 57"/>
          <p:cNvSpPr txBox="1"/>
          <p:nvPr/>
        </p:nvSpPr>
        <p:spPr>
          <a:xfrm>
            <a:off x="476402" y="133502"/>
            <a:ext cx="66486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Experimental Results - Process Focus</a:t>
            </a:r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0" y="780898"/>
            <a:ext cx="12191695" cy="6277356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 txBox="1"/>
          <p:nvPr/>
        </p:nvSpPr>
        <p:spPr>
          <a:xfrm>
            <a:off x="571500" y="1162202"/>
            <a:ext cx="7696505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With the core staged reward system validated, future work will focus on robustness, generalization, and transferability to physical systems.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71500" y="1962302"/>
            <a:ext cx="3524098" cy="2238451"/>
          </a:xfrm>
          <a:prstGeom prst="roundRect">
            <a:avLst>
              <a:gd name="adj" fmla="val 20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571500" y="1962302"/>
            <a:ext cx="3504895" cy="38405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Shape 6"/>
          <p:cNvSpPr/>
          <p:nvPr/>
        </p:nvSpPr>
        <p:spPr>
          <a:xfrm>
            <a:off x="809244" y="2200046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2746" y="2333549"/>
            <a:ext cx="190195" cy="19019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09244" y="2809951"/>
            <a:ext cx="31629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3A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Hyperparameter Optimization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09244" y="3161995"/>
            <a:ext cx="312450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Systematic grid search over Y-penalty weights [10-30] and stage transition thresholds to find the optimal trade-off between position accuracy and training speed.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334256" y="1962302"/>
            <a:ext cx="3524098" cy="2238451"/>
          </a:xfrm>
          <a:prstGeom prst="roundRect">
            <a:avLst>
              <a:gd name="adj" fmla="val 20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3" name="Shape 10"/>
          <p:cNvSpPr/>
          <p:nvPr/>
        </p:nvSpPr>
        <p:spPr>
          <a:xfrm>
            <a:off x="4334256" y="1962302"/>
            <a:ext cx="3504895" cy="38405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Shape 11"/>
          <p:cNvSpPr/>
          <p:nvPr/>
        </p:nvSpPr>
        <p:spPr>
          <a:xfrm>
            <a:off x="4572000" y="2200046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81728" y="2333549"/>
            <a:ext cx="237744" cy="19019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572000" y="2809951"/>
            <a:ext cx="31629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3A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Curriculum Extensions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4572000" y="3161995"/>
            <a:ext cx="31245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Expanding the curriculum to include variable parking slot sizes (5.5m - 7.0m) and varied spawn orientations to improve policy generalization.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8096098" y="1962302"/>
            <a:ext cx="3524098" cy="2238451"/>
          </a:xfrm>
          <a:prstGeom prst="roundRect">
            <a:avLst>
              <a:gd name="adj" fmla="val 20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9" name="Shape 15"/>
          <p:cNvSpPr/>
          <p:nvPr/>
        </p:nvSpPr>
        <p:spPr>
          <a:xfrm>
            <a:off x="8096098" y="1962302"/>
            <a:ext cx="3504895" cy="38405"/>
          </a:xfrm>
          <a:prstGeom prst="rect">
            <a:avLst/>
          </a:prstGeom>
          <a:solidFill>
            <a:srgbClr val="D9770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Shape 16"/>
          <p:cNvSpPr/>
          <p:nvPr/>
        </p:nvSpPr>
        <p:spPr>
          <a:xfrm>
            <a:off x="8334756" y="2200046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FEF3C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467344" y="2333549"/>
            <a:ext cx="190195" cy="190195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8334756" y="2809951"/>
            <a:ext cx="31629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3A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Algorithm Comparisons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8334756" y="3161995"/>
            <a:ext cx="312450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Benchmarking SAC against PPO (on-policy stability) and TD3 (deterministic control) to empirically validate the choice of algorithm for parking tasks.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571500" y="4438498"/>
            <a:ext cx="3524098" cy="2238451"/>
          </a:xfrm>
          <a:prstGeom prst="roundRect">
            <a:avLst>
              <a:gd name="adj" fmla="val 20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5" name="Shape 20"/>
          <p:cNvSpPr/>
          <p:nvPr/>
        </p:nvSpPr>
        <p:spPr>
          <a:xfrm>
            <a:off x="571500" y="4438498"/>
            <a:ext cx="3504895" cy="38405"/>
          </a:xfrm>
          <a:prstGeom prst="rect">
            <a:avLst/>
          </a:prstGeom>
          <a:solidFill>
            <a:srgbClr val="A855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Shape 21"/>
          <p:cNvSpPr/>
          <p:nvPr/>
        </p:nvSpPr>
        <p:spPr>
          <a:xfrm>
            <a:off x="809244" y="4677156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F3E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18972" y="4809744"/>
            <a:ext cx="237744" cy="190195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809244" y="5286146"/>
            <a:ext cx="31629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3A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Sim-to-Real Preparation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809244" y="5639105"/>
            <a:ext cx="312450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Introducing domain randomization, sensor noise (Gaussian ±0.1m), and actuator delays to bridge the gap between idealized simulation and physical hardware.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4334256" y="4438498"/>
            <a:ext cx="3524098" cy="2238451"/>
          </a:xfrm>
          <a:prstGeom prst="roundRect">
            <a:avLst>
              <a:gd name="adj" fmla="val 20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1" name="Shape 25"/>
          <p:cNvSpPr/>
          <p:nvPr/>
        </p:nvSpPr>
        <p:spPr>
          <a:xfrm>
            <a:off x="4334256" y="4438498"/>
            <a:ext cx="3504895" cy="38405"/>
          </a:xfrm>
          <a:prstGeom prst="rect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Shape 26"/>
          <p:cNvSpPr/>
          <p:nvPr/>
        </p:nvSpPr>
        <p:spPr>
          <a:xfrm>
            <a:off x="4572000" y="4677156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FEE2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705502" y="4809744"/>
            <a:ext cx="190195" cy="190195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4572000" y="5286146"/>
            <a:ext cx="31629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3A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Multi-Task Learning</a:t>
            </a:r>
            <a:endParaRPr lang="en-US" sz="1300" dirty="0"/>
          </a:p>
        </p:txBody>
      </p:sp>
      <p:sp>
        <p:nvSpPr>
          <p:cNvPr id="35" name="Text 28"/>
          <p:cNvSpPr txBox="1"/>
          <p:nvPr/>
        </p:nvSpPr>
        <p:spPr>
          <a:xfrm>
            <a:off x="4572000" y="5639105"/>
            <a:ext cx="31245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Training a single unified policy capable of handling angle parking, perpendicular parking, and garage scenarios using context-aware observation spaces.</a:t>
            </a:r>
            <a:endParaRPr lang="en-US" sz="1000" dirty="0"/>
          </a:p>
        </p:txBody>
      </p:sp>
      <p:sp>
        <p:nvSpPr>
          <p:cNvPr id="36" name="Shape 29"/>
          <p:cNvSpPr/>
          <p:nvPr/>
        </p:nvSpPr>
        <p:spPr>
          <a:xfrm>
            <a:off x="8096098" y="4438498"/>
            <a:ext cx="3524098" cy="2238451"/>
          </a:xfrm>
          <a:prstGeom prst="roundRect">
            <a:avLst>
              <a:gd name="adj" fmla="val 2086"/>
            </a:avLst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508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7" name="Shape 30"/>
          <p:cNvSpPr/>
          <p:nvPr/>
        </p:nvSpPr>
        <p:spPr>
          <a:xfrm>
            <a:off x="8096098" y="4438498"/>
            <a:ext cx="952805" cy="38405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687154" y="4934102"/>
            <a:ext cx="342900" cy="342900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8816645" y="5462626"/>
            <a:ext cx="20903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Next Step</a:t>
            </a:r>
            <a:endParaRPr lang="en-US" sz="1500" dirty="0"/>
          </a:p>
        </p:txBody>
      </p:sp>
      <p:sp>
        <p:nvSpPr>
          <p:cNvPr id="40" name="Text 32"/>
          <p:cNvSpPr txBox="1"/>
          <p:nvPr/>
        </p:nvSpPr>
        <p:spPr>
          <a:xfrm>
            <a:off x="8818474" y="5805526"/>
            <a:ext cx="208666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BEAF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Deploying current policy to 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BEAF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Hardware-in-Loop (HIL) testbench</a:t>
            </a:r>
            <a:endParaRPr lang="en-US" sz="1000" dirty="0"/>
          </a:p>
        </p:txBody>
      </p:sp>
      <p:sp>
        <p:nvSpPr>
          <p:cNvPr id="41" name="Shape 33"/>
          <p:cNvSpPr/>
          <p:nvPr/>
        </p:nvSpPr>
        <p:spPr>
          <a:xfrm>
            <a:off x="0" y="7058254"/>
            <a:ext cx="12191695" cy="181051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2" name="Shape 34"/>
          <p:cNvSpPr/>
          <p:nvPr/>
        </p:nvSpPr>
        <p:spPr>
          <a:xfrm>
            <a:off x="0" y="7058254"/>
            <a:ext cx="121916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3" name="Text 35"/>
          <p:cNvSpPr txBox="1"/>
          <p:nvPr/>
        </p:nvSpPr>
        <p:spPr>
          <a:xfrm>
            <a:off x="571500" y="7067398"/>
            <a:ext cx="20290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Research Extensions • 2024-2025</a:t>
            </a:r>
            <a:endParaRPr lang="en-US" sz="900" dirty="0"/>
          </a:p>
        </p:txBody>
      </p:sp>
      <p:sp>
        <p:nvSpPr>
          <p:cNvPr id="44" name="Text 36"/>
          <p:cNvSpPr txBox="1"/>
          <p:nvPr/>
        </p:nvSpPr>
        <p:spPr>
          <a:xfrm>
            <a:off x="11215116" y="7067398"/>
            <a:ext cx="48829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17</a:t>
            </a:r>
            <a:endParaRPr lang="en-US" sz="900" dirty="0"/>
          </a:p>
        </p:txBody>
      </p:sp>
      <p:sp>
        <p:nvSpPr>
          <p:cNvPr id="45" name="Shape 37"/>
          <p:cNvSpPr/>
          <p:nvPr/>
        </p:nvSpPr>
        <p:spPr>
          <a:xfrm>
            <a:off x="0" y="0"/>
            <a:ext cx="12191695" cy="780898"/>
          </a:xfrm>
          <a:prstGeom prst="rect">
            <a:avLst/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6" name="Text 38"/>
          <p:cNvSpPr txBox="1"/>
          <p:nvPr/>
        </p:nvSpPr>
        <p:spPr>
          <a:xfrm>
            <a:off x="571500" y="0"/>
            <a:ext cx="11239805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38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Future Roadmap</a:t>
            </a:r>
            <a:endParaRPr lang="en-US" sz="2700" dirty="0"/>
          </a:p>
        </p:txBody>
      </p:sp>
      <p:sp>
        <p:nvSpPr>
          <p:cNvPr id="47" name="Text 39"/>
          <p:cNvSpPr txBox="1"/>
          <p:nvPr/>
        </p:nvSpPr>
        <p:spPr>
          <a:xfrm>
            <a:off x="571500" y="552298"/>
            <a:ext cx="11163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Planned Extensions &amp; Research Directions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0" y="723290"/>
            <a:ext cx="12191695" cy="38405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 txBox="1"/>
          <p:nvPr/>
        </p:nvSpPr>
        <p:spPr>
          <a:xfrm>
            <a:off x="571500" y="133502"/>
            <a:ext cx="19613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Conclusion</a:t>
            </a:r>
            <a:endParaRPr lang="en-US" sz="2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t="14834" b="14834"/>
          <a:stretch/>
        </p:blipFill>
        <p:spPr>
          <a:xfrm>
            <a:off x="0" y="761695"/>
            <a:ext cx="12191695" cy="57150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0" y="761695"/>
            <a:ext cx="12191695" cy="57150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Shape 6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1118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7"/>
          <p:cNvSpPr txBox="1"/>
          <p:nvPr/>
        </p:nvSpPr>
        <p:spPr>
          <a:xfrm>
            <a:off x="571500" y="6581851"/>
            <a:ext cx="150784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Final Project Submission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215116" y="6581851"/>
            <a:ext cx="48829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18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71500" y="1238098"/>
            <a:ext cx="5429707" cy="838505"/>
          </a:xfrm>
          <a:prstGeom prst="roundRect">
            <a:avLst>
              <a:gd name="adj" fmla="val 9914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3" name="Shape 10"/>
          <p:cNvSpPr/>
          <p:nvPr/>
        </p:nvSpPr>
        <p:spPr>
          <a:xfrm>
            <a:off x="571500" y="1238098"/>
            <a:ext cx="38405" cy="838505"/>
          </a:xfrm>
          <a:prstGeom prst="roundRect">
            <a:avLst>
              <a:gd name="adj" fmla="val 216449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00100" y="1447495"/>
            <a:ext cx="228600" cy="2286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171346" y="1429207"/>
            <a:ext cx="47155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Implemented production-grade Autonomous Parallel Parking with SAC in custom Gym environment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191402" y="1238098"/>
            <a:ext cx="5429707" cy="838505"/>
          </a:xfrm>
          <a:prstGeom prst="roundRect">
            <a:avLst>
              <a:gd name="adj" fmla="val 9914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7" name="Shape 13"/>
          <p:cNvSpPr/>
          <p:nvPr/>
        </p:nvSpPr>
        <p:spPr>
          <a:xfrm>
            <a:off x="6191402" y="1238098"/>
            <a:ext cx="38405" cy="838505"/>
          </a:xfrm>
          <a:prstGeom prst="roundRect">
            <a:avLst>
              <a:gd name="adj" fmla="val 216449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20002" y="1447495"/>
            <a:ext cx="228600" cy="2286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791249" y="1429207"/>
            <a:ext cx="47155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Designed novel Staged Reward System to solve complex multi-phase maneuver task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571500" y="2266798"/>
            <a:ext cx="5429707" cy="838505"/>
          </a:xfrm>
          <a:prstGeom prst="roundRect">
            <a:avLst>
              <a:gd name="adj" fmla="val 9914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1" name="Shape 16"/>
          <p:cNvSpPr/>
          <p:nvPr/>
        </p:nvSpPr>
        <p:spPr>
          <a:xfrm>
            <a:off x="571500" y="2266798"/>
            <a:ext cx="38405" cy="838505"/>
          </a:xfrm>
          <a:prstGeom prst="roundRect">
            <a:avLst>
              <a:gd name="adj" fmla="val 216449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00100" y="2476195"/>
            <a:ext cx="228600" cy="22860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171346" y="2457907"/>
            <a:ext cx="47155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Identified and fixed critical "False Attractor" local minimum using root cause analysis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6191402" y="2266798"/>
            <a:ext cx="5429707" cy="838505"/>
          </a:xfrm>
          <a:prstGeom prst="roundRect">
            <a:avLst>
              <a:gd name="adj" fmla="val 9914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5" name="Shape 19"/>
          <p:cNvSpPr/>
          <p:nvPr/>
        </p:nvSpPr>
        <p:spPr>
          <a:xfrm>
            <a:off x="6191402" y="2266798"/>
            <a:ext cx="38405" cy="838505"/>
          </a:xfrm>
          <a:prstGeom prst="roundRect">
            <a:avLst>
              <a:gd name="adj" fmla="val 216449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20002" y="2476195"/>
            <a:ext cx="228600" cy="2286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6791249" y="2457907"/>
            <a:ext cx="47155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Demonstrated systematic, iterative engineering approach over simple parameter tuning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571500" y="5191049"/>
            <a:ext cx="111639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 Learning Outcomes: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571500" y="5591556"/>
            <a:ext cx="2400300" cy="409651"/>
          </a:xfrm>
          <a:prstGeom prst="rect">
            <a:avLst/>
          </a:prstGeom>
          <a:noFill/>
          <a:ln/>
        </p:spPr>
        <p:txBody>
          <a:bodyPr/>
          <a:lstStyle/>
          <a:p>
            <a:endParaRPr lang="tr-TR"/>
          </a:p>
        </p:txBody>
      </p:sp>
      <p:sp>
        <p:nvSpPr>
          <p:cNvPr id="30" name="Text 23"/>
          <p:cNvSpPr/>
          <p:nvPr/>
        </p:nvSpPr>
        <p:spPr>
          <a:xfrm>
            <a:off x="981151" y="5591556"/>
            <a:ext cx="1990649" cy="409651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40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Reward Engineering is Critical </a:t>
            </a:r>
            <a:endParaRPr lang="en-US" sz="1000" dirty="0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71754" y="5729630"/>
            <a:ext cx="133502" cy="133502"/>
          </a:xfrm>
          <a:prstGeom prst="rect">
            <a:avLst/>
          </a:prstGeom>
        </p:spPr>
      </p:pic>
      <p:sp>
        <p:nvSpPr>
          <p:cNvPr id="32" name="Shape 24"/>
          <p:cNvSpPr/>
          <p:nvPr/>
        </p:nvSpPr>
        <p:spPr>
          <a:xfrm>
            <a:off x="3111703" y="5591556"/>
            <a:ext cx="2533802" cy="409651"/>
          </a:xfrm>
          <a:prstGeom prst="rect">
            <a:avLst/>
          </a:prstGeom>
          <a:noFill/>
          <a:ln/>
        </p:spPr>
        <p:txBody>
          <a:bodyPr/>
          <a:lstStyle/>
          <a:p>
            <a:endParaRPr lang="tr-TR"/>
          </a:p>
        </p:txBody>
      </p:sp>
      <p:sp>
        <p:nvSpPr>
          <p:cNvPr id="33" name="Text 25"/>
          <p:cNvSpPr/>
          <p:nvPr/>
        </p:nvSpPr>
        <p:spPr>
          <a:xfrm>
            <a:off x="3521354" y="5591556"/>
            <a:ext cx="2124151" cy="409651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40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Simplicity Facilitates Debugging </a:t>
            </a:r>
            <a:endParaRPr lang="en-US" sz="1000" dirty="0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311042" y="5729630"/>
            <a:ext cx="133502" cy="133502"/>
          </a:xfrm>
          <a:prstGeom prst="rect">
            <a:avLst/>
          </a:prstGeom>
        </p:spPr>
      </p:pic>
      <p:sp>
        <p:nvSpPr>
          <p:cNvPr id="35" name="Shape 26"/>
          <p:cNvSpPr/>
          <p:nvPr/>
        </p:nvSpPr>
        <p:spPr>
          <a:xfrm>
            <a:off x="5783580" y="5591556"/>
            <a:ext cx="1914754" cy="409651"/>
          </a:xfrm>
          <a:prstGeom prst="rect">
            <a:avLst/>
          </a:prstGeom>
          <a:noFill/>
          <a:ln/>
        </p:spPr>
        <p:txBody>
          <a:bodyPr/>
          <a:lstStyle/>
          <a:p>
            <a:endParaRPr lang="tr-TR"/>
          </a:p>
        </p:txBody>
      </p:sp>
      <p:sp>
        <p:nvSpPr>
          <p:cNvPr id="36" name="Text 27"/>
          <p:cNvSpPr/>
          <p:nvPr/>
        </p:nvSpPr>
        <p:spPr>
          <a:xfrm>
            <a:off x="6193231" y="5591556"/>
            <a:ext cx="1505102" cy="409651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40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Prevent Local Minima </a:t>
            </a:r>
            <a:endParaRPr lang="en-US" sz="1000" dirty="0"/>
          </a:p>
        </p:txBody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983834" y="5729630"/>
            <a:ext cx="133502" cy="133502"/>
          </a:xfrm>
          <a:prstGeom prst="rect">
            <a:avLst/>
          </a:prstGeom>
        </p:spPr>
      </p:pic>
      <p:sp>
        <p:nvSpPr>
          <p:cNvPr id="38" name="Shape 28"/>
          <p:cNvSpPr/>
          <p:nvPr/>
        </p:nvSpPr>
        <p:spPr>
          <a:xfrm>
            <a:off x="7834579" y="5591556"/>
            <a:ext cx="2743200" cy="409651"/>
          </a:xfrm>
          <a:prstGeom prst="rect">
            <a:avLst/>
          </a:prstGeom>
          <a:noFill/>
          <a:ln/>
        </p:spPr>
        <p:txBody>
          <a:bodyPr/>
          <a:lstStyle/>
          <a:p>
            <a:endParaRPr lang="tr-TR"/>
          </a:p>
        </p:txBody>
      </p:sp>
      <p:sp>
        <p:nvSpPr>
          <p:cNvPr id="39" name="Text 29"/>
          <p:cNvSpPr/>
          <p:nvPr/>
        </p:nvSpPr>
        <p:spPr>
          <a:xfrm>
            <a:off x="8263433" y="5591556"/>
            <a:ext cx="2314346" cy="409651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40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Staged Approaches Match Intuition </a:t>
            </a:r>
            <a:endParaRPr lang="en-US" sz="1000" dirty="0"/>
          </a:p>
        </p:txBody>
      </p:sp>
      <p:pic>
        <p:nvPicPr>
          <p:cNvPr id="40" name="Image 8" descr="preencoded.png"/>
          <p:cNvPicPr>
            <a:picLocks noChangeAspect="1"/>
          </p:cNvPicPr>
          <p:nvPr/>
        </p:nvPicPr>
        <p:blipFill>
          <a:blip r:embed="rId8"/>
          <a:srcRect l="-837" r="-837"/>
          <a:stretch/>
        </p:blipFill>
        <p:spPr>
          <a:xfrm>
            <a:off x="8033918" y="5729630"/>
            <a:ext cx="152705" cy="133502"/>
          </a:xfrm>
          <a:prstGeom prst="rect">
            <a:avLst/>
          </a:prstGeom>
        </p:spPr>
      </p:pic>
      <p:pic>
        <p:nvPicPr>
          <p:cNvPr id="41" name="Image 9" descr="preencoded.png"/>
          <p:cNvPicPr>
            <a:picLocks noChangeAspect="1"/>
          </p:cNvPicPr>
          <p:nvPr/>
        </p:nvPicPr>
        <p:blipFill>
          <a:blip r:embed="rId9"/>
          <a:srcRect t="-6" b="-6"/>
          <a:stretch/>
        </p:blipFill>
        <p:spPr>
          <a:xfrm>
            <a:off x="571500" y="3486607"/>
            <a:ext cx="11048695" cy="1211580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952805" y="3295498"/>
            <a:ext cx="381305" cy="381305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43" name="Image 10" descr="preencoded.png"/>
          <p:cNvPicPr>
            <a:picLocks noChangeAspect="1"/>
          </p:cNvPicPr>
          <p:nvPr/>
        </p:nvPicPr>
        <p:blipFill>
          <a:blip r:embed="rId10"/>
          <a:srcRect l="-1648" r="-1648"/>
          <a:stretch/>
        </p:blipFill>
        <p:spPr>
          <a:xfrm>
            <a:off x="1057046" y="3390595"/>
            <a:ext cx="171907" cy="190195"/>
          </a:xfrm>
          <a:prstGeom prst="rect">
            <a:avLst/>
          </a:prstGeom>
        </p:spPr>
      </p:pic>
      <p:sp>
        <p:nvSpPr>
          <p:cNvPr id="44" name="Text 31"/>
          <p:cNvSpPr txBox="1"/>
          <p:nvPr/>
        </p:nvSpPr>
        <p:spPr>
          <a:xfrm>
            <a:off x="814730" y="3771900"/>
            <a:ext cx="10564063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"RL reward engineering is iterative. We failed, learned, and redesigned. The journey of debugging and fixing IS the learning process."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2771</Words>
  <Application>Microsoft Office PowerPoint</Application>
  <PresentationFormat>Geniş ekran</PresentationFormat>
  <Paragraphs>471</Paragraphs>
  <Slides>18</Slides>
  <Notes>18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8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18</vt:i4>
      </vt:variant>
    </vt:vector>
  </HeadingPairs>
  <TitlesOfParts>
    <vt:vector size="27" baseType="lpstr">
      <vt:lpstr>Arial</vt:lpstr>
      <vt:lpstr>Courier New</vt:lpstr>
      <vt:lpstr>Montserrat</vt:lpstr>
      <vt:lpstr>Open Sans</vt:lpstr>
      <vt:lpstr>Roboto</vt:lpstr>
      <vt:lpstr>Roboto Mono</vt:lpstr>
      <vt:lpstr>Times New Roman</vt:lpstr>
      <vt:lpstr>ui-monospace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cem irer</cp:lastModifiedBy>
  <cp:revision>5</cp:revision>
  <dcterms:created xsi:type="dcterms:W3CDTF">2026-02-09T18:13:30Z</dcterms:created>
  <dcterms:modified xsi:type="dcterms:W3CDTF">2026-02-09T18:33:06Z</dcterms:modified>
</cp:coreProperties>
</file>